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763" r:id="rId5"/>
    <p:sldMasterId id="2147483775" r:id="rId6"/>
  </p:sldMasterIdLst>
  <p:notesMasterIdLst>
    <p:notesMasterId r:id="rId28"/>
  </p:notesMasterIdLst>
  <p:handoutMasterIdLst>
    <p:handoutMasterId r:id="rId29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13"/>
  </p:sldIdLst>
  <p:sldSz cx="12192000" cy="6858000"/>
  <p:notesSz cx="70104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son Caballero" initials="D" lastIdx="4" clrIdx="0">
    <p:extLst>
      <p:ext uri="{19B8F6BF-5375-455C-9EA6-DF929625EA0E}">
        <p15:presenceInfo xmlns:p15="http://schemas.microsoft.com/office/powerpoint/2012/main" userId="Daison Caballer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5E5E"/>
    <a:srgbClr val="F39B9B"/>
    <a:srgbClr val="AC423A"/>
    <a:srgbClr val="D51919"/>
    <a:srgbClr val="648825"/>
    <a:srgbClr val="79A32D"/>
    <a:srgbClr val="000000"/>
    <a:srgbClr val="373838"/>
    <a:srgbClr val="98C93D"/>
    <a:srgbClr val="F3F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79929" autoAdjust="0"/>
  </p:normalViewPr>
  <p:slideViewPr>
    <p:cSldViewPr snapToGrid="0">
      <p:cViewPr varScale="1">
        <p:scale>
          <a:sx n="97" d="100"/>
          <a:sy n="97" d="100"/>
        </p:scale>
        <p:origin x="159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920"/>
    </p:cViewPr>
  </p:sorterViewPr>
  <p:notesViewPr>
    <p:cSldViewPr snapToGrid="0">
      <p:cViewPr varScale="1">
        <p:scale>
          <a:sx n="119" d="100"/>
          <a:sy n="119" d="100"/>
        </p:scale>
        <p:origin x="4122" y="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3" Type="http://schemas.openxmlformats.org/officeDocument/2006/relationships/slide" Target="slides/slide15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154CA9B8-74BC-42CC-8AD2-E73F5E847AA6}" type="datetimeFigureOut">
              <a:rPr lang="en-US" smtClean="0"/>
              <a:pPr/>
              <a:t>03/18/26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9" y="8772669"/>
            <a:ext cx="3037840" cy="461804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B533F5EF-7B2D-436D-B831-F48ECB832F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978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3407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010CAAA1-2DC6-469D-86AF-311C333CDD14}" type="datetimeFigureOut">
              <a:rPr lang="en-US" smtClean="0"/>
              <a:pPr/>
              <a:t>03/18/26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6600" y="1154113"/>
            <a:ext cx="5538788" cy="3116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44861"/>
            <a:ext cx="5608320" cy="3636705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772670"/>
            <a:ext cx="3037840" cy="463406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73798CC5-B40D-4675-A662-FAA7C61DAE0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2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jpeg"/><Relationship Id="rId6" Type="http://schemas.openxmlformats.org/officeDocument/2006/relationships/image" Target="../media/image9.emf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1"/>
          </p:cNvSpPr>
          <p:nvPr>
            <p:ph type="ctrTitle" hasCustomPrompt="1"/>
          </p:nvPr>
        </p:nvSpPr>
        <p:spPr>
          <a:xfrm>
            <a:off x="228500" y="613326"/>
            <a:ext cx="11735000" cy="2387600"/>
          </a:xfrm>
        </p:spPr>
        <p:txBody>
          <a:bodyPr anchor="b"/>
          <a:lstStyle>
            <a:lvl1pPr algn="ctr">
              <a:defRPr sz="6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Cover Long Title</a:t>
            </a:r>
          </a:p>
        </p:txBody>
      </p:sp>
      <p:sp>
        <p:nvSpPr>
          <p:cNvPr id="21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28500" y="3093001"/>
            <a:ext cx="11735000" cy="1655762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rgbClr val="373838"/>
                </a:solidFill>
                <a:latin typeface="+mn-lt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Cover Subtitle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04" y="4964825"/>
            <a:ext cx="2307273" cy="917977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 flipH="1">
            <a:off x="53265" y="-9526"/>
            <a:ext cx="70560" cy="6858001"/>
          </a:xfrm>
          <a:prstGeom prst="rect">
            <a:avLst/>
          </a:prstGeom>
          <a:gradFill flip="none" rotWithShape="1">
            <a:gsLst>
              <a:gs pos="0">
                <a:srgbClr val="98C93D"/>
              </a:gs>
              <a:gs pos="100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A3F6500A-D256-4B4C-8DCE-2A96969C0C1A}"/>
              </a:ext>
            </a:extLst>
          </p:cNvPr>
          <p:cNvSpPr txBox="1">
            <a:spLocks/>
          </p:cNvSpPr>
          <p:nvPr userDrawn="1"/>
        </p:nvSpPr>
        <p:spPr>
          <a:xfrm>
            <a:off x="1551286" y="6515822"/>
            <a:ext cx="30521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+mn-lt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4200167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5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087763"/>
            <a:ext cx="11580921" cy="4933476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32633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0" name="TextBox 1">
            <a:extLst>
              <a:ext uri="{FF2B5EF4-FFF2-40B4-BE49-F238E27FC236}">
                <a16:creationId xmlns:a16="http://schemas.microsoft.com/office/drawing/2014/main" id="{9F79DB9F-9B01-4CE4-AB9E-E44563D1F373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2882401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 userDrawn="1"/>
        </p:nvCxnSpPr>
        <p:spPr>
          <a:xfrm>
            <a:off x="0" y="753618"/>
            <a:ext cx="9858375" cy="0"/>
          </a:xfrm>
          <a:prstGeom prst="line">
            <a:avLst/>
          </a:prstGeom>
          <a:ln w="22225">
            <a:solidFill>
              <a:srgbClr val="98C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270628" y="260268"/>
            <a:ext cx="11580921" cy="600980"/>
          </a:xfrm>
        </p:spPr>
        <p:txBody>
          <a:bodyPr anchor="b">
            <a:normAutofit/>
          </a:bodyPr>
          <a:lstStyle>
            <a:lvl1pPr algn="l">
              <a:defRPr sz="4000" b="1">
                <a:solidFill>
                  <a:srgbClr val="373838"/>
                </a:solidFill>
                <a:latin typeface="+mn-lt"/>
              </a:defRPr>
            </a:lvl1pPr>
          </a:lstStyle>
          <a:p>
            <a:r>
              <a:rPr lang="en-US" dirty="0"/>
              <a:t>Master Page Title 1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270628" y="778081"/>
            <a:ext cx="11580921" cy="373510"/>
          </a:xfrm>
        </p:spPr>
        <p:txBody>
          <a:bodyPr>
            <a:noAutofit/>
          </a:bodyPr>
          <a:lstStyle>
            <a:lvl1pPr marL="0" indent="0" algn="l">
              <a:buNone/>
              <a:defRPr sz="1800" b="0">
                <a:solidFill>
                  <a:srgbClr val="373838"/>
                </a:solidFill>
                <a:latin typeface="Century Gothic" panose="020B0502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Page Subtitle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4113" y="260267"/>
            <a:ext cx="1917435" cy="762875"/>
          </a:xfrm>
          <a:prstGeom prst="rect">
            <a:avLst/>
          </a:prstGeom>
        </p:spPr>
      </p:pic>
      <p:sp>
        <p:nvSpPr>
          <p:cNvPr id="51" name="Rectangle 50"/>
          <p:cNvSpPr/>
          <p:nvPr userDrawn="1"/>
        </p:nvSpPr>
        <p:spPr>
          <a:xfrm>
            <a:off x="0" y="6258757"/>
            <a:ext cx="12192000" cy="517000"/>
          </a:xfrm>
          <a:prstGeom prst="rect">
            <a:avLst/>
          </a:prstGeom>
          <a:gradFill flip="none" rotWithShape="1">
            <a:gsLst>
              <a:gs pos="44000">
                <a:srgbClr val="98C93D"/>
              </a:gs>
              <a:gs pos="100000">
                <a:srgbClr val="648725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/>
          <p:cNvSpPr/>
          <p:nvPr userDrawn="1"/>
        </p:nvSpPr>
        <p:spPr>
          <a:xfrm rot="5400000" flipH="1">
            <a:off x="6073142" y="748018"/>
            <a:ext cx="45719" cy="12192000"/>
          </a:xfrm>
          <a:prstGeom prst="rect">
            <a:avLst/>
          </a:prstGeom>
          <a:gradFill flip="none" rotWithShape="1">
            <a:gsLst>
              <a:gs pos="100000">
                <a:srgbClr val="648725"/>
              </a:gs>
              <a:gs pos="37000">
                <a:srgbClr val="98C93D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11448581" y="6350000"/>
            <a:ext cx="434734" cy="36933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fld id="{BD1BBCF7-C2B2-490C-A676-4763179728A4}" type="slidenum">
              <a:rPr lang="en-US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783" b="-5834"/>
          <a:stretch/>
        </p:blipFill>
        <p:spPr>
          <a:xfrm>
            <a:off x="270627" y="6323378"/>
            <a:ext cx="1703316" cy="42576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28000"/>
              </a:prstClr>
            </a:outerShdw>
          </a:effectLst>
        </p:spPr>
      </p:pic>
      <p:sp>
        <p:nvSpPr>
          <p:cNvPr id="14" name="Content Placeholder 1"/>
          <p:cNvSpPr>
            <a:spLocks noGrp="1"/>
          </p:cNvSpPr>
          <p:nvPr>
            <p:ph idx="1" hasCustomPrompt="1"/>
          </p:nvPr>
        </p:nvSpPr>
        <p:spPr>
          <a:xfrm>
            <a:off x="270627" y="1449238"/>
            <a:ext cx="11580921" cy="4572002"/>
          </a:xfrm>
        </p:spPr>
        <p:txBody>
          <a:bodyPr/>
          <a:lstStyle>
            <a:lvl1pPr marL="233363" indent="-228600">
              <a:buFont typeface="Arial" panose="020B0604020202020204" pitchFamily="34" charset="0"/>
              <a:buChar char="•"/>
              <a:defRPr>
                <a:latin typeface="+mn-lt"/>
              </a:defRPr>
            </a:lvl1pPr>
            <a:lvl2pPr marL="685800" indent="-228600">
              <a:buFont typeface="Century Gothic" panose="020B0502020202020204" pitchFamily="34" charset="0"/>
              <a:buChar char="◦"/>
              <a:defRPr>
                <a:latin typeface="+mn-lt"/>
              </a:defRPr>
            </a:lvl2pPr>
            <a:lvl3pPr marL="1143000" indent="-228600">
              <a:buFont typeface="Century Gothic" panose="020B0502020202020204" pitchFamily="34" charset="0"/>
              <a:buChar char="―"/>
              <a:defRPr>
                <a:latin typeface="+mn-lt"/>
              </a:defRPr>
            </a:lvl3pPr>
            <a:lvl4pPr marL="1600200" indent="-228600">
              <a:buFont typeface="Century Gothic" panose="020B0502020202020204" pitchFamily="34" charset="0"/>
              <a:buChar char="▪"/>
              <a:defRPr>
                <a:latin typeface="+mn-lt"/>
              </a:defRPr>
            </a:lvl4pPr>
            <a:lvl5pPr marL="2057400" indent="-228600">
              <a:buFont typeface="Century Gothic" panose="020B0502020202020204" pitchFamily="34" charset="0"/>
              <a:buChar char="▫"/>
              <a:defRPr>
                <a:latin typeface="+mn-lt"/>
              </a:defRPr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B77CE695-0A2F-C942-9F1A-B6FA9F084CA0}"/>
              </a:ext>
            </a:extLst>
          </p:cNvPr>
          <p:cNvSpPr txBox="1">
            <a:spLocks/>
          </p:cNvSpPr>
          <p:nvPr userDrawn="1"/>
        </p:nvSpPr>
        <p:spPr>
          <a:xfrm>
            <a:off x="2100195" y="6449909"/>
            <a:ext cx="51332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solidFill>
                  <a:srgbClr val="C00000"/>
                </a:solidFill>
                <a:latin typeface="Century Gothic" panose="020B0502020202020204" pitchFamily="34" charset="0"/>
              </a:rPr>
              <a:t>INTERNAL USE ONLY – NOT APPROVED FOR PUBLIC RELEASE</a:t>
            </a:r>
          </a:p>
        </p:txBody>
      </p:sp>
    </p:spTree>
    <p:extLst>
      <p:ext uri="{BB962C8B-B14F-4D97-AF65-F5344CB8AC3E}">
        <p14:creationId xmlns:p14="http://schemas.microsoft.com/office/powerpoint/2010/main" val="3883777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 descr="New_DOE_Logo_Color_Hi-Res_04280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87254" y="6026445"/>
            <a:ext cx="2528710" cy="635714"/>
          </a:xfrm>
          <a:prstGeom prst="rect">
            <a:avLst/>
          </a:prstGeom>
        </p:spPr>
      </p:pic>
      <p:pic>
        <p:nvPicPr>
          <p:cNvPr id="13" name="Picture 1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45369" y="6041893"/>
            <a:ext cx="1017884" cy="572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3" descr="West_Virginia_University_logo_svg.png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301318" y="6221732"/>
            <a:ext cx="1864013" cy="241391"/>
          </a:xfrm>
          <a:prstGeom prst="rect">
            <a:avLst/>
          </a:prstGeom>
        </p:spPr>
      </p:pic>
      <p:pic>
        <p:nvPicPr>
          <p:cNvPr id="15" name="Picture 14" descr="CMU logo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431" y="6205830"/>
            <a:ext cx="1532631" cy="29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74" y="6049212"/>
            <a:ext cx="1447109" cy="55792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95" y="6065746"/>
            <a:ext cx="1439091" cy="5725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372CD0-347B-4C7F-AD39-78B556A7DD8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8161" y="6205829"/>
            <a:ext cx="1524000" cy="36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010841"/>
      </p:ext>
    </p:extLst>
  </p:cSld>
  <p:clrMapOvr>
    <a:masterClrMapping/>
  </p:clrMapOvr>
  <p:transition spd="med" advClick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07555"/>
      </p:ext>
    </p:extLst>
  </p:cSld>
  <p:clrMapOvr>
    <a:masterClrMapping/>
  </p:clrMapOvr>
  <p:transition spd="med" advClick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70788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9201775"/>
      </p:ext>
    </p:extLst>
  </p:cSld>
  <p:clrMapOvr>
    <a:masterClrMapping/>
  </p:clrMapOvr>
  <p:transition spd="med" advClick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65202"/>
            <a:ext cx="5384800" cy="52038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82133"/>
            <a:ext cx="5384800" cy="518689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1785"/>
      </p:ext>
    </p:extLst>
  </p:cSld>
  <p:clrMapOvr>
    <a:masterClrMapping/>
  </p:clrMapOvr>
  <p:transition spd="med" advClick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1" cy="56533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950298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0059"/>
            <a:ext cx="5386917" cy="4672517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95029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590060"/>
            <a:ext cx="5389033" cy="4661884"/>
          </a:xfrm>
        </p:spPr>
        <p:txBody>
          <a:bodyPr/>
          <a:lstStyle>
            <a:lvl1pPr>
              <a:defRPr sz="2400" b="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58606"/>
      </p:ext>
    </p:extLst>
  </p:cSld>
  <p:clrMapOvr>
    <a:masterClrMapping/>
  </p:clrMapOvr>
  <p:transition spd="med" advClick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6760"/>
      </p:ext>
    </p:extLst>
  </p:cSld>
  <p:clrMapOvr>
    <a:masterClrMapping/>
  </p:clrMapOvr>
  <p:transition spd="med" advClick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59507"/>
      </p:ext>
    </p:extLst>
  </p:cSld>
  <p:clrMapOvr>
    <a:masterClrMapping/>
  </p:clrMapOvr>
  <p:transition spd="med"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4990"/>
            <a:ext cx="4011084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69715"/>
      </p:ext>
    </p:extLst>
  </p:cSld>
  <p:clrMapOvr>
    <a:masterClrMapping/>
  </p:clrMapOvr>
  <p:transition spd="med" advClick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967228"/>
            <a:ext cx="7315200" cy="40011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178143"/>
      </p:ext>
    </p:extLst>
  </p:cSld>
  <p:clrMapOvr>
    <a:masterClrMapping/>
  </p:clrMapOvr>
  <p:transition spd="med" advClick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05177"/>
      </p:ext>
    </p:extLst>
  </p:cSld>
  <p:clrMapOvr>
    <a:masterClrMapping/>
  </p:clrMapOvr>
  <p:transition spd="med" advClick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936070" y="182563"/>
            <a:ext cx="646331" cy="59864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82563"/>
            <a:ext cx="8026400" cy="59864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30476"/>
      </p:ext>
    </p:extLst>
  </p:cSld>
  <p:clrMapOvr>
    <a:masterClrMapping/>
  </p:clrMapOvr>
  <p:transition spd="med" advClick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61237"/>
            <a:ext cx="10972801" cy="53077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4"/>
          </p:nvPr>
        </p:nvSpPr>
        <p:spPr>
          <a:xfrm>
            <a:off x="9068573" y="6400801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906"/>
      </p:ext>
    </p:extLst>
  </p:cSld>
  <p:clrMapOvr>
    <a:masterClrMapping/>
  </p:clrMapOvr>
  <p:transition spd="med" advClick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2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3655484" y="3526773"/>
            <a:ext cx="8227483" cy="492443"/>
          </a:xfrm>
        </p:spPr>
        <p:txBody>
          <a:bodyPr anchor="b"/>
          <a:lstStyle>
            <a:lvl1pPr algn="l" fontAlgn="t"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93253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55484" y="4049377"/>
            <a:ext cx="8227483" cy="366712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marL="0" indent="0">
              <a:buFontTx/>
              <a:buNone/>
              <a:defRPr sz="1800" b="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D3D4A-7E28-4220-9909-287F9B6EB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440613"/>
      </p:ext>
    </p:extLst>
  </p:cSld>
  <p:clrMapOvr>
    <a:masterClrMapping/>
  </p:clrMapOvr>
  <p:transition spd="med" advClick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13" Type="http://schemas.openxmlformats.org/officeDocument/2006/relationships/image" Target="../media/image4.jpe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theme" Target="../theme/theme3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C882809-195B-4C71-AF45-AF8015062DE4}" type="datetimeFigureOut">
              <a:rPr lang="en-US" smtClean="0"/>
              <a:pPr/>
              <a:t>03/18/26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BD1BBCF7-C2B2-490C-A676-4763179728A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531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2" r:id="rId3"/>
    <p:sldLayoutId id="214748376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rgbClr val="373838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373838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F0F5CB-0D47-4D83-91C4-D40A395E459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1" t="7487" b="7207"/>
          <a:stretch/>
        </p:blipFill>
        <p:spPr>
          <a:xfrm>
            <a:off x="33250" y="6148938"/>
            <a:ext cx="1826051" cy="709062"/>
          </a:xfrm>
          <a:prstGeom prst="rect">
            <a:avLst/>
          </a:prstGeom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68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82565"/>
            <a:ext cx="10972801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0013"/>
            <a:ext cx="10972801" cy="4799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29C87F91-BFE2-284C-8E09-D1E69062BE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8573" y="6406817"/>
            <a:ext cx="28439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67AC3-44BE-1249-A8B0-A1E33CC73C3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D7C2DE-E3C8-B14E-B1DC-1B0DBDEF69C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032" y="6089972"/>
            <a:ext cx="1833097" cy="71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8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</p:sldLayoutIdLst>
  <p:transition spd="med" advClick="0"/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3399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85800"/>
            <a:ext cx="7315200" cy="10972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800" b="1">
                <a:solidFill>
                  <a:srgbClr val="14313C"/>
                </a:solidFill>
                <a:latin typeface="Aptos"/>
              </a:defRPr>
            </a:pPr>
            <a:r>
              <a:t>Modeling Lithium Extraction from Produced Water with ePC-SAFT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77724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500" b="1">
                <a:solidFill>
                  <a:srgbClr val="155E75"/>
                </a:solidFill>
                <a:latin typeface="Aptos"/>
              </a:defRPr>
            </a:pPr>
            <a:r>
              <a:t>HBTA/TOPO solvent-extraction case study for chemical engineers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7680960" cy="59436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200" b="0">
                <a:solidFill>
                  <a:srgbClr val="5D6F77"/>
                </a:solidFill>
                <a:latin typeface="Aptos"/>
              </a:defRPr>
            </a:pPr>
            <a:r>
              <a:t>Updated technical deck: source-backed Smackover feed, Li/Na stage-transfer model, PrOMMiS/IDAES process interface, and upstream ePC-SAFT solver needs.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2194560" cy="22860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00" b="0">
                <a:solidFill>
                  <a:srgbClr val="5D6F77"/>
                </a:solidFill>
                <a:latin typeface="Aptos"/>
              </a:defRPr>
            </a:pPr>
            <a:r>
              <a:t>2026-05-07</a:t>
            </a:r>
          </a:p>
        </p:txBody>
      </p:sp>
      <p:pic>
        <p:nvPicPr>
          <p:cNvPr id="8" name="Picture 7" descr="template_title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4160520"/>
            <a:ext cx="2377440" cy="93268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1. Technical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60120"/>
            <a:ext cx="8138160" cy="749808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960120"/>
            <a:ext cx="64008" cy="7498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060704"/>
            <a:ext cx="7845552" cy="62179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Produced-water lithium extraction needs a thermodynamic model that maps basin chemistry into solvent-extraction transfer variables. The benchmark chemistry is non-ionic HBTA/TOPO/sulfonated kerosene; ePC-SAFT is evaluated as the equilibrium backbone for PrOMMiS and IDAES.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93392"/>
            <a:ext cx="7589520" cy="214884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240">
                <a:solidFill>
                  <a:srgbClr val="14313C"/>
                </a:solidFill>
                <a:latin typeface="Aptos"/>
              </a:defRPr>
            </a:pPr>
            <a:r>
              <a:t>Feed basis: southern Arkansas Smackover brine.</a:t>
            </a:r>
          </a:p>
          <a:p>
            <a:pPr>
              <a:spcAft>
                <a:spcPts val="300"/>
              </a:spcAft>
              <a:defRPr sz="1240">
                <a:solidFill>
                  <a:srgbClr val="14313C"/>
                </a:solidFill>
                <a:latin typeface="Aptos"/>
              </a:defRPr>
            </a:pPr>
            <a:r>
              <a:t>Solvent chemistry: HBTA/TOPO complexation with selective Li transfer.</a:t>
            </a:r>
          </a:p>
          <a:p>
            <a:pPr>
              <a:spcAft>
                <a:spcPts val="300"/>
              </a:spcAft>
              <a:defRPr sz="1240">
                <a:solidFill>
                  <a:srgbClr val="14313C"/>
                </a:solidFill>
                <a:latin typeface="Aptos"/>
              </a:defRPr>
            </a:pPr>
            <a:r>
              <a:t>Thermodynamic target: electrolyte liquid-liquid equilibrium and ion-specific distribution.</a:t>
            </a:r>
          </a:p>
          <a:p>
            <a:pPr>
              <a:spcAft>
                <a:spcPts val="300"/>
              </a:spcAft>
              <a:defRPr sz="1240">
                <a:solidFill>
                  <a:srgbClr val="14313C"/>
                </a:solidFill>
                <a:latin typeface="Aptos"/>
              </a:defRPr>
            </a:pPr>
            <a:r>
              <a:t>Process target: staged extraction, surrogate generation, and IDAES costing.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2. Basin Thermodynamic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" y="694944"/>
            <a:ext cx="8046720" cy="256032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50" b="0">
                <a:solidFill>
                  <a:srgbClr val="5D6F77"/>
                </a:solidFill>
                <a:latin typeface="Aptos"/>
              </a:defRPr>
            </a:pPr>
            <a:r>
              <a:t>Produced-water brines are not one feed.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078992"/>
          <a:ext cx="841248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1920240"/>
                <a:gridCol w="3337560"/>
              </a:tblGrid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Basin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Li signal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TDS signal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Engineering implication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Appalachian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127-205 mg/L subsets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often &gt;100,000 mg/L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high Li but variable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Permian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Wolfcamp near 14 ppm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&lt;25-140 g/L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high water volume, lower grade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Williston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&gt;100 mg/L possible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~308 g/L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salinity dominates pretreatment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Smackover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~1-477 mg/L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156,000-340,000 mg/L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premium but hard case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160520"/>
            <a:ext cx="7863840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261104"/>
            <a:ext cx="7571231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Smackover case is valuable because it is thermodynamically unforgiving: high Li, high TDS, major competing ions, and real brine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3. Selected Smackover Feed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960120"/>
          <a:ext cx="78638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23160"/>
                <a:gridCol w="3794760"/>
              </a:tblGrid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 value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Source row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MS-2 / MSPU 4-W1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source-backed observed brine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Li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168 mg/L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value and recovery basis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TDS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305,000 mg/L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ionic-strength regime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Na / Ca / Mg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64,100 / 36,900 / 3,310 mg/L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selectivity and pretreatment burden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Cl / Br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174,000 / 2,700 mg/L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3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hypersaline chloride matrix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526280"/>
            <a:ext cx="7498079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526280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626864"/>
            <a:ext cx="7205471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Feed and chemistry are deliberately separated: the feed is Smackover; the extraction chemistry is Shan/Gando HBTA/TOPO. This avoids claiming a measured Arkansas HBTA/TOPO experiment.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4. Why ePC-SAFT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384048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188719"/>
            <a:ext cx="358444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Fixed transfer placeholders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3337560" cy="155448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reproduce a narrow point</a:t>
            </a:r>
          </a:p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run quickly in a flowsheet</a:t>
            </a:r>
          </a:p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debug material balances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078992"/>
            <a:ext cx="388620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1188719"/>
            <a:ext cx="3630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They cannot defend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600200"/>
            <a:ext cx="3429000" cy="192024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basin-to-basin extrapolation</a:t>
            </a:r>
          </a:p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hypersaline electrolyte behavior</a:t>
            </a:r>
          </a:p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solvent and O/A sensitivity</a:t>
            </a:r>
          </a:p>
          <a:p>
            <a:pPr>
              <a:spcAft>
                <a:spcPts val="300"/>
              </a:spcAft>
              <a:defRPr sz="1160">
                <a:solidFill>
                  <a:srgbClr val="14313C"/>
                </a:solidFill>
                <a:latin typeface="Aptos"/>
              </a:defRPr>
            </a:pPr>
            <a:r>
              <a:t>ion-specific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343400"/>
            <a:ext cx="7680960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343400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443984"/>
            <a:ext cx="7388352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process model needs a physical equilibrium layer before surrogate fitting or optimization is meaningful.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5. ePC-SAFT Output Required By Process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24128"/>
          <a:ext cx="8412479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2834640"/>
                <a:gridCol w="3703320"/>
              </a:tblGrid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Process need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Thermodynamic output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Use in PrOMMiS / IDAES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Feed state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zi, TDS, temperature, ion basis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basin-specific inlet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Phase split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aqueous/organic compositions, phase fraction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stage equilibrium target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Transfer strength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Di = Corg / Caq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material-balance transfer term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Selectivity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SLi/Na, later SLi/Mg and SLi/Ca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solvent screening and constraints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Validity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residuals, phase flags, domain bounds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surrogate trust-region filter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645152"/>
            <a:ext cx="7772400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645152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745736"/>
            <a:ext cx="7479792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Percent extraction is useful for presentation; staged unit models need phase compositions, distribution ratios, selectivity, and validity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6. Solvent Set Chosen For The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960120"/>
          <a:ext cx="8641079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31720"/>
                <a:gridCol w="1600200"/>
                <a:gridCol w="3977639"/>
              </a:tblGrid>
              <a:tr h="6803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System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status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HBTA + TOPO + sulfonated kerosene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flagship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field-water evidence; Li/Na model is source-regressed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D2EHDTPA + BuPhen + octanol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backup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strong multication selectivity; missing parameter set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TBAC + decanoic-acid DES + TOPO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regression pilot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PC-SAFT/ePC-SAFT smoke test; different chemistry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8031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TBP + FeCl3/HCl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mechanistic comparator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high-Mg relevance; harder process burden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553712"/>
            <a:ext cx="7863840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4553712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654296"/>
            <a:ext cx="7571231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HBTA/TOPO carries the non-ionic case; the backups define the data needed to broaden the predictive envelope.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7. HBTA/TOPO Li/Na Stage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960120"/>
            <a:ext cx="38862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069848"/>
            <a:ext cx="3630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One-stage MS-2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81328"/>
            <a:ext cx="3246120" cy="205740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Li extraction: 47.2846%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Na extraction: 0.0131%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DLi = 0.8970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SLi/Na = 6840.1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Raffinate Li: 88.56 mg/L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960120"/>
            <a:ext cx="38862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7176" y="1069848"/>
            <a:ext cx="3630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Model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481328"/>
            <a:ext cx="3154680" cy="233172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2 HBTA : 1 TOPO : 1 Li stoichiometry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aqueous Li/Na activity correction from ePC-SAFT when available</a:t>
            </a:r>
          </a:p>
          <a:p>
            <a:pPr>
              <a:spcAft>
                <a:spcPts val="300"/>
              </a:spcAft>
              <a:defRPr sz="1130">
                <a:solidFill>
                  <a:srgbClr val="14313C"/>
                </a:solidFill>
                <a:latin typeface="Aptos"/>
              </a:defRPr>
            </a:pPr>
            <a:r>
              <a:t>source-regressed Li/Na transfer, not full multication reactive LLE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45152"/>
            <a:ext cx="7772400" cy="43891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645152"/>
            <a:ext cx="64008" cy="4389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745736"/>
            <a:ext cx="7479792" cy="31089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missing organic HBTA/TOPO/diluent/complex parameters remain the main thermodynamic closure gap.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8. Li/Na Regression Closure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97280"/>
          <a:ext cx="84582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828800"/>
                <a:gridCol w="1234440"/>
                <a:gridCol w="1417320"/>
                <a:gridCol w="1645920"/>
              </a:tblGrid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Anchor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Source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Prediction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Residual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Stage 1 Li cumulative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Gando/Shan 2025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54.95%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54.8882%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-0.0618 pp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Stage 2 Li cumulative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Gando/Shan 2025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85.60%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85.7224%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+0.1224 pp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Stage 3 Li cumulative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Gando/Shan 2025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97.17%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97.0385%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-0.1315 pp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Li/Na selectivity lower bound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Zhang 2017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2100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2100.008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8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+0.008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343400"/>
            <a:ext cx="7772400" cy="676656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343400"/>
            <a:ext cx="64008" cy="6766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443984"/>
            <a:ext cx="7479792" cy="54864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This is predictive only in the Li/Na staged-transfer sense: one shared parameter payload is reused across feed cases. Mg, Ca, Sr, Ba, diluent, and complex parameters remain explicit limits.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9. Multi-Stage Selective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gando_2025_cumulative_extraction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78992"/>
            <a:ext cx="4937760" cy="2788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806440" y="1078992"/>
            <a:ext cx="2788920" cy="2788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34455" y="1188719"/>
            <a:ext cx="2532887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Three-stage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1581912"/>
            <a:ext cx="2331720" cy="169164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14313C"/>
                </a:solidFill>
                <a:latin typeface="Aptos"/>
              </a:defRPr>
            </a:pPr>
            <a:r>
              <a:t>Stage 1 Li: 47.28%</a:t>
            </a:r>
          </a:p>
          <a:p>
            <a:pPr>
              <a:spcAft>
                <a:spcPts val="300"/>
              </a:spcAft>
              <a:defRPr sz="1040">
                <a:solidFill>
                  <a:srgbClr val="14313C"/>
                </a:solidFill>
                <a:latin typeface="Aptos"/>
              </a:defRPr>
            </a:pPr>
            <a:r>
              <a:t>Stage 2 Li: 89.58%</a:t>
            </a:r>
          </a:p>
          <a:p>
            <a:pPr>
              <a:spcAft>
                <a:spcPts val="300"/>
              </a:spcAft>
              <a:defRPr sz="1040">
                <a:solidFill>
                  <a:srgbClr val="14313C"/>
                </a:solidFill>
                <a:latin typeface="Aptos"/>
              </a:defRPr>
            </a:pPr>
            <a:r>
              <a:t>Stage 3 Li: near-total signal</a:t>
            </a:r>
          </a:p>
          <a:p>
            <a:pPr>
              <a:spcAft>
                <a:spcPts val="300"/>
              </a:spcAft>
              <a:defRPr sz="1040">
                <a:solidFill>
                  <a:srgbClr val="14313C"/>
                </a:solidFill>
                <a:latin typeface="Aptos"/>
              </a:defRPr>
            </a:pPr>
            <a:r>
              <a:t>Stage 3 Na: 0.116%</a:t>
            </a:r>
          </a:p>
          <a:p>
            <a:pPr>
              <a:spcAft>
                <a:spcPts val="300"/>
              </a:spcAft>
              <a:defRPr sz="1040">
                <a:solidFill>
                  <a:srgbClr val="14313C"/>
                </a:solidFill>
                <a:latin typeface="Aptos"/>
              </a:defRPr>
            </a:pPr>
            <a:r>
              <a:t>Costing cap: 97.17%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15968"/>
            <a:ext cx="7680960" cy="594360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4315968"/>
            <a:ext cx="64008" cy="5943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4416552"/>
            <a:ext cx="7388352" cy="46634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Near-total extrapolated transfer is a design signal, not a final physical claim. Costing uses the source-backed 97.17% three-stage anchor.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10. PrOMMiS / IDAES Integration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143000"/>
          <a:ext cx="79552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3337560"/>
                <a:gridCol w="3931920"/>
              </a:tblGrid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 path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Engineering reason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offline ePC-SAFT data generation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lowest-risk source model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bounded surrogate layer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fast flowsheet optimization inside trust region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external function option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high-fidelity calls where justified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PrOMMiS/IDAES unit model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69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staged extraction, recycle, stripping, costing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68680" y="4434840"/>
            <a:ext cx="7315200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4434840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535424"/>
            <a:ext cx="7022592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preferred first integration is not direct coupling everywhere; it is a traceable thermodynamic data generator feeding bounded process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11. Formal IDAES Costing Scaffold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845820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63240"/>
                <a:gridCol w="3840480"/>
              </a:tblGrid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Block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basis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Needed before TEA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Feed basis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Smackover base feed; 100/1000/10000 m3/day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flowrate and uptime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Pretreatment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Pyomo scenario expression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removal target and reagent use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Extraction/contacting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three-stage HBTA/TOPO stage solve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contactor sizing and solvent inventory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Solvent loss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low/base/high placeholder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HBTA/TOPO/diluent prices and loss rate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Li2CO3 product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99.28% purity; 97.17% recovery cap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85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energy, carbonate reagent, product spec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" y="4773168"/>
            <a:ext cx="7726679" cy="457200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4773168"/>
            <a:ext cx="64008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4873752"/>
            <a:ext cx="7434071" cy="32918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current economics are a formal IDAES/Pyomo scaffold, not a vendor-grade TEA.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12. Remaining Engineering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097280"/>
          <a:ext cx="8229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3840480"/>
                <a:gridCol w="3611880"/>
              </a:tblGrid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Work item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 marL="32004" marR="32004" marT="16459" marB="16459">
                    <a:solidFill>
                      <a:srgbClr val="155E7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extract Zhang 2017 distribution, O/A, temperature, capacity data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improves Li/Na transfer identifiability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regress HBTA, TOPO, diluent, Li-complex parameters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moves toward reactive ePC-SAFT closure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build PrOMMiS MSContactor validation case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tests staged convergence and mass balances</a:t>
                      </a:r>
                    </a:p>
                  </a:txBody>
                  <a:tcPr marL="32004" marR="32004" marT="16459" marB="16459">
                    <a:solidFill>
                      <a:srgbClr val="F5F8F8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replace Class-5 costing assumptions with engineering ranges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900" b="0">
                          <a:solidFill>
                            <a:srgbClr val="14313C"/>
                          </a:solidFill>
                          <a:latin typeface="Aptos"/>
                        </a:defRPr>
                      </a:pPr>
                      <a:r>
                        <a:t>improves economic credibility</a:t>
                      </a:r>
                    </a:p>
                  </a:txBody>
                  <a:tcPr marL="32004" marR="32004" marT="16459" marB="16459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22960" y="4617720"/>
            <a:ext cx="7498079" cy="530352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4617720"/>
            <a:ext cx="64008" cy="5303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718304"/>
            <a:ext cx="7205471" cy="402335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present model is strong enough for a Li/Na process-interface case study; it is not yet a full multication reactive LLE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13. Upstream ePC-SAFT Solver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914400"/>
            <a:ext cx="393192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024128"/>
            <a:ext cx="3675887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Observed timeout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3291840" cy="224028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Hubach bounded single-point and Jang limitation scripts exceed a 180 s wall-clock cap.</a:t>
            </a:r>
          </a:p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Prior Hubach diagnostics show one-phase-collapse acceptance failure, not a missing public API.</a:t>
            </a:r>
          </a:p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Jang reaches difficult density/LLE regions for a high-component placeholder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914400"/>
            <a:ext cx="38862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8616" y="1024128"/>
            <a:ext cx="3630168" cy="219456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120" b="1">
                <a:solidFill>
                  <a:srgbClr val="155E75"/>
                </a:solidFill>
                <a:latin typeface="Aptos"/>
              </a:defRPr>
            </a:pPr>
            <a:r>
              <a:t>Package improvement targets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17320"/>
            <a:ext cx="3246120" cy="242316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strict time and iteration budgets in public equilibrium calls</a:t>
            </a:r>
          </a:p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continuation and seed reuse as first-class options</a:t>
            </a:r>
          </a:p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early bailout for collapsed candidates and repeated density failures</a:t>
            </a:r>
          </a:p>
          <a:p>
            <a:pPr>
              <a:spcAft>
                <a:spcPts val="300"/>
              </a:spcAft>
              <a:defRPr sz="1090">
                <a:solidFill>
                  <a:srgbClr val="14313C"/>
                </a:solidFill>
                <a:latin typeface="Aptos"/>
              </a:defRPr>
            </a:pPr>
            <a:r>
              <a:t>structured diagnostics for surrogate trust regions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55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822960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2200" b="1">
                <a:solidFill>
                  <a:srgbClr val="14313C"/>
                </a:solidFill>
                <a:latin typeface="Aptos"/>
              </a:defRPr>
            </a:pPr>
            <a:r>
              <a:t>14.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62025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D6F77"/>
                </a:solidFill>
                <a:latin typeface="Aptos"/>
              </a:defRPr>
            </a:pPr>
            <a:r>
              <a:t>Lithium Extraction with ePC-SAFT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480" y="6620256"/>
            <a:ext cx="411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D6F77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170432"/>
            <a:ext cx="7772400" cy="868680"/>
          </a:xfrm>
          <a:prstGeom prst="roundRect">
            <a:avLst/>
          </a:prstGeom>
          <a:solidFill>
            <a:srgbClr val="FFFDF7"/>
          </a:solidFill>
          <a:ln w="8890">
            <a:solidFill>
              <a:srgbClr val="CBD5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170432"/>
            <a:ext cx="64008" cy="868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271016"/>
            <a:ext cx="7479792" cy="740664"/>
          </a:xfrm>
          <a:prstGeom prst="rect">
            <a:avLst/>
          </a:prstGeom>
          <a:noFill/>
        </p:spPr>
        <p:txBody>
          <a:bodyPr wrap="square" lIns="27432" rIns="27432" tIns="18288" bIns="18288">
            <a:normAutofit/>
          </a:bodyPr>
          <a:lstStyle/>
          <a:p>
            <a:pPr>
              <a:defRPr sz="1080" b="0">
                <a:solidFill>
                  <a:srgbClr val="14313C"/>
                </a:solidFill>
                <a:latin typeface="Aptos"/>
              </a:defRPr>
            </a:pPr>
            <a:r>
              <a:t>The case study has moved from a fixed extraction placeholder to a source-regressed Li/Na thermodynamic-process interface. The next step is to harden ePC-SAFT electrolyte LLE so the same workflow can support high-rigor multication and organic-phase closure.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7406640" cy="1737360"/>
          </a:xfrm>
          <a:prstGeom prst="rect">
            <a:avLst/>
          </a:prstGeom>
          <a:noFill/>
        </p:spPr>
        <p:txBody>
          <a:bodyPr wrap="square" lIns="45720" rIns="36576" tIns="18288" bIns="18288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4313C"/>
                </a:solidFill>
                <a:latin typeface="Aptos"/>
              </a:defRPr>
            </a:pPr>
            <a:r>
              <a:t>HBTA/TOPO remains the flagship non-ionic solvent set.</a:t>
            </a:r>
          </a:p>
          <a:p>
            <a:pPr>
              <a:spcAft>
                <a:spcPts val="300"/>
              </a:spcAft>
              <a:defRPr sz="1250">
                <a:solidFill>
                  <a:srgbClr val="14313C"/>
                </a:solidFill>
                <a:latin typeface="Aptos"/>
              </a:defRPr>
            </a:pPr>
            <a:r>
              <a:t>Smackover is the stress-test brine, not an overclaimed measured extraction case.</a:t>
            </a:r>
          </a:p>
          <a:p>
            <a:pPr>
              <a:spcAft>
                <a:spcPts val="300"/>
              </a:spcAft>
              <a:defRPr sz="1250">
                <a:solidFill>
                  <a:srgbClr val="14313C"/>
                </a:solidFill>
                <a:latin typeface="Aptos"/>
              </a:defRPr>
            </a:pPr>
            <a:r>
              <a:t>PrOMMiS/IDAES integration is framed around transferable variables: D, selectivity, phase split, and validity.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373838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 Cover Title.pptx" id="{EB5E8C3F-626B-4B4B-ACCF-A49F74929750}" vid="{91F68650-2EA8-49F3-A5C8-A6A4201928CA}"/>
    </a:ext>
  </a:extLst>
</a:theme>
</file>

<file path=ppt/theme/theme2.xml><?xml version="1.0" encoding="utf-8"?>
<a:theme xmlns:a="http://schemas.openxmlformats.org/drawingml/2006/main" name="1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IDA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TL Si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0070C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27432" tIns="27432" rIns="27432" bIns="27432" numCol="1" rtlCol="0" anchor="ctr" anchorCtr="1" compatLnSpc="1">
        <a:prstTxWarp prst="textNoShape">
          <a:avLst/>
        </a:prstTxWarp>
      </a:bodyPr>
      <a:lstStyle>
        <a:defPPr marR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noFill/>
        <a:ln w="19050" cap="flat" cmpd="sng" algn="ctr">
          <a:solidFill>
            <a:schemeClr val="tx1"/>
          </a:solidFill>
          <a:prstDash val="solid"/>
          <a:round/>
          <a:headEnd type="arrow"/>
          <a:tailEnd type="arrow"/>
        </a:ln>
        <a:effectLst/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i="0" dirty="0" smtClean="0">
            <a:solidFill>
              <a:schemeClr val="tx1"/>
            </a:solidFill>
          </a:defRPr>
        </a:defPPr>
      </a:lstStyle>
    </a:txDef>
  </a:objectDefaults>
  <a:extraClrSchemeLst>
    <a:extraClrScheme>
      <a:clrScheme name="NETL Si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L Si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L Si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E7"/>
        </a:accent6>
        <a:hlink>
          <a:srgbClr val="008000"/>
        </a:hlink>
        <a:folHlink>
          <a:srgbClr val="99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DB6BD2039A4DA9828CDD52828D22" ma:contentTypeVersion="1" ma:contentTypeDescription="Create a new document." ma:contentTypeScope="" ma:versionID="02a2b74d7520ef9dea84c66f9fb70d3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d55f72726b9dae1b96ae9030b26e0e6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5341B3-53F6-453C-9EF7-531D8A95F6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22840F2-5BB0-45AB-A8DF-9A97CD9488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0DB2A8-98EE-4CA5-9B57-4F5F6858EA16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NETL PowerPoint Presentation Template</Template>
  <TotalTime>83113</TotalTime>
  <Words>1749</Words>
  <Application>Microsoft Office PowerPoint</Application>
  <PresentationFormat>Widescreen</PresentationFormat>
  <Paragraphs>195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 Narrow</vt:lpstr>
      <vt:lpstr>Arial</vt:lpstr>
      <vt:lpstr>Calibri</vt:lpstr>
      <vt:lpstr>Century Gothic</vt:lpstr>
      <vt:lpstr>Office Theme</vt:lpstr>
      <vt:lpstr>1_IDAES</vt:lpstr>
      <vt:lpstr>2_IDAES</vt:lpstr>
      <vt:lpstr>Modeling Lithium Extraction from Produced Water with ePC-SAFT    03/18/2026   Tanner Polley</vt:lpstr>
      <vt:lpstr>Extract Lithium from Produced Water to Meet Demand</vt:lpstr>
      <vt:lpstr>Direct Lithium Extraction (DLE) Technologies</vt:lpstr>
      <vt:lpstr>Why Solvent Extraction of Lithium?</vt:lpstr>
      <vt:lpstr>What is ePC-SAFT ?</vt:lpstr>
      <vt:lpstr>ePC-SAFT Parameters </vt:lpstr>
      <vt:lpstr>C++ to Python based ePC-SAFT Package</vt:lpstr>
      <vt:lpstr>ePC-SAFT Model Validation – Energy of Solvation</vt:lpstr>
      <vt:lpstr>ePC-SAFT Model Validation – Salt activity in water</vt:lpstr>
      <vt:lpstr>ePC-SAFT Model Validation – Energy of Transfer</vt:lpstr>
      <vt:lpstr>ePC-SAFT Model Validation – Energy of Transfer</vt:lpstr>
      <vt:lpstr>ePC-SAFT Model Validation – Activity in organics</vt:lpstr>
      <vt:lpstr>ePC-SAFT Model Validation – Mixed solvents</vt:lpstr>
      <vt:lpstr>Included Multi-phase Equilibrium Algorithm</vt:lpstr>
      <vt:lpstr>Case Study: LLE of Water + 1-Butanol with NaCl/KCl </vt:lpstr>
      <vt:lpstr>Case Study: 2nd stage extraction of Li+ from Na+</vt:lpstr>
      <vt:lpstr>Case Study: 2nd stage extraction of Li+ from Na+</vt:lpstr>
      <vt:lpstr>Case Study: 2nd stage extraction of Li+ from Na+</vt:lpstr>
      <vt:lpstr>ePC-SAFT Integration into PrOMMiS</vt:lpstr>
      <vt:lpstr>Tasks to Complete / Currently in Progress</vt:lpstr>
      <vt:lpstr>Project Timeline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 Cover Title</dc:title>
  <dc:creator>Gerdes, Kristin J.</dc:creator>
  <cp:lastModifiedBy>Tanner Polley</cp:lastModifiedBy>
  <cp:revision>1294</cp:revision>
  <cp:lastPrinted>2017-09-22T14:04:48Z</cp:lastPrinted>
  <dcterms:created xsi:type="dcterms:W3CDTF">2017-01-19T16:36:42Z</dcterms:created>
  <dcterms:modified xsi:type="dcterms:W3CDTF">2026-03-18T18:00:08Z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0x01010081F5DB6BD2039A4DA9828CDD52828D22</vt:lpwstr>
  </property>
  <property fmtid="{D5CDD505-2E9C-101B-9397-08002B2CF9AE}" pid="3" name="MSIP_Label_6a247341-4757-443f-8545-88b6b969d13e_Enabled">
    <vt:lpwstr>True</vt:lpwstr>
  </property>
  <property fmtid="{D5CDD505-2E9C-101B-9397-08002B2CF9AE}" pid="4" name="MSIP_Label_6a247341-4757-443f-8545-88b6b969d13e_SiteId">
    <vt:lpwstr>94e92035-30e4-4e5d-ba5b-df8b041a8555</vt:lpwstr>
  </property>
  <property fmtid="{D5CDD505-2E9C-101B-9397-08002B2CF9AE}" pid="5" name="MSIP_Label_6a247341-4757-443f-8545-88b6b969d13e_SetDate">
    <vt:lpwstr>2023-09-06T22:32:52Z</vt:lpwstr>
  </property>
  <property fmtid="{D5CDD505-2E9C-101B-9397-08002B2CF9AE}" pid="6" name="MSIP_Label_6a247341-4757-443f-8545-88b6b969d13e_Name">
    <vt:lpwstr>Restricted</vt:lpwstr>
  </property>
  <property fmtid="{D5CDD505-2E9C-101B-9397-08002B2CF9AE}" pid="7" name="MSIP_Label_6a247341-4757-443f-8545-88b6b969d13e_ActionId">
    <vt:lpwstr>299a4785-5fc8-4858-877a-8db09950ce93</vt:lpwstr>
  </property>
  <property fmtid="{D5CDD505-2E9C-101B-9397-08002B2CF9AE}" pid="8" name="MSIP_Label_6a247341-4757-443f-8545-88b6b969d13e_Removed">
    <vt:lpwstr>False</vt:lpwstr>
  </property>
  <property fmtid="{D5CDD505-2E9C-101B-9397-08002B2CF9AE}" pid="9" name="MSIP_Label_6a247341-4757-443f-8545-88b6b969d13e_Extended_MSFT_Method">
    <vt:lpwstr>Standard</vt:lpwstr>
  </property>
  <property fmtid="{D5CDD505-2E9C-101B-9397-08002B2CF9AE}" pid="10" name="Sensitivity">
    <vt:lpwstr>Restricted</vt:lpwstr>
  </property>
</Properties>
</file>