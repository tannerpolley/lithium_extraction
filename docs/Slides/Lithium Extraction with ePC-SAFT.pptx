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763" r:id="rId5"/>
    <p:sldMasterId id="2147483775" r:id="rId6"/>
  </p:sldMasterIdLst>
  <p:notesMasterIdLst>
    <p:notesMasterId r:id="rId28"/>
  </p:notesMasterIdLst>
  <p:handoutMasterIdLst>
    <p:handoutMasterId r:id="rId29"/>
  </p:handoutMasterIdLst>
  <p:sldIdLst>
    <p:sldId id="919" r:id="rId7"/>
    <p:sldId id="13308" r:id="rId8"/>
    <p:sldId id="13319" r:id="rId9"/>
    <p:sldId id="13302" r:id="rId10"/>
    <p:sldId id="13286" r:id="rId11"/>
    <p:sldId id="13321" r:id="rId12"/>
    <p:sldId id="13334" r:id="rId13"/>
    <p:sldId id="13325" r:id="rId14"/>
    <p:sldId id="13323" r:id="rId15"/>
    <p:sldId id="13326" r:id="rId16"/>
    <p:sldId id="13327" r:id="rId17"/>
    <p:sldId id="13324" r:id="rId18"/>
    <p:sldId id="13328" r:id="rId19"/>
    <p:sldId id="13317" r:id="rId20"/>
    <p:sldId id="13329" r:id="rId21"/>
    <p:sldId id="13322" r:id="rId22"/>
    <p:sldId id="13331" r:id="rId23"/>
    <p:sldId id="13332" r:id="rId24"/>
    <p:sldId id="13312" r:id="rId25"/>
    <p:sldId id="13318" r:id="rId26"/>
    <p:sldId id="13330" r:id="rId27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son Caballero" initials="D" lastIdx="4" clrIdx="0">
    <p:extLst>
      <p:ext uri="{19B8F6BF-5375-455C-9EA6-DF929625EA0E}">
        <p15:presenceInfo xmlns:p15="http://schemas.microsoft.com/office/powerpoint/2012/main" userId="Daison Caballe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E5E"/>
    <a:srgbClr val="F39B9B"/>
    <a:srgbClr val="AC423A"/>
    <a:srgbClr val="D51919"/>
    <a:srgbClr val="648825"/>
    <a:srgbClr val="79A32D"/>
    <a:srgbClr val="000000"/>
    <a:srgbClr val="373838"/>
    <a:srgbClr val="98C93D"/>
    <a:srgbClr val="F3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79929" autoAdjust="0"/>
  </p:normalViewPr>
  <p:slideViewPr>
    <p:cSldViewPr snapToGrid="0">
      <p:cViewPr varScale="1">
        <p:scale>
          <a:sx n="97" d="100"/>
          <a:sy n="97" d="100"/>
        </p:scale>
        <p:origin x="159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920"/>
    </p:cViewPr>
  </p:sorterViewPr>
  <p:notesViewPr>
    <p:cSldViewPr snapToGrid="0">
      <p:cViewPr varScale="1">
        <p:scale>
          <a:sx n="119" d="100"/>
          <a:sy n="119" d="100"/>
        </p:scale>
        <p:origin x="4122" y="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54CA9B8-74BC-42CC-8AD2-E73F5E847AA6}" type="datetimeFigureOut">
              <a:rPr lang="en-US" smtClean="0"/>
              <a:pPr/>
              <a:t>03/18/26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B533F5EF-7B2D-436D-B831-F48ECB832F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97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21:17:25.6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 57 24575,'-11'30'0,"4"-14"0,6-13 0,1-1 0,-1 0 0,0 0 0,0 0 0,-1 0 0,1 0 0,0 0 0,-1 0 0,1 0 0,-1 0 0,0 0 0,1-1 0,-1 1 0,0-1 0,0 1 0,0-1 0,0 0 0,0 0 0,0 0 0,-1 0 0,1 0 0,0 0 0,0-1 0,-1 1 0,-3 0 0,5-1 0,-1 0 0,0-1 0,0 1 0,0 0 0,0 0 0,0-1 0,1 1 0,-1-1 0,0 0 0,0 1 0,1-1 0,-1 0 0,1 0 0,-1 0 0,0 0 0,1 0 0,0-1 0,-1 1 0,1 0 0,0-1 0,0 1 0,-1-1 0,1 1 0,0-1 0,0 0 0,1 1 0,-1-1 0,0 0 0,1 1 0,-1-1 0,1 0 0,-1-3 0,-1-12 0,0 0 0,1 0 0,1 0 0,2-18 0,25 106 0,-15-53 0,5 10 0,-16-28 0,-1 1 0,0 0 0,0 0 0,0 0 0,0 0 0,0 0 0,0 0 0,0 0 0,0 0 0,-1 0 0,1-1 0,0 1 0,0 0 0,-1 0 0,1 0 0,-1 0 0,1-1 0,0 1 0,-1 0 0,0 0 0,1-1 0,-1 1 0,1 0 0,-1-1 0,0 1 0,1 0 0,-1-1 0,0 1 0,0-1 0,0 1 0,-1 0 0,-7 4-195,-1 0 0,1 0 0,-1 0 0,0-1 0,-1-1 0,-18 5 0,19-9-6631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21:17:28.7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180 666 24575,'1'-1'0,"0"1"0,1 0 0,-1 0 0,0 0 0,0 0 0,0 0 0,0 1 0,0-1 0,0 0 0,0 0 0,0 1 0,0-1 0,0 0 0,0 1 0,0-1 0,0 1 0,0 0 0,0-1 0,0 1 0,0 0 0,0-1 0,-1 1 0,1 0 0,0 0 0,-1 0 0,1 0 0,0 0 0,-1 0 0,1 0 0,-1 0 0,0 0 0,1 0 0,-1 1 0,2 2 0,-6-17 0,2 0 0,-1 0 0,2-1 0,-1 1 0,2-1 0,0 1 0,2-15 0,-1-7 0,-2 3 0,3-43 0,-2 69 0,1 1 0,0-1 0,1 1 0,-1-1 0,1 1 0,0 0 0,0 0 0,1-1 0,0 1 0,5-7 0,-8 12 0,0-1 0,0 1 0,0 0 0,1-1 0,-1 1 0,0 0 0,0-1 0,0 1 0,1 0 0,-1-1 0,0 1 0,0 0 0,1-1 0,-1 1 0,0 0 0,1 0 0,-1 0 0,0-1 0,1 1 0,-1 0 0,0 0 0,1 0 0,-1 0 0,0 0 0,1-1 0,-1 1 0,0 0 0,1 0 0,-1 0 0,1 0 0,-1 0 0,0 0 0,1 0 0,-1 0 0,1 0 0,-1 1 0,1-1 0,2 16 0,-7 22 0,-32 67 0,27-71 0,-2 0 0,-1-1 0,-29 55 0,24-40 0,15-41 0,0 0 0,0 0 0,0 0 0,-1 0 0,0-1 0,0 1 0,-1-1 0,0 0 0,0 0 0,0 0 0,-1-1 0,-5 6 0,10-11 0,0 1 0,0-1 0,-1 0 0,1 0 0,0 0 0,-1 0 0,1 1 0,0-1 0,0 0 0,-1 0 0,1 0 0,0 0 0,-1 0 0,1 0 0,0 0 0,0 0 0,-1 0 0,1 0 0,0 0 0,-1 0 0,1 0 0,0 0 0,-1 0 0,1 0 0,0 0 0,0 0 0,-1 0 0,1 0 0,0-1 0,-1 1 0,1 0 0,0 0 0,0 0 0,0 0 0,-1-1 0,1 1 0,0 0 0,0 0 0,-1-1 0,-4-15 0,2-21 0,3 35 0,1-18 0,1 0 0,1 0 0,1 0 0,11-33 0,5-22 0,-16 57 0,2 1 0,7-20 0,8-23 0,-16 44 0,1 1 0,14-29 0,-3 10 0,-17 33 0,0 0 0,1 0 0,-1 0 0,0 0 0,1 1 0,-1-1 0,1 0 0,-1 0 0,1 0 0,-1 1 0,1-1 0,-1 0 0,1 1 0,0-1 0,-1 0 0,1 1 0,0-1 0,0 1 0,-1-1 0,1 1 0,0-1 0,0 1 0,1-1 0,-2 2 0,1-1 0,0 0 0,0 0 0,-1 1 0,1-1 0,0 1 0,-1-1 0,1 0 0,0 1 0,-1-1 0,1 1 0,-1-1 0,1 1 0,-1 0 0,1-1 0,-1 1 0,1 0 0,-1-1 0,0 1 0,1 1 0,2 4 0,-1 0 0,0 0 0,0 0 0,0 1 0,0 6 0,3 56 0,-7 86 0,0-49 0,22-234 0,-16 63 0,7-72 0,-6 99 0,-3-70 0,1-6 0,9 57 0,-1 27 0,-11 94 233,12 192-1607,-5-180 1374,-3 0 0,-7 97 0,0-147-23,-2 1 0,-1-1-1,-13 38 1,11-41 270,1 1 0,0-1 0,3 1-1,-4 35 1,10-762-2476,-3 441 4458,1 304-2229,-1 28 0,15 124 0,-6-121 0,-4 0 0,-5 90 0,-1-46 0,2-28 0,0-68 0,0-17 0,0-7 0,0-2 0,0-57 0,-13-113 0,4 124 0,0 7 0,3-1 0,-2-62 0,7 10 0,4-93 0,-3 189 0,0 0 0,0-1 0,0 1 0,0 0 0,0 0 0,0-1 0,1 1 0,-1 0 0,0 0 0,1-1 0,0 1 0,-1 0 0,1 0 0,-1 0 0,1 0 0,0 0 0,0 0 0,1-2 0,4 7 0,-2 13 0,44 242-683,-41-219 683,17 58 0,-15-68 0,-1 0 0,-1 0 0,-2 0 0,1 33 0,-7 82 683,1-713-683,0 595 0,1 0 0,1 0 0,8 35 0,0-16 0,-2 0 0,-1 0 0,-1 74 0,-6-113 0,-1 19 0,-1-23 0,-4-17 0,-3-14 0,5 12 0,-1 0 0,-1 1 0,0 0 0,-15-27 0,3 12 0,2-1 0,-15-41 0,8 17 0,23 54 0,-1 0 0,1 0 0,0 0 0,-1 0 0,1 0 0,-1 0 0,1-1 0,-1 1 0,0 1 0,1-1 0,-1 0 0,0 0 0,0 0 0,0 0 0,1 0 0,-1 1 0,0-1 0,0 0 0,0 1 0,-2-1 0,3 1 0,-1 0 0,1 1 0,-1-1 0,0 1 0,1-1 0,-1 0 0,1 1 0,-1-1 0,1 1 0,-1-1 0,1 1 0,0 0 0,-1-1 0,1 1 0,0-1 0,-1 1 0,1 0 0,0-1 0,0 1 0,0 0 0,-1-1 0,1 1 0,0 1 0,-5 50 0,7 31 0,0-55 0,-1 0 0,-1 0 0,-2 0 0,-8 49 0,3-63 0,2-22 0,0-38 0,3 25 0,-47-176 0,41 171 0,1 9 0,2 0 0,0-1 0,1 1 0,-2-29 0,6 44 0,0-4 0,0 0 0,-1 1 0,1-1 0,-1 0 0,0 0 0,-1 0 0,0 1 0,1-1 0,-5-6 0,6 12 0,0 0 0,0 0 0,0-1 0,-1 1 0,1 0 0,0 0 0,0 0 0,0 0 0,-1 0 0,1 0 0,0 0 0,0 0 0,0 0 0,-1 1 0,1-1 0,0 0 0,0 0 0,0 0 0,0 0 0,-1 0 0,1 0 0,0 0 0,0 0 0,0 0 0,0 0 0,0 1 0,-1-1 0,1 0 0,0 0 0,0 0 0,0 0 0,0 1 0,0-1 0,0 0 0,0 0 0,-1 0 0,1 0 0,0 1 0,0-1 0,0 0 0,0 0 0,0 0 0,0 0 0,0 1 0,0-1 0,0 0 0,0 0 0,0 0 0,0 1 0,0-1 0,0 0 0,0 0 0,1 0 0,-1 1 0,0-1 0,0 0 0,-2 14 0,0 105 0,3-77 0,-2 0 0,-11 68 0,8-79 0,1 1 0,3 60 0,-2 18 0,-1-92 0,-1 1 0,-7 23 0,10-40 0,-20-61 0,13 23 0,1 0 0,2 0 0,1 0 0,1-43 0,2-32 0,4-87 0,-4 197 0,1 0 0,0-1 0,0 1 0,0 0 0,0 0 0,1-1 0,-1 1 0,0 0 0,0 0 0,1-1 0,-1 1 0,1 0 0,-1 0 0,1 0 0,0 0 0,-1 0 0,1 0 0,0 0 0,0 0 0,-1 0 0,1 0 0,0 0 0,1-1 0,0 2 0,-1 0 0,0 0 0,0 1 0,0-1 0,0 0 0,0 0 0,0 1 0,0-1 0,0 1 0,0-1 0,-1 1 0,1-1 0,0 1 0,0-1 0,0 1 0,0 0 0,-1 0 0,1-1 0,0 1 0,-1 0 0,2 1 0,4 7 0,1 0 0,-1 0 0,9 21 0,101 210 0,-103-211 0,-1 0 0,14 53 0,-17-43 0,-7-26 0,1 1 0,1-1 0,5 15 0,-4-64 0,-5 30 0,-1 0 0,0 0 0,0 0 0,0 0 0,-1 0 0,1 1 0,-2-1 0,1 0 0,-5-8 0,-35-47 0,30 46 0,-19-33 0,29 45 0,0 0 0,0 0 0,0 0 0,0 0 0,0 0 0,-1 0 0,1 0 0,-1 1 0,0-1 0,0 1 0,0 0 0,0 0 0,-5-2 0,8 4 0,-1 0 0,1 0 0,-1 0 0,0 0 0,1 0 0,-1 1 0,1-1 0,-1 0 0,1 0 0,-1 1 0,1-1 0,-1 0 0,1 1 0,0-1 0,-1 0 0,1 1 0,-1-1 0,1 1 0,0-1 0,-1 1 0,1-1 0,0 1 0,-1-1 0,1 1 0,0-1 0,0 1 0,0-1 0,0 1 0,-1-1 0,1 1 0,0 0 0,0-1 0,0 1 0,0-1 0,0 1 0,-2 26 0,2-24 0,3 236 0,-7-261 0,0 0 0,-1 0 0,-13-36 0,6 20 0,20 65 0,2 1 0,19 38 0,-12-24 0,-14-34 0,1 1 0,-1 0 0,1-1 0,6 9 0,-10-17-1,0 0-1,0 1 0,0-1 1,0 0-1,1 1 0,-1-1 1,0 0-1,0 0 0,0 1 0,0-1 1,1 0-1,-1 0 0,0 1 1,0-1-1,0 0 0,1 0 1,-1 1-1,0-1 0,0 0 1,1 0-1,-1 0 0,0 0 1,1 0-1,-1 1 0,0-1 1,1 0-1,-1 0 0,0 0 1,0 0-1,1 0 0,-1 0 1,0 0-1,1 0 0,-1 0 1,0 0-1,1 0 0,-1 0 1,0 0-1,1-1 0,-1 1 1,0 0-1,0 0 0,1 0 1,-1 0-1,0 0 0,1-1 0,-1 1 1,7-20 201,-3-23-1685,-4 23-5341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21:17:55.0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21:17:56.1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10CAAA1-2DC6-469D-86AF-311C333CDD14}" type="datetimeFigureOut">
              <a:rPr lang="en-US" smtClean="0"/>
              <a:pPr/>
              <a:t>03/18/26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6600" y="1154113"/>
            <a:ext cx="5538788" cy="3116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3798CC5-B40D-4675-A662-FAA7C61DAE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7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33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References: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(1) Almousa, M.; Lim, Y. H.; </a:t>
            </a:r>
            <a:r>
              <a:rPr lang="en-US" b="0" dirty="0" err="1"/>
              <a:t>AlMubaidin</a:t>
            </a:r>
            <a:r>
              <a:rPr lang="en-US" b="0" dirty="0"/>
              <a:t>, M.; Alshami, A.; Al-</a:t>
            </a:r>
            <a:r>
              <a:rPr lang="en-US" b="0" dirty="0" err="1"/>
              <a:t>Tayyem</a:t>
            </a:r>
            <a:r>
              <a:rPr lang="en-US" b="0" dirty="0"/>
              <a:t>, B. H.; </a:t>
            </a:r>
            <a:r>
              <a:rPr lang="en-US" b="0" dirty="0" err="1"/>
              <a:t>Tomomewo</a:t>
            </a:r>
            <a:r>
              <a:rPr lang="en-US" b="0" dirty="0"/>
              <a:t>, O.; Khalifa, H. Comparative Feasibility of Lithium Extraction Technologies in U.S. Oilfields. </a:t>
            </a:r>
            <a:r>
              <a:rPr lang="en-US" b="0" i="1" dirty="0" err="1"/>
              <a:t>Desalin</a:t>
            </a:r>
            <a:r>
              <a:rPr lang="en-US" b="0" i="1" dirty="0"/>
              <a:t>. Water Treat.</a:t>
            </a:r>
            <a:r>
              <a:rPr lang="en-US" b="0" dirty="0"/>
              <a:t> 2025, </a:t>
            </a:r>
            <a:r>
              <a:rPr lang="en-US" b="0" i="1" dirty="0"/>
              <a:t>322</a:t>
            </a:r>
            <a:r>
              <a:rPr lang="en-US" b="0" dirty="0"/>
              <a:t>, 101128. https://doi.org/10.1016/J.DWT.2025.101128.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9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References:</a:t>
            </a:r>
          </a:p>
          <a:p>
            <a:r>
              <a:rPr lang="en-US" dirty="0"/>
              <a:t>https://lithium.org/wp-content/uploads/2024/06/Direct-Lithium-Extraction-DLE-An-introduction-ILiA-June-2024-v.1-English-web.pdf</a:t>
            </a:r>
          </a:p>
          <a:p>
            <a:r>
              <a:rPr lang="en-US" dirty="0"/>
              <a:t>https://www.idtechex.com/en/research-report/direct-lithium-extraction/1140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13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Transition: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Solvent Extraction Physics relies on being able to predict the liquid-liquid equilibrium of all the ionic compounds and solvents of a given mixture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A model must be used to predict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(23) Kanagasundaram, T.; Murphy, O.; Haji, M. N.; Wilson, J. J. The Recovery and Separation of Lithium by Using Solvent Extraction Methods. </a:t>
            </a:r>
            <a:r>
              <a:rPr lang="en-US" sz="1200" b="0" i="1" dirty="0"/>
              <a:t>Coord. Chem. Rev.</a:t>
            </a:r>
            <a:r>
              <a:rPr lang="en-US" sz="1200" b="0" dirty="0"/>
              <a:t> 2024, </a:t>
            </a:r>
            <a:r>
              <a:rPr lang="en-US" sz="1200" b="0" i="1" dirty="0"/>
              <a:t>509</a:t>
            </a:r>
            <a:r>
              <a:rPr lang="en-US" sz="1200" b="0" dirty="0"/>
              <a:t> (December 2023), 215727. https://doi.org/10.1016/j.ccr.2024.215727.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36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(1) Yu, G.; Li, Y.; Zhang, X.; </a:t>
            </a:r>
            <a:r>
              <a:rPr lang="en-US" dirty="0" err="1">
                <a:effectLst/>
              </a:rPr>
              <a:t>Jovein</a:t>
            </a:r>
            <a:r>
              <a:rPr lang="en-US" dirty="0">
                <a:effectLst/>
              </a:rPr>
              <a:t>, I. B.; Figiel, P.; Chen, B.; Ji, Y.; Sadowski, G.; Held, C. Lithium Extraction from Salt-Lake Brines Using </a:t>
            </a:r>
            <a:r>
              <a:rPr lang="en-US" dirty="0" err="1">
                <a:effectLst/>
              </a:rPr>
              <a:t>Dicationic</a:t>
            </a:r>
            <a:r>
              <a:rPr lang="en-US" dirty="0">
                <a:effectLst/>
              </a:rPr>
              <a:t> Ionic Liquids: EPC-SAFT Modeling and Molecular Mechanisms. </a:t>
            </a:r>
            <a:r>
              <a:rPr lang="en-US" i="1" dirty="0">
                <a:effectLst/>
              </a:rPr>
              <a:t>AIChE J.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2025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71</a:t>
            </a:r>
            <a:r>
              <a:rPr lang="en-US" dirty="0">
                <a:effectLst/>
              </a:rPr>
              <a:t> (April), e18907. https://doi.org/10.1002/AIC.18907.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9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6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emf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228500" y="613326"/>
            <a:ext cx="11735000" cy="2387600"/>
          </a:xfrm>
        </p:spPr>
        <p:txBody>
          <a:bodyPr anchor="b"/>
          <a:lstStyle>
            <a:lvl1pPr algn="ctr">
              <a:defRPr sz="6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Cover Long Title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500" y="3093001"/>
            <a:ext cx="117350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373838"/>
                </a:solidFill>
                <a:latin typeface="+mn-lt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Cover Subtitle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04" y="4964825"/>
            <a:ext cx="2307273" cy="917977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 flipH="1">
            <a:off x="53265" y="-9526"/>
            <a:ext cx="70560" cy="6858001"/>
          </a:xfrm>
          <a:prstGeom prst="rect">
            <a:avLst/>
          </a:prstGeom>
          <a:gradFill flip="none" rotWithShape="1">
            <a:gsLst>
              <a:gs pos="0">
                <a:srgbClr val="98C93D"/>
              </a:gs>
              <a:gs pos="100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A3F6500A-D256-4B4C-8DCE-2A96969C0C1A}"/>
              </a:ext>
            </a:extLst>
          </p:cNvPr>
          <p:cNvSpPr txBox="1">
            <a:spLocks/>
          </p:cNvSpPr>
          <p:nvPr userDrawn="1"/>
        </p:nvSpPr>
        <p:spPr>
          <a:xfrm>
            <a:off x="1551286" y="6515822"/>
            <a:ext cx="3052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+mn-lt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420016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5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087763"/>
            <a:ext cx="11580921" cy="4933476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32633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288240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270628" y="778081"/>
            <a:ext cx="11580921" cy="373510"/>
          </a:xfr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rgbClr val="373838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Page Subtitle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4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449238"/>
            <a:ext cx="11580921" cy="4572002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B77CE695-0A2F-C942-9F1A-B6FA9F084CA0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88377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New_DOE_Logo_Color_Hi-Res_04280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7254" y="6026445"/>
            <a:ext cx="2528710" cy="635714"/>
          </a:xfrm>
          <a:prstGeom prst="rect">
            <a:avLst/>
          </a:prstGeom>
        </p:spPr>
      </p:pic>
      <p:pic>
        <p:nvPicPr>
          <p:cNvPr id="13" name="Picture 19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5369" y="6041893"/>
            <a:ext cx="1017884" cy="57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West_Virginia_University_logo_svg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01318" y="6221732"/>
            <a:ext cx="1864013" cy="241391"/>
          </a:xfrm>
          <a:prstGeom prst="rect">
            <a:avLst/>
          </a:prstGeom>
        </p:spPr>
      </p:pic>
      <p:pic>
        <p:nvPicPr>
          <p:cNvPr id="15" name="Picture 14" descr="CMU logo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0431" y="6205830"/>
            <a:ext cx="1532631" cy="2923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074" y="6049212"/>
            <a:ext cx="1447109" cy="5579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5" y="6065746"/>
            <a:ext cx="1439091" cy="572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372CD0-347B-4C7F-AD39-78B556A7DD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61" y="6205829"/>
            <a:ext cx="1524000" cy="3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10841"/>
      </p:ext>
    </p:extLst>
  </p:cSld>
  <p:clrMapOvr>
    <a:masterClrMapping/>
  </p:clrMapOvr>
  <p:transition spd="med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07555"/>
      </p:ext>
    </p:extLst>
  </p:cSld>
  <p:clrMapOvr>
    <a:masterClrMapping/>
  </p:clrMapOvr>
  <p:transition spd="med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201775"/>
      </p:ext>
    </p:extLst>
  </p:cSld>
  <p:clrMapOvr>
    <a:masterClrMapping/>
  </p:clrMapOvr>
  <p:transition spd="med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65202"/>
            <a:ext cx="5384800" cy="52038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2133"/>
            <a:ext cx="5384800" cy="518689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1785"/>
      </p:ext>
    </p:extLst>
  </p:cSld>
  <p:clrMapOvr>
    <a:masterClrMapping/>
  </p:clrMapOvr>
  <p:transition spd="med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533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5029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0059"/>
            <a:ext cx="5386917" cy="4672517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95029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590060"/>
            <a:ext cx="5389033" cy="4661884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58606"/>
      </p:ext>
    </p:extLst>
  </p:cSld>
  <p:clrMapOvr>
    <a:masterClrMapping/>
  </p:clrMapOvr>
  <p:transition spd="med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6760"/>
      </p:ext>
    </p:extLst>
  </p:cSld>
  <p:clrMapOvr>
    <a:masterClrMapping/>
  </p:clrMapOvr>
  <p:transition spd="med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9507"/>
      </p:ext>
    </p:extLst>
  </p:cSld>
  <p:clrMapOvr>
    <a:masterClrMapping/>
  </p:clrMapOvr>
  <p:transition spd="med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9715"/>
      </p:ext>
    </p:extLst>
  </p:cSld>
  <p:clrMapOvr>
    <a:masterClrMapping/>
  </p:clrMapOvr>
  <p:transition spd="med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78143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05177"/>
      </p:ext>
    </p:extLst>
  </p:cSld>
  <p:clrMapOvr>
    <a:masterClrMapping/>
  </p:clrMapOvr>
  <p:transition spd="med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36070" y="182563"/>
            <a:ext cx="646331" cy="5986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2563"/>
            <a:ext cx="8026400" cy="5986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0476"/>
      </p:ext>
    </p:extLst>
  </p:cSld>
  <p:clrMapOvr>
    <a:masterClrMapping/>
  </p:clrMapOvr>
  <p:transition spd="med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906"/>
      </p:ext>
    </p:extLst>
  </p:cSld>
  <p:clrMapOvr>
    <a:masterClrMapping/>
  </p:clrMapOvr>
  <p:transition spd="med"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prstGeom prst="rect">
            <a:avLst/>
          </a:prstGeo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D3D4A-7E28-4220-9909-287F9B6EB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40613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C882809-195B-4C71-AF45-AF8015062DE4}" type="datetimeFigureOut">
              <a:rPr lang="en-US" smtClean="0"/>
              <a:pPr/>
              <a:t>03/18/26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D1BBCF7-C2B2-490C-A676-476317972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3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2" r:id="rId3"/>
    <p:sldLayoutId id="21474837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3738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0F5CB-0D47-4D83-91C4-D40A395E459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" t="7487" b="7207"/>
          <a:stretch/>
        </p:blipFill>
        <p:spPr>
          <a:xfrm>
            <a:off x="33250" y="6148938"/>
            <a:ext cx="1826051" cy="709062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968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9C87F91-BFE2-284C-8E09-D1E69062B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6817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7C2DE-E3C8-B14E-B1DC-1B0DBDEF69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32" y="6089972"/>
            <a:ext cx="1833097" cy="7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2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26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tags" Target="../tags/tag2.xml"/><Relationship Id="rId16" Type="http://schemas.openxmlformats.org/officeDocument/2006/relationships/image" Target="../media/image29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customXml" Target="../ink/ink4.xml"/><Relationship Id="rId5" Type="http://schemas.openxmlformats.org/officeDocument/2006/relationships/tags" Target="../tags/tag5.xml"/><Relationship Id="rId15" Type="http://schemas.openxmlformats.org/officeDocument/2006/relationships/image" Target="../media/image28.png"/><Relationship Id="rId10" Type="http://schemas.openxmlformats.org/officeDocument/2006/relationships/image" Target="../media/image24.png"/><Relationship Id="rId4" Type="http://schemas.openxmlformats.org/officeDocument/2006/relationships/tags" Target="../tags/tag4.xml"/><Relationship Id="rId9" Type="http://schemas.openxmlformats.org/officeDocument/2006/relationships/customXml" Target="../ink/ink3.xml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tags" Target="../tags/tag8.xml"/><Relationship Id="rId16" Type="http://schemas.openxmlformats.org/officeDocument/2006/relationships/image" Target="../media/image36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31.png"/><Relationship Id="rId5" Type="http://schemas.openxmlformats.org/officeDocument/2006/relationships/tags" Target="../tags/tag11.xml"/><Relationship Id="rId15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9.png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2D2A-00DF-404A-9F1C-0471527E6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92" y="1007793"/>
            <a:ext cx="12192479" cy="3690815"/>
          </a:xfrm>
        </p:spPr>
        <p:txBody>
          <a:bodyPr anchor="ctr" anchorCtr="1">
            <a:noAutofit/>
          </a:bodyPr>
          <a:lstStyle/>
          <a:p>
            <a:r>
              <a:rPr lang="en-US" sz="4000" dirty="0"/>
              <a:t>Modeling Lithium Extraction from Produced Water with ePC-SAFT</a:t>
            </a:r>
            <a:br>
              <a:rPr lang="en-US" sz="40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2400" dirty="0"/>
            </a:br>
            <a:r>
              <a:rPr lang="en-US" sz="2400" dirty="0"/>
              <a:t>03/18/2026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Tanner Polley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AC619-E783-F347-B0A1-562FEFE97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31" y="4869340"/>
            <a:ext cx="2950799" cy="115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0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A6D6-A8A1-B59D-D2D3-09C0A777B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8" y="102015"/>
            <a:ext cx="11580921" cy="600980"/>
          </a:xfrm>
        </p:spPr>
        <p:txBody>
          <a:bodyPr>
            <a:normAutofit/>
          </a:bodyPr>
          <a:lstStyle/>
          <a:p>
            <a:r>
              <a:rPr lang="en-US" sz="3200" dirty="0"/>
              <a:t>Extract Lithium from Produced Water to Meet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923147-A878-8F4B-964F-20D54107F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50658" y="993913"/>
            <a:ext cx="4590788" cy="2348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71EFD-7B17-EABD-39DB-955282D24548}"/>
              </a:ext>
            </a:extLst>
          </p:cNvPr>
          <p:cNvSpPr txBox="1"/>
          <p:nvPr/>
        </p:nvSpPr>
        <p:spPr>
          <a:xfrm>
            <a:off x="725984" y="861248"/>
            <a:ext cx="484234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Global lithium demand is projected to exceed 2.5 million metric tons LCE by 2030, driven largely by EVs and grid-scale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Produced water from oil and gas wells can contain lithium from under </a:t>
            </a:r>
            <a:r>
              <a:rPr lang="en-US" sz="2000" b="1" dirty="0"/>
              <a:t>10 mg/L to over 600 mg/L</a:t>
            </a:r>
            <a:r>
              <a:rPr lang="en-US" sz="2000" dirty="0"/>
              <a:t>, representing significant untapped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Because produced water chemistry varies widely, only some wells are strong candidates; identifying high-lithium, low-interference sweet spots is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Recovering lithium from produced water offers two benefits: </a:t>
            </a:r>
            <a:r>
              <a:rPr lang="en-US" sz="2000" b="1" dirty="0"/>
              <a:t>helping meet demand </a:t>
            </a:r>
            <a:r>
              <a:rPr lang="en-US" sz="2000" dirty="0"/>
              <a:t>and </a:t>
            </a:r>
            <a:r>
              <a:rPr lang="en-US" sz="2000" b="1" dirty="0"/>
              <a:t>reducing disposal costs </a:t>
            </a:r>
            <a:r>
              <a:rPr lang="en-US" sz="2000" dirty="0"/>
              <a:t>for oil and gas operators.</a:t>
            </a:r>
          </a:p>
          <a:p>
            <a:endParaRPr lang="en-US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E0CF91E-6D36-85FB-CC71-B483993E2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72" y="3342104"/>
            <a:ext cx="4503089" cy="25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6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C409-AD23-5580-98D6-F33C3BFBC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367" y="77389"/>
            <a:ext cx="10682423" cy="600980"/>
          </a:xfrm>
        </p:spPr>
        <p:txBody>
          <a:bodyPr>
            <a:normAutofit/>
          </a:bodyPr>
          <a:lstStyle/>
          <a:p>
            <a:r>
              <a:rPr lang="en-US" sz="3200" dirty="0"/>
              <a:t>Direct Lithium Extraction (DLE) Technologies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4BF1FEF-60B7-C58E-3F66-755E6715B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78259"/>
              </p:ext>
            </p:extLst>
          </p:nvPr>
        </p:nvGraphicFramePr>
        <p:xfrm>
          <a:off x="580444" y="755375"/>
          <a:ext cx="8682825" cy="5478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248">
                  <a:extLst>
                    <a:ext uri="{9D8B030D-6E8A-4147-A177-3AD203B41FA5}">
                      <a16:colId xmlns:a16="http://schemas.microsoft.com/office/drawing/2014/main" val="1369978253"/>
                    </a:ext>
                  </a:extLst>
                </a:gridCol>
                <a:gridCol w="2048413">
                  <a:extLst>
                    <a:ext uri="{9D8B030D-6E8A-4147-A177-3AD203B41FA5}">
                      <a16:colId xmlns:a16="http://schemas.microsoft.com/office/drawing/2014/main" val="957281118"/>
                    </a:ext>
                  </a:extLst>
                </a:gridCol>
                <a:gridCol w="2048412">
                  <a:extLst>
                    <a:ext uri="{9D8B030D-6E8A-4147-A177-3AD203B41FA5}">
                      <a16:colId xmlns:a16="http://schemas.microsoft.com/office/drawing/2014/main" val="3460153170"/>
                    </a:ext>
                  </a:extLst>
                </a:gridCol>
                <a:gridCol w="2919752">
                  <a:extLst>
                    <a:ext uri="{9D8B030D-6E8A-4147-A177-3AD203B41FA5}">
                      <a16:colId xmlns:a16="http://schemas.microsoft.com/office/drawing/2014/main" val="4050136034"/>
                    </a:ext>
                  </a:extLst>
                </a:gridCol>
              </a:tblGrid>
              <a:tr h="3417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DLE technology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 idea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Pros</a:t>
                      </a:r>
                    </a:p>
                  </a:txBody>
                  <a:tcPr marL="7620" marR="7620" marT="7620" marB="0" anchor="ctr">
                    <a:solidFill>
                      <a:srgbClr val="6488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</a:t>
                      </a:r>
                    </a:p>
                  </a:txBody>
                  <a:tcPr marL="7620" marR="7620" marT="7620" marB="0" anchor="ctr">
                    <a:solidFill>
                      <a:srgbClr val="AC4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195567"/>
                  </a:ext>
                </a:extLst>
              </a:tr>
              <a:tr h="1027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Adsorption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 captured on solid sorbents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Mature 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Selective 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Scalable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Brine-specific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Pretreatment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Sorbent fouling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C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981200"/>
                  </a:ext>
                </a:extLst>
              </a:tr>
              <a:tr h="1027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Ion exchange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 swaps onto ion-sieve solids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Selective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High recovery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Concentration boost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Sorbent degradation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Acid regeneration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Cost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3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01342"/>
                  </a:ext>
                </a:extLst>
              </a:tr>
              <a:tr h="1027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Solvent extraction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 transferred into organic phase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Low Operating Cost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Efficient and Selective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Continuous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Solvent loss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Safety risk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Water use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C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847944"/>
                  </a:ext>
                </a:extLst>
              </a:tr>
              <a:tr h="1027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Membranes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 separated through selective membranes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Modular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Lower reagents</a:t>
                      </a:r>
                    </a:p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Smaller footprint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Fouling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Li/Na selectivity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Durability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3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105149"/>
                  </a:ext>
                </a:extLst>
              </a:tr>
              <a:tr h="1027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Electrochemical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Li moved by electric field/redox cells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High selectivity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Low chemicals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Fast response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High power demand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Electrode degradation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</a:rPr>
                        <a:t>Scale-up</a:t>
                      </a:r>
                    </a:p>
                  </a:txBody>
                  <a:tcPr anchor="ctr">
                    <a:solidFill>
                      <a:srgbClr val="F3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163683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DED659F2-69ED-6F9E-9465-830DFACD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547" y="1121001"/>
            <a:ext cx="1334535" cy="10135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13F103-DD1F-CF52-A61F-F1D4420D4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783" y="2134571"/>
            <a:ext cx="1345274" cy="102016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06B2B7-328C-C2AC-B7C1-76CCCC89A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8522" y="3164659"/>
            <a:ext cx="1334535" cy="10135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0E88843-EDF6-86A6-20B9-D9B1635E9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7783" y="4188150"/>
            <a:ext cx="1334535" cy="100090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FF7C1D4-42CB-CCE6-3B4E-82E2F854E7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7783" y="5235726"/>
            <a:ext cx="1334535" cy="99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48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3094-2640-4121-54A9-A7C9697B5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17" y="85340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Why Solvent Extraction of Lithium?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DC1E2-A27A-9938-96C5-D391B392D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18" y="828367"/>
            <a:ext cx="5343274" cy="4308176"/>
          </a:xfrm>
        </p:spPr>
        <p:txBody>
          <a:bodyPr>
            <a:noAutofit/>
          </a:bodyPr>
          <a:lstStyle/>
          <a:p>
            <a:r>
              <a:rPr lang="en-US" sz="1800" dirty="0"/>
              <a:t>Strengths:</a:t>
            </a:r>
          </a:p>
          <a:p>
            <a:pPr lvl="1"/>
            <a:r>
              <a:rPr lang="en-US" sz="1800" dirty="0"/>
              <a:t>Effective for </a:t>
            </a:r>
            <a:r>
              <a:rPr lang="en-US" sz="1800" b="1" dirty="0"/>
              <a:t>dilute, low-quality brines </a:t>
            </a:r>
            <a:r>
              <a:rPr lang="en-US" sz="1800" dirty="0"/>
              <a:t>and produced water where evaporation-based methods are impractical</a:t>
            </a:r>
          </a:p>
          <a:p>
            <a:pPr lvl="1"/>
            <a:r>
              <a:rPr lang="en-US" sz="1800" b="1" dirty="0"/>
              <a:t>High lithium selectivity </a:t>
            </a:r>
            <a:r>
              <a:rPr lang="en-US" sz="1800" dirty="0"/>
              <a:t>can outperform many alternatives in complex brines with competing ions</a:t>
            </a:r>
          </a:p>
          <a:p>
            <a:pPr lvl="1"/>
            <a:r>
              <a:rPr lang="en-US" sz="1800" dirty="0"/>
              <a:t>Enables </a:t>
            </a:r>
            <a:r>
              <a:rPr lang="en-US" sz="1800" b="1" dirty="0"/>
              <a:t>staged impurity removal </a:t>
            </a:r>
            <a:r>
              <a:rPr lang="en-US" sz="1800" dirty="0"/>
              <a:t>and lithium recovery within the same process</a:t>
            </a:r>
          </a:p>
          <a:p>
            <a:pPr lvl="1"/>
            <a:r>
              <a:rPr lang="en-US" sz="1800" b="1" dirty="0"/>
              <a:t>Lower energy demand </a:t>
            </a:r>
            <a:r>
              <a:rPr lang="en-US" sz="1800" dirty="0"/>
              <a:t>than evaporation and can reduce downstream concentration requirements</a:t>
            </a:r>
          </a:p>
          <a:p>
            <a:pPr lvl="1"/>
            <a:r>
              <a:rPr lang="en-US" sz="1800" dirty="0"/>
              <a:t>Extractants can often be stripped and reused, supporting </a:t>
            </a:r>
            <a:r>
              <a:rPr lang="en-US" sz="1800" b="1" dirty="0"/>
              <a:t>continuous operation</a:t>
            </a:r>
            <a:r>
              <a:rPr lang="en-US" sz="1800" dirty="0"/>
              <a:t> and product recovery</a:t>
            </a:r>
          </a:p>
          <a:p>
            <a:endParaRPr lang="en-US" sz="22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EB27DB0-1462-B34B-CA22-BF66A16359F2}"/>
              </a:ext>
            </a:extLst>
          </p:cNvPr>
          <p:cNvSpPr txBox="1">
            <a:spLocks/>
          </p:cNvSpPr>
          <p:nvPr/>
        </p:nvSpPr>
        <p:spPr>
          <a:xfrm>
            <a:off x="6460034" y="1846133"/>
            <a:ext cx="5220604" cy="2957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336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◦"/>
              <a:defRPr sz="24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―"/>
              <a:defRPr sz="20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▪"/>
              <a:defRPr sz="18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▫"/>
              <a:defRPr sz="18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7FCBDB-70DD-1829-A4C6-88078ED9A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177" y="2923976"/>
            <a:ext cx="5700096" cy="30688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8395EA-08B3-C8F7-FE35-AB1535892022}"/>
              </a:ext>
            </a:extLst>
          </p:cNvPr>
          <p:cNvSpPr txBox="1"/>
          <p:nvPr/>
        </p:nvSpPr>
        <p:spPr>
          <a:xfrm>
            <a:off x="5853980" y="892651"/>
            <a:ext cx="61384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Weaknesses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Selectivity can still drop in the presence of high concentrations of </a:t>
            </a:r>
            <a:r>
              <a:rPr lang="en-US" sz="1800" b="1" dirty="0"/>
              <a:t>multivalent ions </a:t>
            </a:r>
            <a:r>
              <a:rPr lang="en-US" sz="1800" dirty="0"/>
              <a:t>or organics</a:t>
            </a:r>
          </a:p>
          <a:p>
            <a:pPr lvl="1"/>
            <a:r>
              <a:rPr lang="en-US" sz="1800" dirty="0"/>
              <a:t>Requires organic solvents/extractants, creating </a:t>
            </a:r>
            <a:r>
              <a:rPr lang="en-US" sz="1800" b="1" dirty="0"/>
              <a:t>solvent-loss, handling</a:t>
            </a:r>
            <a:r>
              <a:rPr lang="en-US" sz="1800" dirty="0"/>
              <a:t>, and environmental concerns</a:t>
            </a:r>
          </a:p>
          <a:p>
            <a:pPr lvl="1"/>
            <a:r>
              <a:rPr lang="en-US" sz="1800" dirty="0"/>
              <a:t>Many systems remain formulation-sensitive and </a:t>
            </a:r>
            <a:r>
              <a:rPr lang="en-US" sz="1800" b="1" dirty="0"/>
              <a:t>not yet fully proven </a:t>
            </a:r>
            <a:r>
              <a:rPr lang="en-US" sz="1800" dirty="0"/>
              <a:t>at large commercial scale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F82BCB2-A6D5-AEB8-F2F3-2DF82567661C}"/>
                  </a:ext>
                </a:extLst>
              </p14:cNvPr>
              <p14:cNvContentPartPr/>
              <p14:nvPr/>
            </p14:nvContentPartPr>
            <p14:xfrm>
              <a:off x="5902748" y="4972868"/>
              <a:ext cx="60840" cy="64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F82BCB2-A6D5-AEB8-F2F3-2DF8256766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96628" y="4966748"/>
                <a:ext cx="730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DB5D940-8840-DC50-E27E-D3560444AF81}"/>
                  </a:ext>
                </a:extLst>
              </p14:cNvPr>
              <p14:cNvContentPartPr/>
              <p14:nvPr/>
            </p14:nvContentPartPr>
            <p14:xfrm>
              <a:off x="5842988" y="4777748"/>
              <a:ext cx="144720" cy="347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DB5D940-8840-DC50-E27E-D3560444AF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6868" y="4771628"/>
                <a:ext cx="15696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3F565D4-C8BF-90BC-CAC3-FAF09DAA0124}"/>
              </a:ext>
            </a:extLst>
          </p:cNvPr>
          <p:cNvSpPr txBox="1"/>
          <p:nvPr/>
        </p:nvSpPr>
        <p:spPr>
          <a:xfrm>
            <a:off x="99717" y="5036948"/>
            <a:ext cx="5699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Requirements: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thermodynamic model to predict the activity of each compound in each phase which determines the distribution coefficient of transfer</a:t>
            </a:r>
          </a:p>
        </p:txBody>
      </p:sp>
    </p:spTree>
    <p:extLst>
      <p:ext uri="{BB962C8B-B14F-4D97-AF65-F5344CB8AC3E}">
        <p14:creationId xmlns:p14="http://schemas.microsoft.com/office/powerpoint/2010/main" val="29731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FBE6-88E7-967F-A5D4-9C2FB22DE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59" y="77388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ePC-SAFT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7D4C9-4796-7125-726F-4AB111C6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59" y="995469"/>
            <a:ext cx="4309323" cy="5365574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ePC-SAFT</a:t>
            </a:r>
            <a:r>
              <a:rPr lang="en-US" sz="1800" b="0" dirty="0"/>
              <a:t> (electrolyte Perturbed-Chain Statistical Associating Fluid Theory) is an </a:t>
            </a:r>
            <a:r>
              <a:rPr lang="en-US" sz="1800" dirty="0"/>
              <a:t>equation of state </a:t>
            </a:r>
            <a:r>
              <a:rPr lang="en-US" sz="1800" b="0" dirty="0"/>
              <a:t>that can predict the phase behavior of almost any system, including </a:t>
            </a:r>
            <a:r>
              <a:rPr lang="en-US" sz="1800" dirty="0"/>
              <a:t>complex electrolyte systems</a:t>
            </a:r>
          </a:p>
          <a:p>
            <a:r>
              <a:rPr lang="en-US" sz="1800" b="0" dirty="0"/>
              <a:t>Unlike activity coefficient models, ePC-SAFT is built on a </a:t>
            </a:r>
            <a:r>
              <a:rPr lang="en-US" sz="1800" dirty="0"/>
              <a:t>molecular foundation </a:t>
            </a:r>
            <a:r>
              <a:rPr lang="en-US" sz="1800" b="0" dirty="0"/>
              <a:t>via statistical mechanics.</a:t>
            </a:r>
          </a:p>
          <a:p>
            <a:r>
              <a:rPr lang="en-US" sz="1800" b="0" dirty="0"/>
              <a:t>The main advantage it has is the </a:t>
            </a:r>
            <a:r>
              <a:rPr lang="en-US" sz="1800" dirty="0"/>
              <a:t>significantly reduced amount of fitted parameters</a:t>
            </a:r>
            <a:r>
              <a:rPr lang="en-US" sz="1800" b="0" dirty="0"/>
              <a:t> for specific mixtures while maintaining or even improving in accuracy. </a:t>
            </a:r>
          </a:p>
          <a:p>
            <a:r>
              <a:rPr lang="en-US" sz="1800" b="0" dirty="0"/>
              <a:t>It relies only on </a:t>
            </a:r>
            <a:r>
              <a:rPr lang="en-US" sz="1800" dirty="0"/>
              <a:t>pure-component fitted parameters </a:t>
            </a:r>
            <a:r>
              <a:rPr lang="en-US" sz="1800" b="0" dirty="0"/>
              <a:t>and </a:t>
            </a:r>
            <a:r>
              <a:rPr lang="en-US" sz="1800" dirty="0"/>
              <a:t>one set of binary </a:t>
            </a:r>
            <a:r>
              <a:rPr lang="en-US" sz="1800" b="0" dirty="0"/>
              <a:t>interaction parameters</a:t>
            </a:r>
          </a:p>
          <a:p>
            <a:r>
              <a:rPr lang="en-US" sz="1800" b="0" dirty="0"/>
              <a:t>All relevant thermodynamic properties are derived from the </a:t>
            </a:r>
            <a:r>
              <a:rPr lang="en-US" sz="1800" dirty="0"/>
              <a:t>total residual Helmholtz energy </a:t>
            </a:r>
            <a:r>
              <a:rPr lang="en-US" sz="1800" b="0" dirty="0"/>
              <a:t>which is the sum of the individual contributions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5DDED-8A3A-1BC4-4D59-032D7FFE657D}"/>
              </a:ext>
            </a:extLst>
          </p:cNvPr>
          <p:cNvSpPr txBox="1"/>
          <p:nvPr/>
        </p:nvSpPr>
        <p:spPr>
          <a:xfrm>
            <a:off x="7195930" y="129606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78E583-F43B-27A4-7702-29C2C6EC1AD8}"/>
                  </a:ext>
                </a:extLst>
              </p14:cNvPr>
              <p14:cNvContentPartPr/>
              <p14:nvPr/>
            </p14:nvContentPartPr>
            <p14:xfrm>
              <a:off x="5462108" y="763419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78E583-F43B-27A4-7702-29C2C6EC1AD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5988" y="75729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2083CA7-3511-1106-5C90-516017EA451F}"/>
                  </a:ext>
                </a:extLst>
              </p14:cNvPr>
              <p14:cNvContentPartPr/>
              <p14:nvPr/>
            </p14:nvContentPartPr>
            <p14:xfrm>
              <a:off x="8364428" y="1844499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2083CA7-3511-1106-5C90-516017EA45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58308" y="183837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A2CE5168-6D7B-03A9-B024-54C0CB7E27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6" y="5638123"/>
            <a:ext cx="4410378" cy="54384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3C55CDE-D32E-A0E8-02EC-6701C005323E}"/>
              </a:ext>
            </a:extLst>
          </p:cNvPr>
          <p:cNvSpPr txBox="1"/>
          <p:nvPr/>
        </p:nvSpPr>
        <p:spPr>
          <a:xfrm>
            <a:off x="4585201" y="763419"/>
            <a:ext cx="819979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Total Residual Helmholtz Energy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Hard-chain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Represents </a:t>
            </a:r>
            <a:r>
              <a:rPr lang="en-US" sz="1600" b="1" dirty="0"/>
              <a:t>excluded volume</a:t>
            </a:r>
            <a:r>
              <a:rPr lang="en-US" sz="1600" dirty="0"/>
              <a:t> plus chain connectivity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Dispersion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Represents non-specific attractive </a:t>
            </a:r>
            <a:r>
              <a:rPr lang="en-US" sz="1600" b="1" dirty="0"/>
              <a:t>van der Waals interactions </a:t>
            </a:r>
            <a:r>
              <a:rPr lang="en-US" sz="1600" dirty="0"/>
              <a:t>between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Association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Represents </a:t>
            </a:r>
            <a:r>
              <a:rPr lang="en-US" sz="1600" b="1" dirty="0"/>
              <a:t>short-range, site-specific interactions </a:t>
            </a:r>
            <a:r>
              <a:rPr lang="en-US" sz="1600" dirty="0"/>
              <a:t>such as hydrogen bonding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Debye–Hückel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Represents </a:t>
            </a:r>
            <a:r>
              <a:rPr lang="en-US" sz="1600" b="1" dirty="0"/>
              <a:t>long-range ion-ion </a:t>
            </a:r>
            <a:r>
              <a:rPr lang="en-US" sz="1600" dirty="0"/>
              <a:t>electrostatic screening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Born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Represents </a:t>
            </a:r>
            <a:r>
              <a:rPr lang="en-US" sz="1600" b="1" dirty="0"/>
              <a:t>ion solvation </a:t>
            </a:r>
            <a:r>
              <a:rPr lang="en-US" sz="1600" dirty="0"/>
              <a:t>in a dielectric medium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EAE765F-EA57-2F57-8F50-7BE533F51A6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6" y="1150363"/>
            <a:ext cx="3704718" cy="1995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3E61EE-718E-C5F8-ADEA-D5CF90F0E17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6" y="1966331"/>
            <a:ext cx="3438271" cy="4319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EFA6D25-82DD-FA31-F8B8-B722EC0FB8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6" y="2951631"/>
            <a:ext cx="4678042" cy="2335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11F8D3D-F7CC-1C75-257E-DDEA50E2FB2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6" y="3805947"/>
            <a:ext cx="3512486" cy="5730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B8FB5EC-5906-C837-979D-65D093782AA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6" y="4786965"/>
            <a:ext cx="2857925" cy="54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5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7169-D291-26A4-35A3-6787C56F1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44" y="85294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ePC-SAFT Parameters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4BC23D-CF8F-A3E4-FB57-1497A58CF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002226"/>
              </p:ext>
            </p:extLst>
          </p:nvPr>
        </p:nvGraphicFramePr>
        <p:xfrm>
          <a:off x="162844" y="883785"/>
          <a:ext cx="9745550" cy="5090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199">
                  <a:extLst>
                    <a:ext uri="{9D8B030D-6E8A-4147-A177-3AD203B41FA5}">
                      <a16:colId xmlns:a16="http://schemas.microsoft.com/office/drawing/2014/main" val="4245628055"/>
                    </a:ext>
                  </a:extLst>
                </a:gridCol>
                <a:gridCol w="2111002">
                  <a:extLst>
                    <a:ext uri="{9D8B030D-6E8A-4147-A177-3AD203B41FA5}">
                      <a16:colId xmlns:a16="http://schemas.microsoft.com/office/drawing/2014/main" val="1957675664"/>
                    </a:ext>
                  </a:extLst>
                </a:gridCol>
                <a:gridCol w="728910">
                  <a:extLst>
                    <a:ext uri="{9D8B030D-6E8A-4147-A177-3AD203B41FA5}">
                      <a16:colId xmlns:a16="http://schemas.microsoft.com/office/drawing/2014/main" val="4098551224"/>
                    </a:ext>
                  </a:extLst>
                </a:gridCol>
                <a:gridCol w="3576724">
                  <a:extLst>
                    <a:ext uri="{9D8B030D-6E8A-4147-A177-3AD203B41FA5}">
                      <a16:colId xmlns:a16="http://schemas.microsoft.com/office/drawing/2014/main" val="3072634716"/>
                    </a:ext>
                  </a:extLst>
                </a:gridCol>
                <a:gridCol w="1648715">
                  <a:extLst>
                    <a:ext uri="{9D8B030D-6E8A-4147-A177-3AD203B41FA5}">
                      <a16:colId xmlns:a16="http://schemas.microsoft.com/office/drawing/2014/main" val="661667327"/>
                    </a:ext>
                  </a:extLst>
                </a:gridCol>
              </a:tblGrid>
              <a:tr h="35580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Units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5558219"/>
                  </a:ext>
                </a:extLst>
              </a:tr>
              <a:tr h="6347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Segment number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PC-SAFT segments used to represent component i.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chain length and coarse-grained molecular size.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5137263"/>
                  </a:ext>
                </a:extLst>
              </a:tr>
              <a:tr h="6347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Segment diameter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Temperature-independent segment diameter of component i.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the molecular size and packing length scale.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34723835"/>
                  </a:ext>
                </a:extLst>
              </a:tr>
              <a:tr h="6597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Dispersion energy parameter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Segment energy parameter for non-specific attractive interactions.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the strength of van der Waals-type attraction between segments.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05747784"/>
                  </a:ext>
                </a:extLst>
              </a:tr>
              <a:tr h="3898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Association energy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Site-specific association energy between sites on component i.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the strength of hydrogen-bonding or other specific association interactions.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0133256"/>
                  </a:ext>
                </a:extLst>
              </a:tr>
              <a:tr h="6597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Association volume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Effective association volume for the bonding sites on component i.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the geometric probability or bonding volume for association.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69410642"/>
                  </a:ext>
                </a:extLst>
              </a:tr>
              <a:tr h="6347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Relative Permittivity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Pure-component relative permittivity used to represent the dielectric response of the component</a:t>
                      </a:r>
                    </a:p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Debye-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Huckel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; Born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40412925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Binary interaction parameter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Unlike-pair binary interaction parameter used in the dispersion combining rule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Tunes unlike-species energetic interactions when the default mixing rule is not sufficient.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531818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64519CD-6A1F-4DA3-BD39-D256ED83E01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10" y="1560311"/>
            <a:ext cx="250971" cy="135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2A04B-BC5A-3D16-56FA-77B3871AE7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06" y="2153963"/>
            <a:ext cx="193777" cy="1460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53A9D5-3B2C-D623-4AAF-5FA6145CDE4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94" y="2757922"/>
            <a:ext cx="566400" cy="2290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1B0E67-C535-A57B-992F-876CCC4CD95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5" y="3413101"/>
            <a:ext cx="879086" cy="253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839A97-791F-5428-5857-CFEC62815DA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94" y="4082645"/>
            <a:ext cx="572952" cy="2209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8E08FD-7E69-B0E9-21AC-CD26EC634FF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03" y="4736171"/>
            <a:ext cx="290743" cy="1686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14E0AF-5936-2EE1-65B1-106A11EDEC0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9" y="5403788"/>
            <a:ext cx="266667" cy="2499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C04DC7E-C407-E01B-B0B4-27D0850D4F8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513" y="2779115"/>
            <a:ext cx="118333" cy="1133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F9F659-EC8B-9345-C3AF-CBF5A258655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513" y="2077177"/>
            <a:ext cx="118333" cy="15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79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E3E5-16FE-EA47-F898-A144CB00B2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C++ to Python based ePC-SAFT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3C86-D42D-32EF-8902-BC5E6869C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ePC-SAFT Package was originally inherited from an existing repo</a:t>
            </a:r>
          </a:p>
          <a:p>
            <a:pPr lvl="1"/>
            <a:r>
              <a:rPr lang="en-US" dirty="0"/>
              <a:t>It is built has a Python package, but the internals are built in C++ and the two are connected through </a:t>
            </a:r>
            <a:r>
              <a:rPr lang="en-US" b="1" dirty="0" err="1"/>
              <a:t>Cython</a:t>
            </a:r>
            <a:endParaRPr lang="en-US" b="1" dirty="0"/>
          </a:p>
          <a:p>
            <a:pPr lvl="1"/>
            <a:r>
              <a:rPr lang="en-US" b="0" dirty="0"/>
              <a:t>This </a:t>
            </a:r>
            <a:r>
              <a:rPr lang="en-US" b="1" dirty="0"/>
              <a:t>minimizes calculation time </a:t>
            </a:r>
            <a:r>
              <a:rPr lang="en-US" dirty="0"/>
              <a:t>which is necessary since there can be many internal solves</a:t>
            </a:r>
          </a:p>
          <a:p>
            <a:r>
              <a:rPr lang="en-US" b="0" dirty="0"/>
              <a:t>Major improvements have been made from this base package</a:t>
            </a:r>
          </a:p>
          <a:p>
            <a:pPr lvl="1"/>
            <a:r>
              <a:rPr lang="en-US" b="0" dirty="0"/>
              <a:t>Added </a:t>
            </a:r>
            <a:r>
              <a:rPr lang="en-US" b="1" dirty="0"/>
              <a:t>concentration dependent dielectric constant </a:t>
            </a:r>
            <a:r>
              <a:rPr lang="en-US" b="0" dirty="0"/>
              <a:t>capabilities</a:t>
            </a:r>
          </a:p>
          <a:p>
            <a:pPr lvl="1"/>
            <a:r>
              <a:rPr lang="en-US" b="1" dirty="0"/>
              <a:t>Robust</a:t>
            </a:r>
            <a:r>
              <a:rPr lang="en-US" dirty="0"/>
              <a:t> dielectric constant models can be used</a:t>
            </a:r>
          </a:p>
          <a:p>
            <a:pPr lvl="1"/>
            <a:r>
              <a:rPr lang="en-US" b="0" dirty="0"/>
              <a:t>Added the most up to date </a:t>
            </a:r>
            <a:r>
              <a:rPr lang="en-US" b="1" dirty="0"/>
              <a:t>2025 ePC-SAFT version </a:t>
            </a:r>
            <a:r>
              <a:rPr lang="en-US" b="0" dirty="0"/>
              <a:t>which is </a:t>
            </a:r>
            <a:r>
              <a:rPr lang="en-US" dirty="0"/>
              <a:t>not present in any PC-SAFT package distribution</a:t>
            </a:r>
          </a:p>
          <a:p>
            <a:pPr lvl="1"/>
            <a:r>
              <a:rPr lang="en-US" b="0" dirty="0"/>
              <a:t>Vastly improved the workflow to include </a:t>
            </a:r>
            <a:r>
              <a:rPr lang="en-US" b="1" dirty="0"/>
              <a:t>custom parameters </a:t>
            </a:r>
            <a:r>
              <a:rPr lang="en-US" b="0" dirty="0"/>
              <a:t>for complex mixtures</a:t>
            </a:r>
          </a:p>
          <a:p>
            <a:pPr lvl="1"/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8E68-DE24-84D8-7DF5-A14E755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5714-B295-DF02-3AC7-1995392CA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7868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ePC-SAFT Model Validation – Energy of Solvation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4F401-8817-9C1B-20F6-49011BE16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057" y="1361836"/>
            <a:ext cx="8458202" cy="4134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FC6CF-09A8-6BCD-1E8C-66D8B80BE926}"/>
              </a:ext>
            </a:extLst>
          </p:cNvPr>
          <p:cNvSpPr txBox="1"/>
          <p:nvPr/>
        </p:nvSpPr>
        <p:spPr>
          <a:xfrm>
            <a:off x="163286" y="1361836"/>
            <a:ext cx="30697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2025 ePC-SAFT model improves ionic solvation by extending the Born term with a </a:t>
            </a:r>
            <a:r>
              <a:rPr lang="en-US" b="1" dirty="0"/>
              <a:t>solvation-shell model </a:t>
            </a:r>
            <a:r>
              <a:rPr lang="en-US" dirty="0"/>
              <a:t>and </a:t>
            </a:r>
            <a:r>
              <a:rPr lang="en-US" b="1" dirty="0"/>
              <a:t>dielectric saturation</a:t>
            </a:r>
            <a:r>
              <a:rPr lang="en-US" dirty="0"/>
              <a:t>, so the local solvent environment around an ion is no longer treated as a uniform bulk dielectric.</a:t>
            </a:r>
            <a:br>
              <a:rPr lang="en-US" dirty="0"/>
            </a:br>
            <a:r>
              <a:rPr lang="en-US" dirty="0"/>
              <a:t>This gives a more physical description of strong ion solvation, especially for small and highly charged ions, and </a:t>
            </a:r>
            <a:r>
              <a:rPr lang="en-US" b="1" dirty="0"/>
              <a:t>improves agreement with hydration and transfer free energies.</a:t>
            </a:r>
          </a:p>
        </p:txBody>
      </p:sp>
    </p:spTree>
    <p:extLst>
      <p:ext uri="{BB962C8B-B14F-4D97-AF65-F5344CB8AC3E}">
        <p14:creationId xmlns:p14="http://schemas.microsoft.com/office/powerpoint/2010/main" val="3338694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6A55-5464-9FCF-74B1-5E8583A4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AFED-5471-1A06-BA17-E57080137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8059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ePC-SAFT Model Validation – Salt activity in water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E85794-AF3C-C3FB-32F0-244F4AE1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5" y="1067389"/>
            <a:ext cx="10646228" cy="504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04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76CB-21ED-C378-1ADB-4250CDF6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D82F-9A23-AF1B-2F99-A7AE8735B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7868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ePC-SAFT Model Validation – Energy of Transfer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59055E-9BB0-3990-8F25-D5C11BBB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" y="1053513"/>
            <a:ext cx="9644743" cy="494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9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A20B3-5656-9DDA-0D00-6E94FEAA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375D-8C63-9658-BCE1-39EA5E8EB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11" y="87085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ePC-SAFT Model Validation – Energy of Transfer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28926-58CE-5A39-DDD4-276BA666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16" y="1077686"/>
            <a:ext cx="9508313" cy="487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50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DA2A-F878-A8F2-4C6D-8C305C8E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1572-44A3-C4E8-EEC5-F51E319A9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096"/>
            <a:ext cx="11344428" cy="600980"/>
          </a:xfrm>
        </p:spPr>
        <p:txBody>
          <a:bodyPr>
            <a:normAutofit/>
          </a:bodyPr>
          <a:lstStyle/>
          <a:p>
            <a:r>
              <a:rPr lang="en-US" sz="3600" dirty="0"/>
              <a:t>ePC-SAFT Model Validation – Activity in organics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D5E221-75F4-A994-EFEC-533ADD6B2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3045"/>
            <a:ext cx="12192000" cy="409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14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9B02-CBDD-4233-0EE7-F3850E48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4862-3080-AAFC-CE0E-2BA0AEA3E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7868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ePC-SAFT Model Validation – Mixed solvents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FAC4E6-8383-3E0E-8125-4C307C6D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4" y="1234736"/>
            <a:ext cx="11310257" cy="46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0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DC96-A808-9DDB-2C3E-3725BAC5C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7645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Included Multi-phase Equilibrium 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EFB80-80CB-FDAB-2B18-B3EF80CC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641" y="1143194"/>
            <a:ext cx="3528462" cy="47319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58A9FB-E2A4-578F-BE8D-939943634E90}"/>
              </a:ext>
            </a:extLst>
          </p:cNvPr>
          <p:cNvSpPr txBox="1"/>
          <p:nvPr/>
        </p:nvSpPr>
        <p:spPr>
          <a:xfrm>
            <a:off x="647979" y="1143194"/>
            <a:ext cx="61885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Starts from a specified T, P, and overall feed composition, then checks whether </a:t>
            </a:r>
            <a:r>
              <a:rPr lang="en-US" b="1" dirty="0"/>
              <a:t>one liquid phase is thermodynamically stable </a:t>
            </a:r>
            <a:r>
              <a:rPr lang="en-US" dirty="0"/>
              <a:t>by using the TPDF function, which measures whether a trial phase would </a:t>
            </a:r>
            <a:r>
              <a:rPr lang="en-US" b="1" dirty="0"/>
              <a:t>lower the system Gibbs free energy </a:t>
            </a:r>
            <a:r>
              <a:rPr lang="en-US" dirty="0"/>
              <a:t>relative to the current phase: a negative minimum TPDF means the current phase is unstable and phase splitting is favorable.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instability is detected, solves for the </a:t>
            </a:r>
            <a:r>
              <a:rPr lang="en-US" b="1" dirty="0"/>
              <a:t>phase compositions </a:t>
            </a:r>
            <a:r>
              <a:rPr lang="en-US" dirty="0"/>
              <a:t>and </a:t>
            </a:r>
            <a:r>
              <a:rPr lang="en-US" b="1" dirty="0"/>
              <a:t>phase fractions </a:t>
            </a:r>
            <a:r>
              <a:rPr lang="en-US" dirty="0"/>
              <a:t>that </a:t>
            </a:r>
            <a:r>
              <a:rPr lang="en-US" b="1" dirty="0"/>
              <a:t>satisfy equilibrium constraints </a:t>
            </a:r>
            <a:r>
              <a:rPr lang="en-US" dirty="0"/>
              <a:t>simultaneously: equal fugacity for neutral species, equal mean-ionic fugacity for salts/ions, overall mass balance, and phase electroneutrality.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Repeats stability testing and equilibrium solving </a:t>
            </a:r>
            <a:r>
              <a:rPr lang="en-US" b="1" dirty="0"/>
              <a:t>until all phases are stable</a:t>
            </a:r>
            <a:r>
              <a:rPr lang="en-US" dirty="0"/>
              <a:t> and the residuals are small, giving a self-consistent multiphase solution with physically meaningful phase compositions and splits.</a:t>
            </a:r>
          </a:p>
        </p:txBody>
      </p:sp>
    </p:spTree>
    <p:extLst>
      <p:ext uri="{BB962C8B-B14F-4D97-AF65-F5344CB8AC3E}">
        <p14:creationId xmlns:p14="http://schemas.microsoft.com/office/powerpoint/2010/main" val="3437822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9955-64B4-5469-0490-982CEE3BC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525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Study: LLE of Water + 1-Butanol with NaCl/KCl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C39C7-3FCF-430E-D66C-5FAEB95BD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39" y="3719760"/>
            <a:ext cx="5165661" cy="2205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B44255-805E-5F74-B56D-C89FFB197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37" y="1195824"/>
            <a:ext cx="4383064" cy="25239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2A7ED5-8AA4-4702-7AE2-371AA9CCE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2491"/>
            <a:ext cx="6923314" cy="348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3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D2CA-1564-F7C8-9F31-A64097569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096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Study: 2</a:t>
            </a:r>
            <a:r>
              <a:rPr lang="en-US" baseline="30000" dirty="0"/>
              <a:t>nd</a:t>
            </a:r>
            <a:r>
              <a:rPr lang="en-US" dirty="0"/>
              <a:t> stage extraction of Li+ from Na+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642EC-A400-D603-7FC5-217078D2E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1232" y="1606265"/>
            <a:ext cx="5362967" cy="3645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1EEB41-D902-D750-4A24-1C227C526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73" y="1606265"/>
            <a:ext cx="6272257" cy="348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62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B0F9-0953-3CAD-74BD-A5B52BD6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A80B-AD09-389E-0B30-F53964DB9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096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Study: 2</a:t>
            </a:r>
            <a:r>
              <a:rPr lang="en-US" baseline="30000" dirty="0"/>
              <a:t>nd</a:t>
            </a:r>
            <a:r>
              <a:rPr lang="en-US" dirty="0"/>
              <a:t> stage extraction of Li+ from Na+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B88F24-B5E4-9C16-699A-6EC1DE475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1845656"/>
            <a:ext cx="5660571" cy="3166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919BF6-C3D0-1833-8384-DD86B1727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45656"/>
            <a:ext cx="5660572" cy="316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7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3FBD-8B94-F615-F4CB-7B0687A4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72A3-5422-D121-7937-65A0EBE45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096"/>
            <a:ext cx="11580921" cy="600980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Study: 2</a:t>
            </a:r>
            <a:r>
              <a:rPr lang="en-US" baseline="30000" dirty="0"/>
              <a:t>nd</a:t>
            </a:r>
            <a:r>
              <a:rPr lang="en-US" dirty="0"/>
              <a:t> stage extraction of Li+ from Na+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7D19E-E087-32A1-C479-431BBAF04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" y="1992086"/>
            <a:ext cx="5661481" cy="316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72A8C7-1A91-0305-2972-D02B4FFB3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92085"/>
            <a:ext cx="5661480" cy="316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79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E3E5-16FE-EA47-F898-A144CB00B2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ePC-SAFT Integration into PrOMMiS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3C86-D42D-32EF-8902-BC5E6869C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7" y="1082842"/>
            <a:ext cx="11580921" cy="493839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pcsaft-pse</a:t>
            </a:r>
            <a:r>
              <a:rPr lang="en-US" b="0" dirty="0"/>
              <a:t> provides the interface layer between ePC-SAFT and the IDAES/PrOMMiS modeling stack, translating process inputs such as lithium concentration, sodium concentration, extractant concentration, and O/A ratio into stage-level chemistry outputs.</a:t>
            </a:r>
          </a:p>
          <a:p>
            <a:endParaRPr lang="en-US" b="0" dirty="0"/>
          </a:p>
          <a:p>
            <a:r>
              <a:rPr lang="en-US" b="0" dirty="0"/>
              <a:t>A representative operating window is sampled with the detailed chemistry model to generate stage data, and those results are used to train an algebraic surrogate for key solvent-extraction quantities such as lithium, sodium, and chloride distribution coefficients.</a:t>
            </a:r>
          </a:p>
          <a:p>
            <a:endParaRPr lang="en-US" b="0" dirty="0"/>
          </a:p>
          <a:p>
            <a:r>
              <a:rPr lang="en-US" b="0" dirty="0"/>
              <a:t>The surrogate is embedded directly into a PrOMMiS solvent extraction stage, where the model uses the predicted distribution coefficients to calculate phase transfer and outlet compositions through the process mass-balance equations.</a:t>
            </a:r>
          </a:p>
          <a:p>
            <a:endParaRPr lang="en-US" b="0" dirty="0"/>
          </a:p>
          <a:p>
            <a:r>
              <a:rPr lang="en-US" b="0" dirty="0"/>
              <a:t>This workflow makes the detailed chemistry usable in larger process studies and optimization routines, because `PrOMMiS` can vary feed conditions and operating variables while evaluating a fast surrogate instead of repeatedly solving the full chemistry model.</a:t>
            </a:r>
          </a:p>
        </p:txBody>
      </p:sp>
    </p:spTree>
    <p:extLst>
      <p:ext uri="{BB962C8B-B14F-4D97-AF65-F5344CB8AC3E}">
        <p14:creationId xmlns:p14="http://schemas.microsoft.com/office/powerpoint/2010/main" val="59053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ADBC-9EF0-7760-B5D6-6F01B7E6E6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Tasks to Complete / Currently in Progress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484DA-B85B-D1B0-0A42-21FF51E5D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/>
              <a:t>Continue to work on validating current working example</a:t>
            </a:r>
          </a:p>
          <a:p>
            <a:r>
              <a:rPr lang="en-US" b="0" dirty="0"/>
              <a:t>Showcase full optimization capabilities while using integration tool</a:t>
            </a:r>
          </a:p>
          <a:p>
            <a:r>
              <a:rPr lang="en-US" b="0" dirty="0"/>
              <a:t>Move from partition coefficient to distribution coefficient </a:t>
            </a:r>
          </a:p>
          <a:p>
            <a:r>
              <a:rPr lang="en-US" b="0" dirty="0"/>
              <a:t>Move pcsaft-pse into the PrOMMiS Project as a repository for easy install and access</a:t>
            </a:r>
          </a:p>
          <a:p>
            <a:r>
              <a:rPr lang="en-US" b="0" dirty="0"/>
              <a:t>Standardize the current API to better match IDEAS/PrOMMiS coding standards</a:t>
            </a:r>
          </a:p>
          <a:p>
            <a:r>
              <a:rPr lang="en-US" b="0" dirty="0"/>
              <a:t>Generalize notebook tutorial to showcase any given composition and varying concentrations can be used</a:t>
            </a:r>
          </a:p>
          <a:p>
            <a:r>
              <a:rPr lang="en-US" b="0" dirty="0"/>
              <a:t>Solidify the surrogate model methodology and best practices</a:t>
            </a:r>
          </a:p>
          <a:p>
            <a:r>
              <a:rPr lang="en-US" b="0" dirty="0"/>
              <a:t>Showcase new and improved tutorial with the given revisions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970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E4FA-7E93-1D1A-5991-CF0AAE311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E7B7B-F23D-A530-96FF-FAB64AE15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7" y="1087763"/>
            <a:ext cx="11580921" cy="5117094"/>
          </a:xfrm>
        </p:spPr>
        <p:txBody>
          <a:bodyPr/>
          <a:lstStyle/>
          <a:p>
            <a:r>
              <a:rPr lang="en-US" sz="2000" dirty="0"/>
              <a:t>04/26 </a:t>
            </a:r>
          </a:p>
          <a:p>
            <a:pPr lvl="1"/>
            <a:r>
              <a:rPr lang="en-US" sz="2000" dirty="0"/>
              <a:t>Finish Jupyter notebook tutorial showcasing PC-SAFT – PrOMMiS integration</a:t>
            </a:r>
          </a:p>
          <a:p>
            <a:pPr lvl="2"/>
            <a:r>
              <a:rPr lang="en-US" dirty="0"/>
              <a:t>Ensure its usable for a generalized use case, be it Lithium Extraction, other critical minerals, various salt mixture compositions and solvent mixtures</a:t>
            </a:r>
          </a:p>
          <a:p>
            <a:r>
              <a:rPr lang="en-US" sz="2000" dirty="0"/>
              <a:t>06/26</a:t>
            </a:r>
          </a:p>
          <a:p>
            <a:pPr lvl="1"/>
            <a:r>
              <a:rPr lang="en-US" sz="2000" dirty="0"/>
              <a:t>Develop a working flowsheet in PrOMMiS utilizing the PC-SAFT integration tool that showcases a novel improvement and understanding of Lithium Extraction from Produced Water that increases confidence in a future adoption of DLE technologies at relevant produced water sites</a:t>
            </a:r>
          </a:p>
          <a:p>
            <a:pPr lvl="1"/>
            <a:r>
              <a:rPr lang="en-US" sz="2000" dirty="0"/>
              <a:t>Finish the first draft of the manuscript from this research and novel contribution </a:t>
            </a:r>
          </a:p>
          <a:p>
            <a:r>
              <a:rPr lang="en-US" sz="2000" dirty="0"/>
              <a:t>08/26 </a:t>
            </a:r>
          </a:p>
          <a:p>
            <a:pPr lvl="1"/>
            <a:r>
              <a:rPr lang="en-US" sz="2000" dirty="0"/>
              <a:t>Begin to build a potential full PC-SAFT model capabilities directly within the IDAES ecosystem both for critical mineral research as well as other various thermodynamic modeling needs</a:t>
            </a:r>
          </a:p>
          <a:p>
            <a:r>
              <a:rPr lang="en-US" sz="2000" dirty="0"/>
              <a:t>09/26</a:t>
            </a:r>
          </a:p>
          <a:p>
            <a:pPr lvl="1"/>
            <a:r>
              <a:rPr lang="en-US" sz="2000" b="0" dirty="0"/>
              <a:t>Submit manuscript for ePC-SAFT aided Lithium Extraction from Produced Water manuscript</a:t>
            </a:r>
          </a:p>
          <a:p>
            <a:pPr lvl="1"/>
            <a:r>
              <a:rPr lang="en-US" sz="2000" dirty="0"/>
              <a:t>Work on Dissertation document in preparation for graduation in 12/26</a:t>
            </a:r>
            <a:endParaRPr lang="en-US" sz="2000" b="0" dirty="0"/>
          </a:p>
          <a:p>
            <a:pPr lvl="1"/>
            <a:endParaRPr lang="en-US" sz="2000" b="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8728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5.2081"/>
  <p:tag name="ORIGINALWIDTH" val=" 2718.41"/>
  <p:tag name="OUTPUTTYPE" val="PNG"/>
  <p:tag name="IGUANATEXVERSION" val="162"/>
  <p:tag name="LATEXADDIN" val="\documentclass{article}&#10;\usepackage{amsmath}&#10;\pagestyle{empty}&#10;\begin{document}&#10;$$&#10;    \tilde{a}^{\text {Born }}(\varepsilon(x))=-\frac{e^2}{4 \pi \varepsilon_{0} k_{B} T}\left(1-\frac{1}{\varepsilon_{r,\mathrm{bulk}}}\right) \sum_{i} \frac{x_{i} z_{i}^2}{d^{\text{Born}}_{i}}&#10;$$&#10;&#10;&#10;&#10;\end{document}"/>
  <p:tag name="IGUANATEXSIZE" val="20"/>
  <p:tag name="IGUANATEXCURSOR" val="27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2.9846"/>
  <p:tag name="ORIGINALWIDTH" val=" 2283.465"/>
  <p:tag name="OUTPUTTYPE" val="PNG"/>
  <p:tag name="IGUANATEXVERSION" val="162"/>
  <p:tag name="LATEXADDIN" val="\documentclass{article}&#10;\usepackage{amsmath}&#10;\pagestyle{empty}&#10;\begin{document}&#10;$$&#10;    \tilde{a}^{\mathrm{res}}=\tilde{a}^{h c}+\tilde{a}^{\text {disp }}+\tilde{a}^{\text {assoc }}+\tilde{a}^{\text {DH }}+\tilde{a}^{\text {Born }}&#10;$$&#10;&#10;&#10;&#10;\end{document}"/>
  <p:tag name="IGUANATEXSIZE" val="20"/>
  <p:tag name="IGUANATEXCURSOR" val="23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6.2167"/>
  <p:tag name="ORIGINALWIDTH" val=" 2119.235"/>
  <p:tag name="OUTPUTTYPE" val="PNG"/>
  <p:tag name="IGUANATEXVERSION" val="162"/>
  <p:tag name="LATEXADDIN" val="\documentclass{article}&#10;\usepackage{amsmath}&#10;\pagestyle{empty}&#10;\begin{document}&#10;$$&#10;\tilde{a}^{\mathrm{hc}}=\bar{m} \tilde{a}^{\mathrm{hs}}-\sum_{i} x_{i}\left(m_{i}-1\right) \ln \mathrm{g}_{i i}^{\mathrm{hs}}\left(\sigma_{i i}\right)&#10;$$&#10;&#10;&#10;&#10;\end{document}"/>
  <p:tag name="IGUANATEXSIZE" val="20"/>
  <p:tag name="IGUANATEXCURSOR" val="23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3.982"/>
  <p:tag name="ORIGINALWIDTH" val=" 2883.39"/>
  <p:tag name="OUTPUTTYPE" val="PNG"/>
  <p:tag name="IGUANATEXVERSION" val="162"/>
  <p:tag name="LATEXADDIN" val="\documentclass{article}&#10;\usepackage{amsmath}&#10;\pagestyle{empty}&#10;\begin{document}&#10;$$&#10;\tilde{a}^{\mathrm{disp}}=-2 \pi \rho I_{1}(\eta, \bar{m}) \overline{m^2 \epsilon \sigma^3}-\pi \rho \bar{m} C_{1} I_{2}(\eta, \bar{m}) \overline{m^2 \epsilon^2 \sigma^3}&#10;$$&#10;&#10;&#10;&#10;&#10;\end{document}"/>
  <p:tag name="IGUANATEXSIZE" val="20"/>
  <p:tag name="IGUANATEXCURSOR" val="25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53.2058"/>
  <p:tag name="ORIGINALWIDTH" val=" 2164.979"/>
  <p:tag name="OUTPUTTYPE" val="PNG"/>
  <p:tag name="IGUANATEXVERSION" val="162"/>
  <p:tag name="LATEXADDIN" val="\documentclass{article}&#10;\usepackage{amsmath}&#10;\pagestyle{empty}&#10;\begin{document}&#10;$$&#10;    \tilde{a}^{\mathrm{assoc}}= \sum_{i} x_{i}\sum_{\mathrm{A}_{i}}\left(\ln X^{\mathrm{A}_{i}}-\frac{X^{\mathrm{A}_{i}}}{2}+\frac{1}{2}\right)&#10;$$&#10;&#10;&#10;&#10;\end{document}"/>
  <p:tag name="IGUANATEXSIZE" val="20"/>
  <p:tag name="IGUANATEXCURSOR" val="22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5.2081"/>
  <p:tag name="ORIGINALWIDTH" val=" 1761.53"/>
  <p:tag name="OUTPUTTYPE" val="PNG"/>
  <p:tag name="IGUANATEXVERSION" val="162"/>
  <p:tag name="LATEXADDIN" val="\documentclass{article}&#10;\usepackage{amsmath}&#10;\pagestyle{empty}&#10;\begin{document}&#10;$$&#10;    \tilde{a}^{DH}=-\frac{\kappa e^{2}}{12\pi\varepsilon_{0}\varepsilon_{r}k_{B}T}\sum_{i}x_{i}z_{i}^{2}\chi_{i}&#10;    \label{eq:ares_dh}&#10;$$&#10;&#10;&#10;&#10;\end{document}"/>
  <p:tag name="IGUANATEXSIZE" val="20"/>
  <p:tag name="IGUANATEXCURSOR" val="22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4.24071"/>
  <p:tag name="ORIGINALWIDTH" val=" 137.2328"/>
  <p:tag name="OUTPUTTYPE" val="PNG"/>
  <p:tag name="IGUANATEXVERSION" val="162"/>
  <p:tag name="LATEXADDIN" val="\documentclass{article}&#10;\usepackage{amsmath}&#10;\pagestyle{empty}&#10;\begin{document}&#10;$m_i$&#10;&#10;&#10;&#10;&#10;\end{document}"/>
  <p:tag name="IGUANATEXSIZE" val="18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3.49078"/>
  <p:tag name="ORIGINALWIDTH" val=" 97.48779"/>
  <p:tag name="OUTPUTTYPE" val="PNG"/>
  <p:tag name="IGUANATEXVERSION" val="162"/>
  <p:tag name="LATEXADDIN" val="\documentclass{article}&#10;\usepackage{amsmath}&#10;\pagestyle{empty}&#10;\begin{document}&#10;$\sigma_i$&#10;&#10;&#10;&#10;&#10;\end{document}"/>
  <p:tag name="IGUANATEXSIZE" val="18"/>
  <p:tag name="IGUANATEXCURSOR" val="9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309.7113"/>
  <p:tag name="OUTPUTTYPE" val="PNG"/>
  <p:tag name="IGUANATEXVERSION" val="162"/>
  <p:tag name="LATEXADDIN" val="\documentclass{article}&#10;\usepackage{amsmath}&#10;\pagestyle{empty}&#10;\begin{document}&#10;$u_i/k_B$&#10;&#10;&#10;&#10;&#10;&#10;\end{document}"/>
  <p:tag name="IGUANATEXSIZE" val="18"/>
  <p:tag name="IGUANATEXCURSOR" val="9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.7327"/>
  <p:tag name="ORIGINALWIDTH" val=" 480.6899"/>
  <p:tag name="OUTPUTTYPE" val="PNG"/>
  <p:tag name="IGUANATEXVERSION" val="162"/>
  <p:tag name="LATEXADDIN" val="\documentclass{article}&#10;\usepackage{amsmath}&#10;\pagestyle{empty}&#10;\begin{document}&#10;$\epsilon^{A_iB_i}/k_B$&#10;&#10;&#10;&#10;&#10;\end{document}"/>
  <p:tag name="IGUANATEXSIZE" val="18"/>
  <p:tag name="IGUANATEXCURSOR" val="10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8.7364"/>
  <p:tag name="ORIGINALWIDTH" val=" 281.9647"/>
  <p:tag name="OUTPUTTYPE" val="PNG"/>
  <p:tag name="IGUANATEXVERSION" val="162"/>
  <p:tag name="LATEXADDIN" val="\documentclass{article}&#10;\usepackage{amsmath}&#10;\pagestyle{empty}&#10;\begin{document}&#10;$\kappa^{A_iB_i}$&#10;&#10;&#10;&#10;&#10;\end{document}"/>
  <p:tag name="IGUANATEXSIZE" val="20"/>
  <p:tag name="IGUANATEXCURSOR" val="9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2.2385"/>
  <p:tag name="ORIGINALWIDTH" val=" 158.9802"/>
  <p:tag name="OUTPUTTYPE" val="PNG"/>
  <p:tag name="IGUANATEXVERSION" val="162"/>
  <p:tag name="LATEXADDIN" val="\documentclass{article}&#10;\usepackage{amsmath}&#10;\pagestyle{empty}&#10;\begin{document}&#10;$\varepsilon_{r,i}$&#10;&#10;&#10;&#10;&#10;\end{document}"/>
  <p:tag name="IGUANATEXSIZE" val="18"/>
  <p:tag name="IGUANATEXCURSOR" val="10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2.9846"/>
  <p:tag name="ORIGINALWIDTH" val=" 131.2336"/>
  <p:tag name="OUTPUTTYPE" val="PNG"/>
  <p:tag name="IGUANATEXVERSION" val="162"/>
  <p:tag name="LATEXADDIN" val="\documentclass{article}&#10;\usepackage{amsmath}&#10;\pagestyle{empty}&#10;\begin{document}&#10;$k_{ij}$&#10;&#10;&#10;&#10;&#10;\end{document}"/>
  <p:tag name="IGUANATEXSIZE" val="20"/>
  <p:tag name="IGUANATEXCURSOR" val="8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4.73937"/>
  <p:tag name="ORIGINALWIDTH" val=" 88.48898"/>
  <p:tag name="OUTPUTTYPE" val="PNG"/>
  <p:tag name="IGUANATEXVERSION" val="162"/>
  <p:tag name="LATEXADDIN" val="\documentclass{article}&#10;\usepackage{amsmath}&#10;\pagestyle{empty}&#10;\begin{document}&#10;$\mathrm{K}$&#10;&#10;&#10;&#10;&#10;\end{document}"/>
  <p:tag name="IGUANATEXSIZE" val="11"/>
  <p:tag name="IGUANATEXCURSOR" val="9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1.7361"/>
  <p:tag name="ORIGINALWIDTH" val=" 85.48929"/>
  <p:tag name="OUTPUTTYPE" val="PNG"/>
  <p:tag name="IGUANATEXVERSION" val="162"/>
  <p:tag name="LATEXADDIN" val="\documentclass{article}&#10;\usepackage{amsmath}&#10;\pagestyle{empty}&#10;\begin{document}&#10;$\mathrm{\AA}$&#10;&#10;&#10;&#10;&#10;\end{document}"/>
  <p:tag name="IGUANATEXSIZE" val="11"/>
  <p:tag name="IGUANATEXCURSOR" val="9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Custom 2">
      <a:dk1>
        <a:srgbClr val="373838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Cover Title.pptx" id="{EB5E8C3F-626B-4B4B-ACCF-A49F74929750}" vid="{91F68650-2EA8-49F3-A5C8-A6A4201928CA}"/>
    </a:ext>
  </a:extLst>
</a:theme>
</file>

<file path=ppt/theme/theme2.xml><?xml version="1.0" encoding="utf-8"?>
<a:theme xmlns:a="http://schemas.openxmlformats.org/drawingml/2006/main" name="1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DB6BD2039A4DA9828CDD52828D22" ma:contentTypeVersion="1" ma:contentTypeDescription="Create a new document." ma:contentTypeScope="" ma:versionID="02a2b74d7520ef9dea84c66f9fb70d3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d55f72726b9dae1b96ae9030b26e0e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5341B3-53F6-453C-9EF7-531D8A95F6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22840F2-5BB0-45AB-A8DF-9A97CD9488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0DB2A8-98EE-4CA5-9B57-4F5F6858EA16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NETL PowerPoint Presentation Template</Template>
  <TotalTime>83113</TotalTime>
  <Words>1749</Words>
  <Application>Microsoft Office PowerPoint</Application>
  <PresentationFormat>Widescreen</PresentationFormat>
  <Paragraphs>195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 Narrow</vt:lpstr>
      <vt:lpstr>Arial</vt:lpstr>
      <vt:lpstr>Calibri</vt:lpstr>
      <vt:lpstr>Century Gothic</vt:lpstr>
      <vt:lpstr>Office Theme</vt:lpstr>
      <vt:lpstr>1_IDAES</vt:lpstr>
      <vt:lpstr>2_IDAES</vt:lpstr>
      <vt:lpstr>Modeling Lithium Extraction from Produced Water with ePC-SAFT    03/18/2026   Tanner Polley</vt:lpstr>
      <vt:lpstr>Extract Lithium from Produced Water to Meet Demand</vt:lpstr>
      <vt:lpstr>Direct Lithium Extraction (DLE) Technologies</vt:lpstr>
      <vt:lpstr>Why Solvent Extraction of Lithium?</vt:lpstr>
      <vt:lpstr>What is ePC-SAFT ?</vt:lpstr>
      <vt:lpstr>ePC-SAFT Parameters </vt:lpstr>
      <vt:lpstr>C++ to Python based ePC-SAFT Package</vt:lpstr>
      <vt:lpstr>ePC-SAFT Model Validation – Energy of Solvation</vt:lpstr>
      <vt:lpstr>ePC-SAFT Model Validation – Salt activity in water</vt:lpstr>
      <vt:lpstr>ePC-SAFT Model Validation – Energy of Transfer</vt:lpstr>
      <vt:lpstr>ePC-SAFT Model Validation – Energy of Transfer</vt:lpstr>
      <vt:lpstr>ePC-SAFT Model Validation – Activity in organics</vt:lpstr>
      <vt:lpstr>ePC-SAFT Model Validation – Mixed solvents</vt:lpstr>
      <vt:lpstr>Included Multi-phase Equilibrium Algorithm</vt:lpstr>
      <vt:lpstr>Case Study: LLE of Water + 1-Butanol with NaCl/KCl </vt:lpstr>
      <vt:lpstr>Case Study: 2nd stage extraction of Li+ from Na+</vt:lpstr>
      <vt:lpstr>Case Study: 2nd stage extraction of Li+ from Na+</vt:lpstr>
      <vt:lpstr>Case Study: 2nd stage extraction of Li+ from Na+</vt:lpstr>
      <vt:lpstr>ePC-SAFT Integration into PrOMMiS</vt:lpstr>
      <vt:lpstr>Tasks to Complete / Currently in Progress</vt:lpstr>
      <vt:lpstr>Project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Cover Title</dc:title>
  <dc:creator>Gerdes, Kristin J.</dc:creator>
  <cp:lastModifiedBy>Tanner Polley</cp:lastModifiedBy>
  <cp:revision>1294</cp:revision>
  <cp:lastPrinted>2017-09-22T14:04:48Z</cp:lastPrinted>
  <dcterms:created xsi:type="dcterms:W3CDTF">2017-01-19T16:36:42Z</dcterms:created>
  <dcterms:modified xsi:type="dcterms:W3CDTF">2026-03-18T18:00:08Z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0x01010081F5DB6BD2039A4DA9828CDD52828D22</vt:lpwstr>
  </property>
  <property fmtid="{D5CDD505-2E9C-101B-9397-08002B2CF9AE}" pid="3" name="MSIP_Label_6a247341-4757-443f-8545-88b6b969d13e_Enabled">
    <vt:lpwstr>True</vt:lpwstr>
  </property>
  <property fmtid="{D5CDD505-2E9C-101B-9397-08002B2CF9AE}" pid="4" name="MSIP_Label_6a247341-4757-443f-8545-88b6b969d13e_SiteId">
    <vt:lpwstr>94e92035-30e4-4e5d-ba5b-df8b041a8555</vt:lpwstr>
  </property>
  <property fmtid="{D5CDD505-2E9C-101B-9397-08002B2CF9AE}" pid="5" name="MSIP_Label_6a247341-4757-443f-8545-88b6b969d13e_SetDate">
    <vt:lpwstr>2023-09-06T22:32:52Z</vt:lpwstr>
  </property>
  <property fmtid="{D5CDD505-2E9C-101B-9397-08002B2CF9AE}" pid="6" name="MSIP_Label_6a247341-4757-443f-8545-88b6b969d13e_Name">
    <vt:lpwstr>Restricted</vt:lpwstr>
  </property>
  <property fmtid="{D5CDD505-2E9C-101B-9397-08002B2CF9AE}" pid="7" name="MSIP_Label_6a247341-4757-443f-8545-88b6b969d13e_ActionId">
    <vt:lpwstr>299a4785-5fc8-4858-877a-8db09950ce93</vt:lpwstr>
  </property>
  <property fmtid="{D5CDD505-2E9C-101B-9397-08002B2CF9AE}" pid="8" name="MSIP_Label_6a247341-4757-443f-8545-88b6b969d13e_Removed">
    <vt:lpwstr>False</vt:lpwstr>
  </property>
  <property fmtid="{D5CDD505-2E9C-101B-9397-08002B2CF9AE}" pid="9" name="MSIP_Label_6a247341-4757-443f-8545-88b6b969d13e_Extended_MSFT_Method">
    <vt:lpwstr>Standard</vt:lpwstr>
  </property>
  <property fmtid="{D5CDD505-2E9C-101B-9397-08002B2CF9AE}" pid="10" name="Sensitivity">
    <vt:lpwstr>Restricted</vt:lpwstr>
  </property>
</Properties>
</file>