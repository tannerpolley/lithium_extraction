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4"/>
    <p:sldMasterId id="2147483763" r:id="rId5"/>
    <p:sldMasterId id="2147483775" r:id="rId6"/>
  </p:sldMasterIdLst>
  <p:notesMasterIdLst>
    <p:notesMasterId r:id="rId12"/>
  </p:notesMasterIdLst>
  <p:handoutMasterIdLst>
    <p:handoutMasterId r:id="rId13"/>
  </p:handoutMasterIdLst>
  <p:sldIdLst>
    <p:sldId id="256" r:id="rId11"/>
    <p:sldId id="257" r:id="rId10"/>
    <p:sldId id="258" r:id="rId9"/>
    <p:sldId id="259" r:id="rId8"/>
    <p:sldId id="260" r:id="rId7"/>
    <p:sldId id="261" r:id="rId19"/>
    <p:sldId id="262" r:id="rId20"/>
    <p:sldId id="263" r:id="rId21"/>
    <p:sldId id="264" r:id="rId22"/>
    <p:sldId id="265" r:id="rId23"/>
    <p:sldId id="266" r:id="rId24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ison Caballero" initials="D" lastIdx="4" clrIdx="0">
    <p:extLst>
      <p:ext uri="{19B8F6BF-5375-455C-9EA6-DF929625EA0E}">
        <p15:presenceInfo xmlns:p15="http://schemas.microsoft.com/office/powerpoint/2012/main" userId="Daison Caballer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5E5E"/>
    <a:srgbClr val="F39B9B"/>
    <a:srgbClr val="AC423A"/>
    <a:srgbClr val="D51919"/>
    <a:srgbClr val="648825"/>
    <a:srgbClr val="79A32D"/>
    <a:srgbClr val="000000"/>
    <a:srgbClr val="373838"/>
    <a:srgbClr val="98C93D"/>
    <a:srgbClr val="F3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4" autoAdjust="0"/>
    <p:restoredTop sz="79929" autoAdjust="0"/>
  </p:normalViewPr>
  <p:slideViewPr>
    <p:cSldViewPr snapToGrid="0">
      <p:cViewPr varScale="1">
        <p:scale>
          <a:sx n="63" d="100"/>
          <a:sy n="63" d="100"/>
        </p:scale>
        <p:origin x="151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7920"/>
    </p:cViewPr>
  </p:sorterViewPr>
  <p:notesViewPr>
    <p:cSldViewPr snapToGrid="0">
      <p:cViewPr varScale="1">
        <p:scale>
          <a:sx n="119" d="100"/>
          <a:sy n="119" d="100"/>
        </p:scale>
        <p:origin x="4122" y="84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154CA9B8-74BC-42CC-8AD2-E73F5E847AA6}" type="datetimeFigureOut">
              <a:rPr lang="en-US" smtClean="0"/>
              <a:pPr/>
              <a:t>05/08/26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772669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9" y="8772669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B533F5EF-7B2D-436D-B831-F48ECB832F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978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3407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3407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010CAAA1-2DC6-469D-86AF-311C333CDD14}" type="datetimeFigureOut">
              <a:rPr lang="en-US" smtClean="0"/>
              <a:pPr/>
              <a:t>05/08/26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6600" y="1154113"/>
            <a:ext cx="5538788" cy="3116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1"/>
            <a:ext cx="5608320" cy="3636705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772670"/>
            <a:ext cx="3037840" cy="463406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772670"/>
            <a:ext cx="3037840" cy="463406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73798CC5-B40D-4675-A662-FAA7C61DAE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72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jpeg"/><Relationship Id="rId6" Type="http://schemas.openxmlformats.org/officeDocument/2006/relationships/image" Target="../media/image9.emf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104" y="4964825"/>
            <a:ext cx="2307273" cy="917977"/>
          </a:xfrm>
          <a:prstGeom prst="rect">
            <a:avLst/>
          </a:prstGeom>
        </p:spPr>
      </p:pic>
      <p:sp>
        <p:nvSpPr>
          <p:cNvPr id="27" name="Rectangle 26"/>
          <p:cNvSpPr/>
          <p:nvPr userDrawn="1"/>
        </p:nvSpPr>
        <p:spPr>
          <a:xfrm flipH="1">
            <a:off x="53265" y="-9526"/>
            <a:ext cx="70560" cy="6858001"/>
          </a:xfrm>
          <a:prstGeom prst="rect">
            <a:avLst/>
          </a:prstGeom>
          <a:gradFill flip="none" rotWithShape="1">
            <a:gsLst>
              <a:gs pos="0">
                <a:srgbClr val="98C93D"/>
              </a:gs>
              <a:gs pos="100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A3F6500A-D256-4B4C-8DCE-2A96969C0C1A}"/>
              </a:ext>
            </a:extLst>
          </p:cNvPr>
          <p:cNvSpPr txBox="1">
            <a:spLocks/>
          </p:cNvSpPr>
          <p:nvPr userDrawn="1"/>
        </p:nvSpPr>
        <p:spPr>
          <a:xfrm>
            <a:off x="1551286" y="6515822"/>
            <a:ext cx="3052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+mn-lt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4200167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 userDrawn="1"/>
        </p:nvCxnSpPr>
        <p:spPr>
          <a:xfrm>
            <a:off x="0" y="753618"/>
            <a:ext cx="9858375" cy="0"/>
          </a:xfrm>
          <a:prstGeom prst="line">
            <a:avLst/>
          </a:prstGeom>
          <a:ln w="22225">
            <a:solidFill>
              <a:srgbClr val="98C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0628" y="260268"/>
            <a:ext cx="11580921" cy="60098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Page Title 1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113" y="260267"/>
            <a:ext cx="1917435" cy="762875"/>
          </a:xfrm>
          <a:prstGeom prst="rect">
            <a:avLst/>
          </a:prstGeom>
        </p:spPr>
      </p:pic>
      <p:sp>
        <p:nvSpPr>
          <p:cNvPr id="51" name="Rectangle 50"/>
          <p:cNvSpPr/>
          <p:nvPr userDrawn="1"/>
        </p:nvSpPr>
        <p:spPr>
          <a:xfrm>
            <a:off x="0" y="6258757"/>
            <a:ext cx="12192000" cy="517000"/>
          </a:xfrm>
          <a:prstGeom prst="rect">
            <a:avLst/>
          </a:prstGeom>
          <a:gradFill flip="none" rotWithShape="1">
            <a:gsLst>
              <a:gs pos="44000">
                <a:srgbClr val="98C93D"/>
              </a:gs>
              <a:gs pos="100000">
                <a:srgbClr val="64872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 userDrawn="1"/>
        </p:nvSpPr>
        <p:spPr>
          <a:xfrm rot="5400000" flipH="1">
            <a:off x="6073142" y="748018"/>
            <a:ext cx="45719" cy="12192000"/>
          </a:xfrm>
          <a:prstGeom prst="rect">
            <a:avLst/>
          </a:prstGeom>
          <a:gradFill flip="none" rotWithShape="1">
            <a:gsLst>
              <a:gs pos="100000">
                <a:srgbClr val="648725"/>
              </a:gs>
              <a:gs pos="37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 userDrawn="1"/>
        </p:nvSpPr>
        <p:spPr>
          <a:xfrm>
            <a:off x="11448581" y="6350000"/>
            <a:ext cx="434734" cy="3693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fld id="{BD1BBCF7-C2B2-490C-A676-4763179728A4}" type="slidenum">
              <a:rPr lang="en-US" b="1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83" b="-5834"/>
          <a:stretch/>
        </p:blipFill>
        <p:spPr>
          <a:xfrm>
            <a:off x="270627" y="6323378"/>
            <a:ext cx="1703316" cy="4257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</p:pic>
      <p:sp>
        <p:nvSpPr>
          <p:cNvPr id="15" name="Content Placeholder 1"/>
          <p:cNvSpPr>
            <a:spLocks noGrp="1"/>
          </p:cNvSpPr>
          <p:nvPr>
            <p:ph idx="1" hasCustomPrompt="1"/>
          </p:nvPr>
        </p:nvSpPr>
        <p:spPr>
          <a:xfrm>
            <a:off x="270627" y="1087763"/>
            <a:ext cx="11580921" cy="4933476"/>
          </a:xfrm>
        </p:spPr>
        <p:txBody>
          <a:bodyPr/>
          <a:lstStyle>
            <a:lvl1pPr marL="233363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  <a:lvl2pPr marL="685800" indent="-228600">
              <a:buFont typeface="Century Gothic" panose="020B0502020202020204" pitchFamily="34" charset="0"/>
              <a:buChar char="◦"/>
              <a:defRPr>
                <a:latin typeface="+mn-lt"/>
              </a:defRPr>
            </a:lvl2pPr>
            <a:lvl3pPr marL="1143000" indent="-228600">
              <a:buFont typeface="Century Gothic" panose="020B0502020202020204" pitchFamily="34" charset="0"/>
              <a:buChar char="―"/>
              <a:defRPr>
                <a:latin typeface="+mn-lt"/>
              </a:defRPr>
            </a:lvl3pPr>
            <a:lvl4pPr marL="1600200" indent="-228600">
              <a:buFont typeface="Century Gothic" panose="020B0502020202020204" pitchFamily="34" charset="0"/>
              <a:buChar char="▪"/>
              <a:defRPr>
                <a:latin typeface="+mn-lt"/>
              </a:defRPr>
            </a:lvl4pPr>
            <a:lvl5pPr marL="2057400" indent="-228600">
              <a:buFont typeface="Century Gothic" panose="020B0502020202020204" pitchFamily="34" charset="0"/>
              <a:buChar char="▫"/>
              <a:defRPr>
                <a:latin typeface="+mn-lt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9F79DB9F-9B01-4CE4-AB9E-E44563D1F373}"/>
              </a:ext>
            </a:extLst>
          </p:cNvPr>
          <p:cNvSpPr txBox="1">
            <a:spLocks/>
          </p:cNvSpPr>
          <p:nvPr userDrawn="1"/>
        </p:nvSpPr>
        <p:spPr>
          <a:xfrm>
            <a:off x="2100195" y="6449909"/>
            <a:ext cx="5133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Century Gothic" panose="020B0502020202020204" pitchFamily="34" charset="0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3326331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 userDrawn="1"/>
        </p:nvCxnSpPr>
        <p:spPr>
          <a:xfrm>
            <a:off x="0" y="753618"/>
            <a:ext cx="9858375" cy="0"/>
          </a:xfrm>
          <a:prstGeom prst="line">
            <a:avLst/>
          </a:prstGeom>
          <a:ln w="22225">
            <a:solidFill>
              <a:srgbClr val="98C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0628" y="260268"/>
            <a:ext cx="11580921" cy="60098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Page Title 1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113" y="260267"/>
            <a:ext cx="1917435" cy="762875"/>
          </a:xfrm>
          <a:prstGeom prst="rect">
            <a:avLst/>
          </a:prstGeom>
        </p:spPr>
      </p:pic>
      <p:sp>
        <p:nvSpPr>
          <p:cNvPr id="51" name="Rectangle 50"/>
          <p:cNvSpPr/>
          <p:nvPr userDrawn="1"/>
        </p:nvSpPr>
        <p:spPr>
          <a:xfrm>
            <a:off x="0" y="6258757"/>
            <a:ext cx="12192000" cy="517000"/>
          </a:xfrm>
          <a:prstGeom prst="rect">
            <a:avLst/>
          </a:prstGeom>
          <a:gradFill flip="none" rotWithShape="1">
            <a:gsLst>
              <a:gs pos="44000">
                <a:srgbClr val="98C93D"/>
              </a:gs>
              <a:gs pos="100000">
                <a:srgbClr val="64872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 userDrawn="1"/>
        </p:nvSpPr>
        <p:spPr>
          <a:xfrm rot="5400000" flipH="1">
            <a:off x="6073142" y="748018"/>
            <a:ext cx="45719" cy="12192000"/>
          </a:xfrm>
          <a:prstGeom prst="rect">
            <a:avLst/>
          </a:prstGeom>
          <a:gradFill flip="none" rotWithShape="1">
            <a:gsLst>
              <a:gs pos="100000">
                <a:srgbClr val="648725"/>
              </a:gs>
              <a:gs pos="37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 userDrawn="1"/>
        </p:nvSpPr>
        <p:spPr>
          <a:xfrm>
            <a:off x="11448581" y="6350000"/>
            <a:ext cx="434734" cy="3693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fld id="{BD1BBCF7-C2B2-490C-A676-4763179728A4}" type="slidenum">
              <a:rPr lang="en-US" b="1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83" b="-5834"/>
          <a:stretch/>
        </p:blipFill>
        <p:spPr>
          <a:xfrm>
            <a:off x="270627" y="6323378"/>
            <a:ext cx="1703316" cy="4257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F79DB9F-9B01-4CE4-AB9E-E44563D1F373}"/>
              </a:ext>
            </a:extLst>
          </p:cNvPr>
          <p:cNvSpPr txBox="1">
            <a:spLocks/>
          </p:cNvSpPr>
          <p:nvPr userDrawn="1"/>
        </p:nvSpPr>
        <p:spPr>
          <a:xfrm>
            <a:off x="2100195" y="6449909"/>
            <a:ext cx="5133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Century Gothic" panose="020B0502020202020204" pitchFamily="34" charset="0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2882401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 userDrawn="1"/>
        </p:nvCxnSpPr>
        <p:spPr>
          <a:xfrm>
            <a:off x="0" y="753618"/>
            <a:ext cx="9858375" cy="0"/>
          </a:xfrm>
          <a:prstGeom prst="line">
            <a:avLst/>
          </a:prstGeom>
          <a:ln w="22225">
            <a:solidFill>
              <a:srgbClr val="98C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0628" y="260268"/>
            <a:ext cx="11580921" cy="60098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Page Title 1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270628" y="778081"/>
            <a:ext cx="11580921" cy="373510"/>
          </a:xfrm>
        </p:spPr>
        <p:txBody>
          <a:bodyPr>
            <a:noAutofit/>
          </a:bodyPr>
          <a:lstStyle>
            <a:lvl1pPr marL="0" indent="0" algn="l">
              <a:buNone/>
              <a:defRPr sz="1800" b="0">
                <a:solidFill>
                  <a:srgbClr val="373838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Master Page Subtitle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113" y="260267"/>
            <a:ext cx="1917435" cy="762875"/>
          </a:xfrm>
          <a:prstGeom prst="rect">
            <a:avLst/>
          </a:prstGeom>
        </p:spPr>
      </p:pic>
      <p:sp>
        <p:nvSpPr>
          <p:cNvPr id="51" name="Rectangle 50"/>
          <p:cNvSpPr/>
          <p:nvPr userDrawn="1"/>
        </p:nvSpPr>
        <p:spPr>
          <a:xfrm>
            <a:off x="0" y="6258757"/>
            <a:ext cx="12192000" cy="517000"/>
          </a:xfrm>
          <a:prstGeom prst="rect">
            <a:avLst/>
          </a:prstGeom>
          <a:gradFill flip="none" rotWithShape="1">
            <a:gsLst>
              <a:gs pos="44000">
                <a:srgbClr val="98C93D"/>
              </a:gs>
              <a:gs pos="100000">
                <a:srgbClr val="64872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 userDrawn="1"/>
        </p:nvSpPr>
        <p:spPr>
          <a:xfrm rot="5400000" flipH="1">
            <a:off x="6073142" y="748018"/>
            <a:ext cx="45719" cy="12192000"/>
          </a:xfrm>
          <a:prstGeom prst="rect">
            <a:avLst/>
          </a:prstGeom>
          <a:gradFill flip="none" rotWithShape="1">
            <a:gsLst>
              <a:gs pos="100000">
                <a:srgbClr val="648725"/>
              </a:gs>
              <a:gs pos="37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 userDrawn="1"/>
        </p:nvSpPr>
        <p:spPr>
          <a:xfrm>
            <a:off x="11448581" y="6350000"/>
            <a:ext cx="434734" cy="3693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fld id="{BD1BBCF7-C2B2-490C-A676-4763179728A4}" type="slidenum">
              <a:rPr lang="en-US" b="1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83" b="-5834"/>
          <a:stretch/>
        </p:blipFill>
        <p:spPr>
          <a:xfrm>
            <a:off x="270627" y="6323378"/>
            <a:ext cx="1703316" cy="4257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</p:pic>
      <p:sp>
        <p:nvSpPr>
          <p:cNvPr id="14" name="Content Placeholder 1"/>
          <p:cNvSpPr>
            <a:spLocks noGrp="1"/>
          </p:cNvSpPr>
          <p:nvPr>
            <p:ph idx="1" hasCustomPrompt="1"/>
          </p:nvPr>
        </p:nvSpPr>
        <p:spPr>
          <a:xfrm>
            <a:off x="270627" y="1449238"/>
            <a:ext cx="11580921" cy="4572002"/>
          </a:xfrm>
        </p:spPr>
        <p:txBody>
          <a:bodyPr/>
          <a:lstStyle>
            <a:lvl1pPr marL="233363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  <a:lvl2pPr marL="685800" indent="-228600">
              <a:buFont typeface="Century Gothic" panose="020B0502020202020204" pitchFamily="34" charset="0"/>
              <a:buChar char="◦"/>
              <a:defRPr>
                <a:latin typeface="+mn-lt"/>
              </a:defRPr>
            </a:lvl2pPr>
            <a:lvl3pPr marL="1143000" indent="-228600">
              <a:buFont typeface="Century Gothic" panose="020B0502020202020204" pitchFamily="34" charset="0"/>
              <a:buChar char="―"/>
              <a:defRPr>
                <a:latin typeface="+mn-lt"/>
              </a:defRPr>
            </a:lvl3pPr>
            <a:lvl4pPr marL="1600200" indent="-228600">
              <a:buFont typeface="Century Gothic" panose="020B0502020202020204" pitchFamily="34" charset="0"/>
              <a:buChar char="▪"/>
              <a:defRPr>
                <a:latin typeface="+mn-lt"/>
              </a:defRPr>
            </a:lvl4pPr>
            <a:lvl5pPr marL="2057400" indent="-228600">
              <a:buFont typeface="Century Gothic" panose="020B0502020202020204" pitchFamily="34" charset="0"/>
              <a:buChar char="▫"/>
              <a:defRPr>
                <a:latin typeface="+mn-lt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B77CE695-0A2F-C942-9F1A-B6FA9F084CA0}"/>
              </a:ext>
            </a:extLst>
          </p:cNvPr>
          <p:cNvSpPr txBox="1">
            <a:spLocks/>
          </p:cNvSpPr>
          <p:nvPr userDrawn="1"/>
        </p:nvSpPr>
        <p:spPr>
          <a:xfrm>
            <a:off x="2100195" y="6449909"/>
            <a:ext cx="5133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Century Gothic" panose="020B0502020202020204" pitchFamily="34" charset="0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3883777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2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3655484" y="3526773"/>
            <a:ext cx="8227483" cy="492443"/>
          </a:xfrm>
        </p:spPr>
        <p:txBody>
          <a:bodyPr anchor="b"/>
          <a:lstStyle>
            <a:lvl1pPr algn="l" fontAlgn="t"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93253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655484" y="4049377"/>
            <a:ext cx="8227483" cy="366712"/>
          </a:xfrm>
          <a:ln w="12700"/>
        </p:spPr>
        <p:txBody>
          <a:bodyPr>
            <a:spAutoFit/>
          </a:bodyPr>
          <a:lstStyle>
            <a:lvl1pPr marL="0" indent="0">
              <a:buFontTx/>
              <a:buNone/>
              <a:defRPr sz="1800" b="0"/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 descr="New_DOE_Logo_Color_Hi-Res_042808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7254" y="6026445"/>
            <a:ext cx="2528710" cy="635714"/>
          </a:xfrm>
          <a:prstGeom prst="rect">
            <a:avLst/>
          </a:prstGeom>
        </p:spPr>
      </p:pic>
      <p:pic>
        <p:nvPicPr>
          <p:cNvPr id="13" name="Picture 19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45369" y="6041893"/>
            <a:ext cx="1017884" cy="572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West_Virginia_University_logo_svg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301318" y="6221732"/>
            <a:ext cx="1864013" cy="241391"/>
          </a:xfrm>
          <a:prstGeom prst="rect">
            <a:avLst/>
          </a:prstGeom>
        </p:spPr>
      </p:pic>
      <p:pic>
        <p:nvPicPr>
          <p:cNvPr id="15" name="Picture 14" descr="CMU logo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50431" y="6205830"/>
            <a:ext cx="1532631" cy="29239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074" y="6049212"/>
            <a:ext cx="1447109" cy="55792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95" y="6065746"/>
            <a:ext cx="1439091" cy="5725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1372CD0-347B-4C7F-AD39-78B556A7DD8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61" y="6205829"/>
            <a:ext cx="1524000" cy="36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010841"/>
      </p:ext>
    </p:extLst>
  </p:cSld>
  <p:clrMapOvr>
    <a:masterClrMapping/>
  </p:clrMapOvr>
  <p:transition spd="med"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61237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07555"/>
      </p:ext>
    </p:extLst>
  </p:cSld>
  <p:clrMapOvr>
    <a:masterClrMapping/>
  </p:clrMapOvr>
  <p:transition spd="med"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707886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9201775"/>
      </p:ext>
    </p:extLst>
  </p:cSld>
  <p:clrMapOvr>
    <a:masterClrMapping/>
  </p:clrMapOvr>
  <p:transition spd="med"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65202"/>
            <a:ext cx="5384800" cy="52038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82133"/>
            <a:ext cx="5384800" cy="518689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1785"/>
      </p:ext>
    </p:extLst>
  </p:cSld>
  <p:clrMapOvr>
    <a:masterClrMapping/>
  </p:clrMapOvr>
  <p:transition spd="med"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533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50298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0059"/>
            <a:ext cx="5386917" cy="4672517"/>
          </a:xfrm>
        </p:spPr>
        <p:txBody>
          <a:bodyPr/>
          <a:lstStyle>
            <a:lvl1pPr>
              <a:defRPr sz="2400" b="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950298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1590060"/>
            <a:ext cx="5389033" cy="4661884"/>
          </a:xfrm>
        </p:spPr>
        <p:txBody>
          <a:bodyPr/>
          <a:lstStyle>
            <a:lvl1pPr>
              <a:defRPr sz="2400" b="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58606"/>
      </p:ext>
    </p:extLst>
  </p:cSld>
  <p:clrMapOvr>
    <a:masterClrMapping/>
  </p:clrMapOvr>
  <p:transition spd="med"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6760"/>
      </p:ext>
    </p:extLst>
  </p:cSld>
  <p:clrMapOvr>
    <a:masterClrMapping/>
  </p:clrMapOvr>
  <p:transition spd="med"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59507"/>
      </p:ext>
    </p:extLst>
  </p:cSld>
  <p:clrMapOvr>
    <a:masterClrMapping/>
  </p:clrMapOvr>
  <p:transition spd="med"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034990"/>
            <a:ext cx="4011084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69715"/>
      </p:ext>
    </p:extLst>
  </p:cSld>
  <p:clrMapOvr>
    <a:masterClrMapping/>
  </p:clrMapOvr>
  <p:transition spd="med"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967228"/>
            <a:ext cx="7315200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178143"/>
      </p:ext>
    </p:extLst>
  </p:cSld>
  <p:clrMapOvr>
    <a:masterClrMapping/>
  </p:clrMapOvr>
  <p:transition spd="med"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05177"/>
      </p:ext>
    </p:extLst>
  </p:cSld>
  <p:clrMapOvr>
    <a:masterClrMapping/>
  </p:clrMapOvr>
  <p:transition spd="med" advClick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36070" y="182563"/>
            <a:ext cx="646331" cy="59864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82563"/>
            <a:ext cx="8026400" cy="59864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30476"/>
      </p:ext>
    </p:extLst>
  </p:cSld>
  <p:clrMapOvr>
    <a:masterClrMapping/>
  </p:clrMapOvr>
  <p:transition spd="med" advClick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61237"/>
            <a:ext cx="10972801" cy="53077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906"/>
      </p:ext>
    </p:extLst>
  </p:cSld>
  <p:clrMapOvr>
    <a:masterClrMapping/>
  </p:clrMapOvr>
  <p:transition spd="med" advClick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2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3655484" y="3526773"/>
            <a:ext cx="8227483" cy="492443"/>
          </a:xfrm>
        </p:spPr>
        <p:txBody>
          <a:bodyPr anchor="b"/>
          <a:lstStyle>
            <a:lvl1pPr algn="l" fontAlgn="t"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93253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655484" y="4049377"/>
            <a:ext cx="8227483" cy="366712"/>
          </a:xfrm>
          <a:prstGeom prst="rect">
            <a:avLst/>
          </a:prstGeom>
          <a:ln w="12700"/>
        </p:spPr>
        <p:txBody>
          <a:bodyPr>
            <a:spAutoFit/>
          </a:bodyPr>
          <a:lstStyle>
            <a:lvl1pPr marL="0" indent="0">
              <a:buFontTx/>
              <a:buNone/>
              <a:defRPr sz="1800" b="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AD3D4A-7E28-4220-9909-287F9B6EBB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B67AC3-44BE-1249-A8B0-A1E33CC73C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440613"/>
      </p:ext>
    </p:extLst>
  </p:cSld>
  <p:clrMapOvr>
    <a:masterClrMapping/>
  </p:clrMapOvr>
  <p:transition spd="med" advClick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13" Type="http://schemas.openxmlformats.org/officeDocument/2006/relationships/image" Target="../media/image4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theme" Target="../theme/theme3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6C882809-195B-4C71-AF45-AF8015062DE4}" type="datetimeFigureOut">
              <a:rPr lang="en-US" smtClean="0"/>
              <a:pPr/>
              <a:t>05/08/26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D1BBCF7-C2B2-490C-A676-4763179728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531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2" r:id="rId3"/>
    <p:sldLayoutId id="21474837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rgbClr val="373838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F0F5CB-0D47-4D83-91C4-D40A395E4596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1" t="7487" b="7207"/>
          <a:stretch/>
        </p:blipFill>
        <p:spPr>
          <a:xfrm>
            <a:off x="33250" y="6148938"/>
            <a:ext cx="1826051" cy="709062"/>
          </a:xfrm>
          <a:prstGeom prst="rect">
            <a:avLst/>
          </a:prstGeom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82565"/>
            <a:ext cx="10972801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0013"/>
            <a:ext cx="10972801" cy="479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968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ransition spd="med" advClick="0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82565"/>
            <a:ext cx="10972801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0013"/>
            <a:ext cx="10972801" cy="479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29C87F91-BFE2-284C-8E09-D1E69062B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8573" y="6406817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D7C2DE-E3C8-B14E-B1DC-1B0DBDEF69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32" y="6089972"/>
            <a:ext cx="1833097" cy="71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87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</p:sldLayoutIdLst>
  <p:transition spd="med" advClick="0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051560"/>
            <a:ext cx="5166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1F2E"/>
                </a:solidFill>
                <a:latin typeface="Aptos"/>
              </a:rPr>
              <a:t>Produced-Water</a:t>
            </a:r>
            <a:br/>
            <a:r>
              <a:rPr sz="2800" b="1">
                <a:solidFill>
                  <a:srgbClr val="141F2E"/>
                </a:solidFill>
                <a:latin typeface="Aptos"/>
              </a:rPr>
              <a:t>Lithium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67712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7E"/>
                </a:solidFill>
                <a:latin typeface="Aptos"/>
              </a:rPr>
              <a:t>Rezaee DES/TOPO Li/Na bridge for PrOMMiS and IDAES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4315968"/>
            <a:ext cx="1572768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4389120"/>
            <a:ext cx="138988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46574"/>
                </a:solidFill>
                <a:latin typeface="Aptos"/>
              </a:rPr>
              <a:t>LI FEED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4590288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141F2E"/>
                </a:solidFill>
                <a:latin typeface="Aptos"/>
              </a:rPr>
              <a:t>168 mg/L</a:t>
            </a:r>
          </a:p>
        </p:txBody>
      </p:sp>
      <p:sp>
        <p:nvSpPr>
          <p:cNvPr id="7" name="Rectangle 6"/>
          <p:cNvSpPr/>
          <p:nvPr/>
        </p:nvSpPr>
        <p:spPr>
          <a:xfrm>
            <a:off x="2450592" y="4315968"/>
            <a:ext cx="1572768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42032" y="4389120"/>
            <a:ext cx="138988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46574"/>
                </a:solidFill>
                <a:latin typeface="Aptos"/>
              </a:rPr>
              <a:t>NA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4590288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141F2E"/>
                </a:solidFill>
                <a:latin typeface="Aptos"/>
              </a:rPr>
              <a:t>64,100 mg/L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7952" y="4315968"/>
            <a:ext cx="1938528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9392" y="4389120"/>
            <a:ext cx="17556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46574"/>
                </a:solidFill>
                <a:latin typeface="Aptos"/>
              </a:rPr>
              <a:t>NOMINAL LI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4590288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141F2E"/>
                </a:solidFill>
                <a:latin typeface="Aptos"/>
              </a:rPr>
              <a:t>50.66%</a:t>
            </a:r>
          </a:p>
        </p:txBody>
      </p:sp>
      <p:pic>
        <p:nvPicPr>
          <p:cNvPr id="13" name="Picture 12" descr="brine_li_td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966" y="960120"/>
            <a:ext cx="3336210" cy="1956816"/>
          </a:xfrm>
          <a:prstGeom prst="rect">
            <a:avLst/>
          </a:prstGeom>
        </p:spPr>
      </p:pic>
      <p:pic>
        <p:nvPicPr>
          <p:cNvPr id="14" name="Picture 13" descr="produced_water_candidate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790" y="3246120"/>
            <a:ext cx="3192562" cy="1901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200" b="1">
                <a:solidFill>
                  <a:srgbClr val="141F2E"/>
                </a:solidFill>
              </a:rPr>
              <a:t>1. Case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444752"/>
            <a:ext cx="80467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1F2E"/>
                </a:solidFill>
                <a:latin typeface="Aptos"/>
              </a:rPr>
              <a:t>A Smackover produced-water problem becomes tractable only after divalent pretreatment defines a clean Li/Na extraction feed.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69080"/>
            <a:ext cx="1920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142232"/>
            <a:ext cx="17373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46574"/>
                </a:solidFill>
                <a:latin typeface="Aptos"/>
              </a:rPr>
              <a:t>BRINE BASIS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434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141F2E"/>
                </a:solidFill>
                <a:latin typeface="Aptos"/>
              </a:rPr>
              <a:t>Smackover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7208" y="4069080"/>
            <a:ext cx="1920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8648" y="4142232"/>
            <a:ext cx="17373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46574"/>
                </a:solidFill>
                <a:latin typeface="Aptos"/>
              </a:rPr>
              <a:t>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648" y="43434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141F2E"/>
                </a:solidFill>
                <a:latin typeface="Aptos"/>
              </a:rPr>
              <a:t>168 mg/L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7488" y="4069080"/>
            <a:ext cx="1920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8928" y="4142232"/>
            <a:ext cx="17373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46574"/>
                </a:solidFill>
                <a:latin typeface="Aptos"/>
              </a:rPr>
              <a:t>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43434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141F2E"/>
                </a:solidFill>
                <a:latin typeface="Aptos"/>
              </a:rPr>
              <a:t>64,100 mg/L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87768" y="4069080"/>
            <a:ext cx="1920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4142232"/>
            <a:ext cx="17373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46574"/>
                </a:solidFill>
                <a:latin typeface="Aptos"/>
              </a:rPr>
              <a:t>TDS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9208" y="43434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141F2E"/>
                </a:solidFill>
                <a:latin typeface="Aptos"/>
              </a:rPr>
              <a:t>305,000 mg/L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150" b="1">
                <a:solidFill>
                  <a:srgbClr val="141F2E"/>
                </a:solidFill>
              </a:rPr>
              <a:t>Smackover Feed And Pretreatment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04672"/>
            <a:ext cx="7269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A7E"/>
                </a:solidFill>
                <a:latin typeface="Aptos"/>
              </a:rPr>
              <a:t>The case basis is source-backed; the extraction chemistry is literature-backed.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5212080" cy="4315968"/>
          </a:xfrm>
          <a:prstGeom prst="rect">
            <a:avLst/>
          </a:prstGeom>
          <a:solidFill>
            <a:srgbClr val="FFFFFF"/>
          </a:solidFill>
          <a:ln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zaee_surrogate_input_r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762" y="1353312"/>
            <a:ext cx="3309538" cy="1865376"/>
          </a:xfrm>
          <a:prstGeom prst="rect">
            <a:avLst/>
          </a:prstGeom>
        </p:spPr>
      </p:pic>
      <p:pic>
        <p:nvPicPr>
          <p:cNvPr id="6" name="Picture 5" descr="process_bridg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559099"/>
            <a:ext cx="4800600" cy="16234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16752" y="1298448"/>
            <a:ext cx="43525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 b="1">
                <a:solidFill>
                  <a:srgbClr val="146574"/>
                </a:solidFill>
                <a:latin typeface="Aptos"/>
              </a:rPr>
              <a:t>ENGINEERING READOUT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6752" y="1682495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544" y="1655063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The solvent model sees a clean Li/Na stream, not raw multication produced water.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752" y="2505456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2478024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Ca/Mg/Sr/Ba are upstream pretreatment species and remain outside the active extraction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3328415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544" y="3300984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TDS remains a severity variable for process screening and uncertainty sweeps.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200" b="1">
                <a:solidFill>
                  <a:srgbClr val="141F2E"/>
                </a:solidFill>
              </a:rPr>
              <a:t>2. Thermodynamic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444752"/>
            <a:ext cx="80467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1F2E"/>
                </a:solidFill>
                <a:latin typeface="Aptos"/>
              </a:rPr>
              <a:t>Rezaee DES/TOPO is used as a traceable Li/Na distribution bridge, not as an unsupported fixed recovery factor.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69080"/>
            <a:ext cx="1920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142232"/>
            <a:ext cx="17373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46574"/>
                </a:solidFill>
                <a:latin typeface="Aptos"/>
              </a:rPr>
              <a:t>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434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141F2E"/>
                </a:solidFill>
                <a:latin typeface="Aptos"/>
              </a:rPr>
              <a:t>DES + TOPO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7208" y="4069080"/>
            <a:ext cx="1920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8648" y="4142232"/>
            <a:ext cx="17373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46574"/>
                </a:solidFill>
                <a:latin typeface="Aptos"/>
              </a:rPr>
              <a:t>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648" y="43434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141F2E"/>
                </a:solidFill>
                <a:latin typeface="Aptos"/>
              </a:rPr>
              <a:t>log-D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7488" y="4069080"/>
            <a:ext cx="1920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8928" y="4142232"/>
            <a:ext cx="17373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46574"/>
                </a:solidFill>
                <a:latin typeface="Aptos"/>
              </a:rPr>
              <a:t>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43434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141F2E"/>
                </a:solidFill>
                <a:latin typeface="Aptos"/>
              </a:rPr>
              <a:t>523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87768" y="4069080"/>
            <a:ext cx="1920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4142232"/>
            <a:ext cx="17373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46574"/>
                </a:solidFill>
                <a:latin typeface="Aptos"/>
              </a:rPr>
              <a:t>FLAG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9208" y="43434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141F2E"/>
                </a:solidFill>
                <a:latin typeface="Aptos"/>
              </a:rPr>
              <a:t>Na/Li extrapolation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150" b="1">
                <a:solidFill>
                  <a:srgbClr val="141F2E"/>
                </a:solidFill>
              </a:rPr>
              <a:t>Rezaee DES/TOPO Surrogate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04672"/>
            <a:ext cx="7269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A7E"/>
                </a:solidFill>
                <a:latin typeface="Aptos"/>
              </a:rPr>
              <a:t>The active model is a distribution-coefficient surrogate tied to literature extraction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5212080" cy="4315968"/>
          </a:xfrm>
          <a:prstGeom prst="rect">
            <a:avLst/>
          </a:prstGeom>
          <a:solidFill>
            <a:srgbClr val="FFFFFF"/>
          </a:solidFill>
          <a:ln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zaee_surrogat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95198"/>
            <a:ext cx="4800600" cy="1781603"/>
          </a:xfrm>
          <a:prstGeom prst="rect">
            <a:avLst/>
          </a:prstGeom>
        </p:spPr>
      </p:pic>
      <p:pic>
        <p:nvPicPr>
          <p:cNvPr id="6" name="Picture 5" descr="nominal_transfer_math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487980"/>
            <a:ext cx="4800600" cy="17657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16752" y="1298448"/>
            <a:ext cx="43525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 b="1">
                <a:solidFill>
                  <a:srgbClr val="146574"/>
                </a:solidFill>
                <a:latin typeface="Aptos"/>
              </a:rPr>
              <a:t>ENGINEERING READOUT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6752" y="1682495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544" y="1655063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Convert Rezaee extraction responses into distribution coefficients using the organic-to-aqueous basis.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752" y="2505456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2478024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Fit calibrated log-distribution response surfaces for Li and Na transfer.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3328415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544" y="3300984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Carry model-basis and validity flags into every PrOMMiS/IDAES handoff row.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150" b="1">
                <a:solidFill>
                  <a:srgbClr val="141F2E"/>
                </a:solidFill>
              </a:rPr>
              <a:t>Lithium Extraction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04672"/>
            <a:ext cx="7269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A7E"/>
                </a:solidFill>
                <a:latin typeface="Aptos"/>
              </a:rPr>
              <a:t>The surrogate returns finite process responses across the produced-water screening matrix.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5212080" cy="4315968"/>
          </a:xfrm>
          <a:prstGeom prst="rect">
            <a:avLst/>
          </a:prstGeom>
          <a:solidFill>
            <a:srgbClr val="FFFFFF"/>
          </a:solidFill>
          <a:ln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librated_li_extraction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76926"/>
            <a:ext cx="4800600" cy="28298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16752" y="1298448"/>
            <a:ext cx="43525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 b="1">
                <a:solidFill>
                  <a:srgbClr val="146574"/>
                </a:solidFill>
                <a:latin typeface="Aptos"/>
              </a:rPr>
              <a:t>ENGINEERING READOUT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16752" y="1682495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544" y="1655063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Lithium extraction spans 30.2-61.4% across the current screening matrix.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6752" y="2505456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2478024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Nominal MS-2 one-stage lithium extraction is 50.66%.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2" y="3328415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544" y="3300984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The organic/aqueous ratio is the dominant operating lever in the three-variable sweep.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150" b="1">
                <a:solidFill>
                  <a:srgbClr val="141F2E"/>
                </a:solidFill>
              </a:rPr>
              <a:t>Selectivity Under Produced-Water Sodium 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04672"/>
            <a:ext cx="7269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A7E"/>
                </a:solidFill>
                <a:latin typeface="Aptos"/>
              </a:rPr>
              <a:t>The result is a staged-contacting contract, not only a recovery percentage.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5212080" cy="4315968"/>
          </a:xfrm>
          <a:prstGeom prst="rect">
            <a:avLst/>
          </a:prstGeom>
          <a:solidFill>
            <a:srgbClr val="FFFFFF"/>
          </a:solidFill>
          <a:ln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librated_selectivity_vs_na_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76926"/>
            <a:ext cx="4800600" cy="28298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16752" y="1298448"/>
            <a:ext cx="43525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 b="1">
                <a:solidFill>
                  <a:srgbClr val="146574"/>
                </a:solidFill>
                <a:latin typeface="Aptos"/>
              </a:rPr>
              <a:t>ENGINEERING READOUT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16752" y="1682495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544" y="1655063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Nominal Li/Na selectivity is 17.09 at the clean MS-2 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6752" y="2505456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2478024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Corrected distribution coefficients are the primary variables for MSContactor handoff.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2" y="3328415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544" y="3300984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The high Na/Li point is extrapolated beyond the original Rezaee DOE range and must stay flagged.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200" b="1">
                <a:solidFill>
                  <a:srgbClr val="141F2E"/>
                </a:solidFill>
              </a:rPr>
              <a:t>3. Process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444752"/>
            <a:ext cx="80467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1F2E"/>
                </a:solidFill>
                <a:latin typeface="Aptos"/>
              </a:rPr>
              <a:t>The value of the thermodynamic bridge is that it produces process-model inputs with traceable validity flags.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69080"/>
            <a:ext cx="1920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142232"/>
            <a:ext cx="17373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46574"/>
                </a:solidFill>
                <a:latin typeface="Aptos"/>
              </a:rPr>
              <a:t>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434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141F2E"/>
                </a:solidFill>
                <a:latin typeface="Aptos"/>
              </a:rPr>
              <a:t>D_i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7208" y="4069080"/>
            <a:ext cx="1920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8648" y="4142232"/>
            <a:ext cx="17373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46574"/>
                </a:solidFill>
                <a:latin typeface="Aptos"/>
              </a:rPr>
              <a:t>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648" y="43434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141F2E"/>
                </a:solidFill>
                <a:latin typeface="Aptos"/>
              </a:rPr>
              <a:t>MSContactor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7488" y="4069080"/>
            <a:ext cx="1920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8928" y="4142232"/>
            <a:ext cx="17373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46574"/>
                </a:solidFill>
                <a:latin typeface="Aptos"/>
              </a:rPr>
              <a:t>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43434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141F2E"/>
                </a:solidFill>
                <a:latin typeface="Aptos"/>
              </a:rPr>
              <a:t>PrOMMiS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87768" y="4069080"/>
            <a:ext cx="1920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4142232"/>
            <a:ext cx="17373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46574"/>
                </a:solidFill>
                <a:latin typeface="Aptos"/>
              </a:rPr>
              <a:t>COSTING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9208" y="43434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141F2E"/>
                </a:solidFill>
                <a:latin typeface="Aptos"/>
              </a:rPr>
              <a:t>IDAES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150" b="1">
                <a:solidFill>
                  <a:srgbClr val="141F2E"/>
                </a:solidFill>
              </a:rPr>
              <a:t>PrOMMiS/IDAES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04672"/>
            <a:ext cx="7269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A7E"/>
                </a:solidFill>
                <a:latin typeface="Aptos"/>
              </a:rPr>
              <a:t>Transfer variables are connected to staged recovery and screening economics.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5212080" cy="4315968"/>
          </a:xfrm>
          <a:prstGeom prst="rect">
            <a:avLst/>
          </a:prstGeom>
          <a:solidFill>
            <a:srgbClr val="FFFFFF"/>
          </a:solidFill>
          <a:ln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cess_bridg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74267"/>
            <a:ext cx="4800600" cy="1623464"/>
          </a:xfrm>
          <a:prstGeom prst="rect">
            <a:avLst/>
          </a:prstGeom>
        </p:spPr>
      </p:pic>
      <p:pic>
        <p:nvPicPr>
          <p:cNvPr id="6" name="Picture 5" descr="calibrated_costing_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034" y="3474720"/>
            <a:ext cx="3032994" cy="17922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16752" y="1298448"/>
            <a:ext cx="43525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 b="1">
                <a:solidFill>
                  <a:srgbClr val="146574"/>
                </a:solidFill>
                <a:latin typeface="Aptos"/>
              </a:rPr>
              <a:t>ENGINEERING READOUT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6752" y="1682495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544" y="1655063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The handoff table carries extraction, selectivity, distribution coefficients, raffinate, and extract loading.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752" y="2505456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2478024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Costing scenarios use calibrated surrogate recovery values at the same feed-flow basis.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3328415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544" y="3300984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Economics remain screening-level until residence time, solvent loss, reagent demand, and product pricing are specified.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150" b="1">
                <a:solidFill>
                  <a:srgbClr val="141F2E"/>
                </a:solidFill>
              </a:rPr>
              <a:t>Validation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04672"/>
            <a:ext cx="7269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A7E"/>
                </a:solidFill>
                <a:latin typeface="Aptos"/>
              </a:rPr>
              <a:t>The key caveat is sodium-load extrapolation from Rezaee DOE space to Smackover water.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5212080" cy="4315968"/>
          </a:xfrm>
          <a:prstGeom prst="rect">
            <a:avLst/>
          </a:prstGeom>
          <a:solidFill>
            <a:srgbClr val="FFFFFF"/>
          </a:solidFill>
          <a:ln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a_li_validation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72690"/>
            <a:ext cx="4800600" cy="18382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16752" y="1298448"/>
            <a:ext cx="43525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 b="1">
                <a:solidFill>
                  <a:srgbClr val="146574"/>
                </a:solidFill>
                <a:latin typeface="Aptos"/>
              </a:rPr>
              <a:t>ENGINEERING READOUT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16752" y="1682495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544" y="1655063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Every produced-water row is flagged as outside the Rezaee DOE Na/Li training domain.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6752" y="2505456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2478024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Process screening is appropriate; high-Na/Li validation remains future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2" y="3328415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544" y="3300984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Direct reactive-LLE closure is not claimed; the calibrated distribution surrogate is the presentation basis.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150" b="1">
                <a:solidFill>
                  <a:srgbClr val="141F2E"/>
                </a:solidFill>
              </a:rPr>
              <a:t>Presentation-Ready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04672"/>
            <a:ext cx="7269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0">
                <a:solidFill>
                  <a:srgbClr val="5B6A7E"/>
                </a:solidFill>
                <a:latin typeface="Aptos"/>
              </a:rPr>
              <a:t>The story now runs from feed definition through process-screening economics.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5212080" cy="4315968"/>
          </a:xfrm>
          <a:prstGeom prst="rect">
            <a:avLst/>
          </a:prstGeom>
          <a:solidFill>
            <a:srgbClr val="FFFFFF"/>
          </a:solidFill>
          <a:ln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librated_li_extraction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293" y="1353312"/>
            <a:ext cx="3164477" cy="1865376"/>
          </a:xfrm>
          <a:prstGeom prst="rect">
            <a:avLst/>
          </a:prstGeom>
        </p:spPr>
      </p:pic>
      <p:pic>
        <p:nvPicPr>
          <p:cNvPr id="6" name="Picture 5" descr="calibrated_costing_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034" y="3474720"/>
            <a:ext cx="3032994" cy="17922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16752" y="1298448"/>
            <a:ext cx="43525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 b="1">
                <a:solidFill>
                  <a:srgbClr val="146574"/>
                </a:solidFill>
                <a:latin typeface="Aptos"/>
              </a:rPr>
              <a:t>ENGINEERING READOUT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6752" y="1682495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544" y="1655063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Use the calibrated Rezaee surrogate matrix as the active data product for the case-study deck.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752" y="2505456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2478024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Keep archived solvent-selection material outside the current Rezaee-calibrated presentation chain.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3328415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146574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544" y="3300984"/>
            <a:ext cx="3730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80" b="0">
                <a:solidFill>
                  <a:srgbClr val="313F50"/>
                </a:solidFill>
                <a:latin typeface="Aptos"/>
              </a:rPr>
              <a:t>Next step: replace the algebraic process handoff with a full PrOMMiS MSContactor solve and IDAES costing block.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373838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ter Cover Title.pptx" id="{EB5E8C3F-626B-4B4B-ACCF-A49F74929750}" vid="{91F68650-2EA8-49F3-A5C8-A6A4201928CA}"/>
    </a:ext>
  </a:extLst>
</a:theme>
</file>

<file path=ppt/theme/theme2.xml><?xml version="1.0" encoding="utf-8"?>
<a:theme xmlns:a="http://schemas.openxmlformats.org/drawingml/2006/main" name="1_IDA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ETL Si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0070C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27432" tIns="27432" rIns="27432" bIns="27432" numCol="1" rtlCol="0" anchor="ctr" anchorCtr="1" compatLnSpc="1">
        <a:prstTxWarp prst="textNoShape">
          <a:avLst/>
        </a:prstTxWarp>
      </a:bodyPr>
      <a:lstStyle>
        <a:defPPr marR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noFill/>
        <a:ln w="19050" cap="flat" cmpd="sng" algn="ctr">
          <a:solidFill>
            <a:schemeClr val="tx1"/>
          </a:solidFill>
          <a:prstDash val="solid"/>
          <a:round/>
          <a:headEnd type="arrow"/>
          <a:tailEnd type="arrow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200" i="0" dirty="0" smtClean="0">
            <a:solidFill>
              <a:schemeClr val="tx1"/>
            </a:solidFill>
          </a:defRPr>
        </a:defPPr>
      </a:lstStyle>
    </a:txDef>
  </a:objectDefaults>
  <a:extraClrSchemeLst>
    <a:extraClrScheme>
      <a:clrScheme name="NETL Si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E7"/>
        </a:accent6>
        <a:hlink>
          <a:srgbClr val="0080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IDA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ETL Si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0070C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27432" tIns="27432" rIns="27432" bIns="27432" numCol="1" rtlCol="0" anchor="ctr" anchorCtr="1" compatLnSpc="1">
        <a:prstTxWarp prst="textNoShape">
          <a:avLst/>
        </a:prstTxWarp>
      </a:bodyPr>
      <a:lstStyle>
        <a:defPPr marR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noFill/>
        <a:ln w="19050" cap="flat" cmpd="sng" algn="ctr">
          <a:solidFill>
            <a:schemeClr val="tx1"/>
          </a:solidFill>
          <a:prstDash val="solid"/>
          <a:round/>
          <a:headEnd type="arrow"/>
          <a:tailEnd type="arrow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200" i="0" dirty="0" smtClean="0">
            <a:solidFill>
              <a:schemeClr val="tx1"/>
            </a:solidFill>
          </a:defRPr>
        </a:defPPr>
      </a:lstStyle>
    </a:txDef>
  </a:objectDefaults>
  <a:extraClrSchemeLst>
    <a:extraClrScheme>
      <a:clrScheme name="NETL Si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E7"/>
        </a:accent6>
        <a:hlink>
          <a:srgbClr val="0080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DB6BD2039A4DA9828CDD52828D22" ma:contentTypeVersion="1" ma:contentTypeDescription="Create a new document." ma:contentTypeScope="" ma:versionID="02a2b74d7520ef9dea84c66f9fb70d3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d55f72726b9dae1b96ae9030b26e0e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2840F2-5BB0-45AB-A8DF-9A97CD9488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0DB2A8-98EE-4CA5-9B57-4F5F6858EA16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A5341B3-53F6-453C-9EF7-531D8A95F6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NETL PowerPoint Presentation Template</Template>
  <TotalTime>83120</TotalTime>
  <Words>54</Words>
  <Application>Microsoft Office PowerPoint</Application>
  <PresentationFormat>Widescreen</PresentationFormat>
  <Paragraphs>30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Century Gothic</vt:lpstr>
      <vt:lpstr>Office Theme</vt:lpstr>
      <vt:lpstr>1_IDAES</vt:lpstr>
      <vt:lpstr>2_IDAES</vt:lpstr>
      <vt:lpstr>Title   Date  Tanner Polley</vt:lpstr>
      <vt:lpstr>Text Box Left Picture Right Slide</vt:lpstr>
      <vt:lpstr>Text Box Right Picture Left Slide</vt:lpstr>
      <vt:lpstr>Picture only</vt:lpstr>
      <vt:lpstr>Text Only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Cover Title</dc:title>
  <dc:creator>Gerdes, Kristin J.</dc:creator>
  <cp:lastModifiedBy>Tanner Polley</cp:lastModifiedBy>
  <cp:revision>1295</cp:revision>
  <cp:lastPrinted>2017-09-22T14:04:48Z</cp:lastPrinted>
  <dcterms:created xsi:type="dcterms:W3CDTF">2017-01-19T16:36:42Z</dcterms:created>
  <dcterms:modified xsi:type="dcterms:W3CDTF">2026-05-08T22:30:55Z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0x01010081F5DB6BD2039A4DA9828CDD52828D22</vt:lpwstr>
  </property>
  <property fmtid="{D5CDD505-2E9C-101B-9397-08002B2CF9AE}" pid="3" name="MSIP_Label_6a247341-4757-443f-8545-88b6b969d13e_Enabled">
    <vt:lpwstr>True</vt:lpwstr>
  </property>
  <property fmtid="{D5CDD505-2E9C-101B-9397-08002B2CF9AE}" pid="4" name="MSIP_Label_6a247341-4757-443f-8545-88b6b969d13e_SiteId">
    <vt:lpwstr>94e92035-30e4-4e5d-ba5b-df8b041a8555</vt:lpwstr>
  </property>
  <property fmtid="{D5CDD505-2E9C-101B-9397-08002B2CF9AE}" pid="5" name="MSIP_Label_6a247341-4757-443f-8545-88b6b969d13e_SetDate">
    <vt:lpwstr>2023-09-06T22:32:52Z</vt:lpwstr>
  </property>
  <property fmtid="{D5CDD505-2E9C-101B-9397-08002B2CF9AE}" pid="6" name="MSIP_Label_6a247341-4757-443f-8545-88b6b969d13e_Name">
    <vt:lpwstr>Restricted</vt:lpwstr>
  </property>
  <property fmtid="{D5CDD505-2E9C-101B-9397-08002B2CF9AE}" pid="7" name="MSIP_Label_6a247341-4757-443f-8545-88b6b969d13e_ActionId">
    <vt:lpwstr>299a4785-5fc8-4858-877a-8db09950ce93</vt:lpwstr>
  </property>
  <property fmtid="{D5CDD505-2E9C-101B-9397-08002B2CF9AE}" pid="8" name="MSIP_Label_6a247341-4757-443f-8545-88b6b969d13e_Removed">
    <vt:lpwstr>False</vt:lpwstr>
  </property>
  <property fmtid="{D5CDD505-2E9C-101B-9397-08002B2CF9AE}" pid="9" name="MSIP_Label_6a247341-4757-443f-8545-88b6b969d13e_Extended_MSFT_Method">
    <vt:lpwstr>Standard</vt:lpwstr>
  </property>
  <property fmtid="{D5CDD505-2E9C-101B-9397-08002B2CF9AE}" pid="10" name="Sensitivity">
    <vt:lpwstr>Restricted</vt:lpwstr>
  </property>
</Properties>
</file>