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notesMaster" Target="notesMasters/notesMaster1.xml" /><Relationship Id="rId46" Type="http://schemas.openxmlformats.org/officeDocument/2006/relationships/viewProps" Target="viewProps.xml" /><Relationship Id="rId45" Type="http://schemas.openxmlformats.org/officeDocument/2006/relationships/presProps" Target="presProps.xml" /><Relationship Id="rId1" Type="http://schemas.openxmlformats.org/officeDocument/2006/relationships/slideMaster" Target="slideMasters/slideMaster1.xml" /><Relationship Id="rId48" Type="http://schemas.openxmlformats.org/officeDocument/2006/relationships/tableStyles" Target="tableStyles.xml" /><Relationship Id="rId4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Restrict quantitative claims to source-backed literature, generated validation tables, and explicitly labeled model outputs. Divalent ions are feed-context species only; the active objective is Li extraction from Na after divalent pretreatment.</a:t>
            </a:r>
          </a:p>
          <a:p>
            <a:pPr lvl="0" indent="0" marL="0">
              <a:buNone/>
            </a:pPr>
          </a:p>
          <a:p>
            <a:pPr lvl="0" indent="0" marL="0">
              <a:buNone/>
            </a:pPr>
            <a:r>
              <a:rPr/>
              <a:t>Open with the implementation need, not with a generic lithium motivation. The audience should understand within the first minute that this is a case for thermodynamic integration, not a broad solvent-discovery survey.</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first premise. If produced water were a single feed, a simple recovery factor might be defensible. It is not a single feed, so the model needs to carry chemistry.</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key line is: Smackover wins not because it is easy, but because it is valuable and thermodynamically unforgiving. That is exactly where an electrolyte EoS earns its keep.</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shows true source composition without implying that the Rezaee extraction experiments were performed on this Smackover sample.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makes the case concrete while preserving the source-vs-chemistry boundary.</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Many trace-metal values are censored thresholds, so avoid treating medians as exact resource grades. The key message is disciplined: REE are not source-supported for this feed yet.</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raw Smackover brine is still the source site. The extraction model starts after pretreatment, so Mg, Ca, Sr, and Ba are not active extraction variables in this Li/Na bridge.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input contract for the next surrogate run. It separates Rezaee’s paper-tested ranges from the produced-water extension needed for the selected Smackover clean Li+Na stream. Do not present these bounds as completed response surfaces until the concrete run script generates the extraction outputs.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scaffold response surface is for process-integration readiness. It checks that the TDS, Li, and O/A design can be carried through transfer variables, staged recovery, and costing before the calibrated Rezaee/ePC-SAFT surrogate rows replace it.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 careful not to oversell. This is a replacement for unsupported transfer assumptions, not a claim that ePC-SAFT solves kinetics, hydraulics, or plant economics by itself.</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novelty claim is reusable insight. The model lets the project ask where the chemistry should work, why the answer changes across basins, and what variables the process model should receive. For this deck, those variables are transfer variables, not equipment performance coefficients.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prevents overclaiming. The source-regressed bridge is presentation-facing; the direct published-constant thermodynamic replay remains diagnostic until the activity-reference gap is closed.</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Legacy solvent-choice artifacts are retained only in the archive. The active presentation chain is Rezaee DES/TOPO after divalent pretreatment.</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important contrast is selective transfer after divalent pretreatment: lithium moves more strongly than sodium, and the bridge remains explicitly source-regressed until direct Rezaee thermodynamic closure is resolved.</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three-stage value is useful as a design signal and bridge output. It should not be presented as direct published-constant ePC-SAFT LLE closure.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main “novel insight” slide. The idea is not just a better lithium number. It is a more reusable way to reason from location to chemistry to process design.</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concrete software interface. Percent extraction is the audience-friendly number; the unit model needs compositions, phase splits, distribution ratios, selectivity, and diagnostics.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is the strongest technical anchor for implementation reviewers because it is explicit about what gets passed across process boundaries.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recommended maturity ladder. Do not pitch direct coupling as the only path. The lowest-risk first step is an offline data generator that feeds a bounded surrogate.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assumptions are scenario placeholders, not vendor quotes.</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Rezaee clean Li/Na transfer table now drives a PrOMMiS-side IDAES/Pyomo costing block with stress, base, and favorable cases. This verifies the handoff shape and cost-accounting hooks; the calibrated surrogate will replace the scaffold response values.</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is the ask. It should leave no ambiguity about what you want: implement ePC-SAFT into the ecosystem so these cases can move from isolated scripts into reusable process models.</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gives you a transparent ending if someone asks what is already proven versus what remains. It also turns the next work into a clear roadmap rather than a vague promise.</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backup slide is the roadmap for the next systematic screening campaign. It should be shown when someone asks how this becomes more than one case.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1.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5.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6.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3.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ePC-SAFT For Produced-Water Lithium Extraction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Rezaee DES/TOPO Li/Na bridge for thermodynamic and process-systems integration</a:t>
            </a:r>
            <a:br/>
            <a:br/>
            <a:r>
              <a:rPr/>
              <a:t>Chemical engineering technical review</a:t>
            </a:r>
          </a:p>
        </p:txBody>
      </p:sp>
      <p:sp>
        <p:nvSpPr>
          <p:cNvPr id="4" name="Date Placeholder 3"/>
          <p:cNvSpPr>
            <a:spLocks noGrp="1"/>
          </p:cNvSpPr>
          <p:nvPr>
            <p:ph idx="10" sz="half" type="dt"/>
          </p:nvPr>
        </p:nvSpPr>
        <p:spPr/>
        <p:txBody>
          <a:bodyPr/>
          <a:lstStyle/>
          <a:p>
            <a:pPr lvl="0" indent="0" marL="0">
              <a:buNone/>
            </a:pPr>
            <a:r>
              <a:rPr/>
              <a:t>2026-05-08</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0. Technical Thesis</a:t>
            </a:r>
          </a:p>
        </p:txBody>
      </p:sp>
      <p:sp>
        <p:nvSpPr>
          <p:cNvPr id="3" name="Content Placeholder 2"/>
          <p:cNvSpPr>
            <a:spLocks noGrp="1"/>
          </p:cNvSpPr>
          <p:nvPr>
            <p:ph idx="1"/>
          </p:nvPr>
        </p:nvSpPr>
        <p:spPr/>
        <p:txBody>
          <a:bodyPr/>
          <a:lstStyle/>
          <a:p>
            <a:pPr lvl="0" indent="0" marL="0">
              <a:buNone/>
            </a:pPr>
            <a:r>
              <a:rPr/>
              <a:t>This deck makes one chemical-engineering argument:</a:t>
            </a:r>
          </a:p>
          <a:p>
            <a:pPr lvl="0" indent="0" marL="1270000">
              <a:buNone/>
            </a:pPr>
            <a:r>
              <a:rPr sz="2000" b="1"/>
              <a:t>None</a:t>
            </a:r>
          </a:p>
          <a:p>
            <a:pPr lvl="0" indent="0" marL="1270000">
              <a:buNone/>
            </a:pPr>
            <a:r>
              <a:rPr sz="2000"/>
              <a:t>Produced-water lithium extraction needs a thermodynamic model that maps basin chemistry into solvent-extraction transfer variables. The active Li/Na bridge is Rezaee DES/TOPO after divalent pretreatment; ePC-SAFT is evaluated as the equilibrium and diagnostics backbone for PrOMMiS and IDAES.</a:t>
            </a:r>
          </a:p>
          <a:p>
            <a:pPr lvl="0"/>
            <a:r>
              <a:rPr/>
              <a:t>Feed basis: southern Arkansas Smackover brine.</a:t>
            </a:r>
          </a:p>
          <a:p>
            <a:pPr lvl="0"/>
            <a:r>
              <a:rPr/>
              <a:t>Solvent chemistry: Rezaee TBAC/decanoic-acid DES with TOPO coextractant.</a:t>
            </a:r>
          </a:p>
          <a:p>
            <a:pPr lvl="0"/>
            <a:r>
              <a:rPr/>
              <a:t>Thermodynamic target: phase-specific reactive equilibrium, electrolyte diagnostics, and ion-specific distribution.</a:t>
            </a:r>
          </a:p>
          <a:p>
            <a:pPr lvl="0"/>
            <a:r>
              <a:rPr/>
              <a:t>Process target: staged extraction, surrogate generation, and IDAES costing.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1. Basin Thermodynamic Basis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1.1 Produced Water Is Not One Feed</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Basin</a:t>
                      </a:r>
                    </a:p>
                  </a:txBody>
                  <a:tcPr/>
                </a:tc>
                <a:tc>
                  <a:txBody>
                    <a:bodyPr/>
                    <a:lstStyle/>
                    <a:p>
                      <a:pPr lvl="0" indent="0" marL="0">
                        <a:buNone/>
                      </a:pPr>
                      <a:r>
                        <a:rPr/>
                        <a:t>Representative lithium signal</a:t>
                      </a:r>
                    </a:p>
                  </a:txBody>
                  <a:tcPr/>
                </a:tc>
                <a:tc>
                  <a:txBody>
                    <a:bodyPr/>
                    <a:lstStyle/>
                    <a:p>
                      <a:pPr lvl="0" indent="0" marL="0">
                        <a:buNone/>
                      </a:pPr>
                      <a:r>
                        <a:rPr/>
                        <a:t>Representative TDS signal</a:t>
                      </a:r>
                    </a:p>
                  </a:txBody>
                  <a:tcPr/>
                </a:tc>
                <a:tc>
                  <a:txBody>
                    <a:bodyPr/>
                    <a:lstStyle/>
                    <a:p>
                      <a:pPr lvl="0" indent="0" marL="0">
                        <a:buNone/>
                      </a:pPr>
                      <a:r>
                        <a:rPr/>
                        <a:t>Why it matters</a:t>
                      </a:r>
                    </a:p>
                  </a:txBody>
                  <a:tcPr/>
                </a:tc>
              </a:tr>
              <a:tr h="0">
                <a:tc>
                  <a:txBody>
                    <a:bodyPr/>
                    <a:lstStyle/>
                    <a:p>
                      <a:pPr lvl="0" indent="0" marL="0">
                        <a:buNone/>
                      </a:pPr>
                      <a:r>
                        <a:rPr/>
                        <a:t>Appalachian</a:t>
                      </a:r>
                    </a:p>
                  </a:txBody>
                </a:tc>
                <a:tc>
                  <a:txBody>
                    <a:bodyPr/>
                    <a:lstStyle/>
                    <a:p>
                      <a:pPr lvl="0" indent="0" marL="0">
                        <a:buNone/>
                      </a:pPr>
                      <a:r>
                        <a:rPr/>
                        <a:t>Marcellus subsets reach </a:t>
                      </a:r>
                      <a:r>
                        <a:rPr>
                          <a:latin typeface="Courier"/>
                        </a:rPr>
                        <a:t>127-205 mg/L</a:t>
                      </a:r>
                      <a:r>
                        <a:rPr/>
                        <a:t> Li</a:t>
                      </a:r>
                    </a:p>
                  </a:txBody>
                </a:tc>
                <a:tc>
                  <a:txBody>
                    <a:bodyPr/>
                    <a:lstStyle/>
                    <a:p>
                      <a:pPr lvl="0" indent="0" marL="0">
                        <a:buNone/>
                      </a:pPr>
                      <a:r>
                        <a:rPr/>
                        <a:t>Often </a:t>
                      </a:r>
                      <a:r>
                        <a:rPr>
                          <a:latin typeface="Courier"/>
                        </a:rPr>
                        <a:t>&gt;100,000 mg/L</a:t>
                      </a:r>
                      <a:r>
                        <a:rPr/>
                        <a:t> TDS</a:t>
                      </a:r>
                    </a:p>
                  </a:txBody>
                </a:tc>
                <a:tc>
                  <a:txBody>
                    <a:bodyPr/>
                    <a:lstStyle/>
                    <a:p>
                      <a:pPr lvl="0" indent="0" marL="0">
                        <a:buNone/>
                      </a:pPr>
                      <a:r>
                        <a:rPr/>
                        <a:t>High Li, chemically variable</a:t>
                      </a:r>
                    </a:p>
                  </a:txBody>
                </a:tc>
              </a:tr>
              <a:tr h="0">
                <a:tc>
                  <a:txBody>
                    <a:bodyPr/>
                    <a:lstStyle/>
                    <a:p>
                      <a:pPr lvl="0" indent="0" marL="0">
                        <a:buNone/>
                      </a:pPr>
                      <a:r>
                        <a:rPr/>
                        <a:t>Permian</a:t>
                      </a:r>
                    </a:p>
                  </a:txBody>
                </a:tc>
                <a:tc>
                  <a:txBody>
                    <a:bodyPr/>
                    <a:lstStyle/>
                    <a:p>
                      <a:pPr lvl="0" indent="0" marL="0">
                        <a:buNone/>
                      </a:pPr>
                      <a:r>
                        <a:rPr/>
                        <a:t>Wolfcamp average near </a:t>
                      </a:r>
                      <a:r>
                        <a:rPr>
                          <a:latin typeface="Courier"/>
                        </a:rPr>
                        <a:t>14 ppm</a:t>
                      </a:r>
                      <a:r>
                        <a:rPr/>
                        <a:t> Li</a:t>
                      </a:r>
                    </a:p>
                  </a:txBody>
                </a:tc>
                <a:tc>
                  <a:txBody>
                    <a:bodyPr/>
                    <a:lstStyle/>
                    <a:p>
                      <a:pPr lvl="0" indent="0" marL="0">
                        <a:buNone/>
                      </a:pPr>
                      <a:r>
                        <a:rPr>
                          <a:latin typeface="Courier"/>
                        </a:rPr>
                        <a:t>&lt;25-140 g/L</a:t>
                      </a:r>
                      <a:r>
                        <a:rPr/>
                        <a:t> TDS range</a:t>
                      </a:r>
                    </a:p>
                  </a:txBody>
                </a:tc>
                <a:tc>
                  <a:txBody>
                    <a:bodyPr/>
                    <a:lstStyle/>
                    <a:p>
                      <a:pPr lvl="0" indent="0" marL="0">
                        <a:buNone/>
                      </a:pPr>
                      <a:r>
                        <a:rPr/>
                        <a:t>High water volume, lower Li grade</a:t>
                      </a:r>
                    </a:p>
                  </a:txBody>
                </a:tc>
              </a:tr>
              <a:tr h="0">
                <a:tc>
                  <a:txBody>
                    <a:bodyPr/>
                    <a:lstStyle/>
                    <a:p>
                      <a:pPr lvl="0" indent="0" marL="0">
                        <a:buNone/>
                      </a:pPr>
                      <a:r>
                        <a:rPr/>
                        <a:t>Williston</a:t>
                      </a:r>
                    </a:p>
                  </a:txBody>
                </a:tc>
                <a:tc>
                  <a:txBody>
                    <a:bodyPr/>
                    <a:lstStyle/>
                    <a:p>
                      <a:pPr lvl="0" indent="0" marL="0">
                        <a:buNone/>
                      </a:pPr>
                      <a:r>
                        <a:rPr/>
                        <a:t>Brines can exceed </a:t>
                      </a:r>
                      <a:r>
                        <a:rPr>
                          <a:latin typeface="Courier"/>
                        </a:rPr>
                        <a:t>100 mg/L</a:t>
                      </a:r>
                      <a:r>
                        <a:rPr/>
                        <a:t> Li</a:t>
                      </a:r>
                    </a:p>
                  </a:txBody>
                </a:tc>
                <a:tc>
                  <a:txBody>
                    <a:bodyPr/>
                    <a:lstStyle/>
                    <a:p>
                      <a:pPr lvl="0" indent="0" marL="0">
                        <a:buNone/>
                      </a:pPr>
                      <a:r>
                        <a:rPr/>
                        <a:t>Bakken/Three Forks near </a:t>
                      </a:r>
                      <a:r>
                        <a:rPr>
                          <a:latin typeface="Courier"/>
                        </a:rPr>
                        <a:t>308 g/L</a:t>
                      </a:r>
                      <a:r>
                        <a:rPr/>
                        <a:t> TDS</a:t>
                      </a:r>
                    </a:p>
                  </a:txBody>
                </a:tc>
                <a:tc>
                  <a:txBody>
                    <a:bodyPr/>
                    <a:lstStyle/>
                    <a:p>
                      <a:pPr lvl="0" indent="0" marL="0">
                        <a:buNone/>
                      </a:pPr>
                      <a:r>
                        <a:rPr/>
                        <a:t>Salinity can dominate pretreatment</a:t>
                      </a:r>
                    </a:p>
                  </a:txBody>
                </a:tc>
              </a:tr>
              <a:tr h="0">
                <a:tc>
                  <a:txBody>
                    <a:bodyPr/>
                    <a:lstStyle/>
                    <a:p>
                      <a:pPr lvl="0" indent="0" marL="0">
                        <a:buNone/>
                      </a:pPr>
                      <a:r>
                        <a:rPr/>
                        <a:t>Smackover</a:t>
                      </a:r>
                    </a:p>
                  </a:txBody>
                </a:tc>
                <a:tc>
                  <a:txBody>
                    <a:bodyPr/>
                    <a:lstStyle/>
                    <a:p>
                      <a:pPr lvl="0" indent="0" marL="0">
                        <a:buNone/>
                      </a:pPr>
                      <a:r>
                        <a:rPr/>
                        <a:t>Observed Li about </a:t>
                      </a:r>
                      <a:r>
                        <a:rPr>
                          <a:latin typeface="Courier"/>
                        </a:rPr>
                        <a:t>1-477 mg/L</a:t>
                      </a:r>
                    </a:p>
                  </a:txBody>
                </a:tc>
                <a:tc>
                  <a:txBody>
                    <a:bodyPr/>
                    <a:lstStyle/>
                    <a:p>
                      <a:pPr lvl="0" indent="0" marL="0">
                        <a:buNone/>
                      </a:pPr>
                      <a:r>
                        <a:rPr>
                          <a:latin typeface="Courier"/>
                        </a:rPr>
                        <a:t>156,000-340,000 mg/L</a:t>
                      </a:r>
                      <a:r>
                        <a:rPr/>
                        <a:t> TDS</a:t>
                      </a:r>
                    </a:p>
                  </a:txBody>
                </a:tc>
                <a:tc>
                  <a:txBody>
                    <a:bodyPr/>
                    <a:lstStyle/>
                    <a:p>
                      <a:pPr lvl="0" indent="0" marL="0">
                        <a:buNone/>
                      </a:pPr>
                      <a:r>
                        <a:rPr/>
                        <a:t>Premium but thermodynamically hard</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None</a:t>
            </a:r>
          </a:p>
          <a:p>
            <a:pPr lvl="0" indent="0" marL="1270000">
              <a:buNone/>
            </a:pPr>
            <a:r>
              <a:rPr sz="2000"/>
              <a:t>The case study starts with basin screening because the same extraction train will not behave the same across these feeds.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1.2 Why Smackover Is The Flagship Case</a:t>
            </a:r>
          </a:p>
        </p:txBody>
      </p:sp>
      <p:sp>
        <p:nvSpPr>
          <p:cNvPr id="4" name="Text Placeholder 3"/>
          <p:cNvSpPr>
            <a:spLocks noGrp="1"/>
          </p:cNvSpPr>
          <p:nvPr>
            <p:ph idx="2" sz="half" type="body"/>
          </p:nvPr>
        </p:nvSpPr>
        <p:spPr/>
        <p:txBody>
          <a:bodyPr/>
          <a:lstStyle/>
          <a:p>
            <a:pPr lvl="0" indent="0" marL="0">
              <a:buNone/>
            </a:pPr>
            <a:r>
              <a:rPr b="1"/>
              <a:t>Why this location makes sense</a:t>
            </a:r>
          </a:p>
          <a:p>
            <a:pPr lvl="0"/>
            <a:r>
              <a:rPr/>
              <a:t>Southern Arkansas Smackover combines high Li with very high salinity, so the chemistry is both valuable and hard.</a:t>
            </a:r>
          </a:p>
          <a:p>
            <a:pPr lvl="0"/>
            <a:r>
              <a:rPr/>
              <a:t>Smackover and Marcellus are the more favorable U.S. plays on major-metals-to-lithium and divalent-to-lithium ratios in the cited screening work.</a:t>
            </a:r>
          </a:p>
          <a:p>
            <a:pPr lvl="0"/>
            <a:r>
              <a:rPr/>
              <a:t>Arkansas already has commercial bromine and brine-handling infrastructure.</a:t>
            </a:r>
          </a:p>
          <a:p>
            <a:pPr lvl="0"/>
            <a:r>
              <a:rPr/>
              <a:t>That combination connects chemistry, location, and process deployment.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Signal</a:t>
                      </a:r>
                    </a:p>
                  </a:txBody>
                  <a:tcPr/>
                </a:tc>
                <a:tc>
                  <a:txBody>
                    <a:bodyPr/>
                    <a:lstStyle/>
                    <a:p>
                      <a:pPr lvl="0" indent="0" marL="0">
                        <a:buNone/>
                      </a:pPr>
                      <a:r>
                        <a:rPr/>
                        <a:t>Smackover basis</a:t>
                      </a:r>
                    </a:p>
                  </a:txBody>
                  <a:tcPr/>
                </a:tc>
              </a:tr>
              <a:tr h="0">
                <a:tc>
                  <a:txBody>
                    <a:bodyPr/>
                    <a:lstStyle/>
                    <a:p>
                      <a:pPr lvl="0" indent="0" marL="0">
                        <a:buNone/>
                      </a:pPr>
                      <a:r>
                        <a:rPr/>
                        <a:t>Li range</a:t>
                      </a:r>
                    </a:p>
                  </a:txBody>
                </a:tc>
                <a:tc>
                  <a:txBody>
                    <a:bodyPr/>
                    <a:lstStyle/>
                    <a:p>
                      <a:pPr lvl="0" indent="0" marL="0">
                        <a:buNone/>
                      </a:pPr>
                      <a:r>
                        <a:rPr/>
                        <a:t>observed wells span about </a:t>
                      </a:r>
                      <a:r>
                        <a:rPr>
                          <a:latin typeface="Courier"/>
                        </a:rPr>
                        <a:t>1-477 mg/L</a:t>
                      </a:r>
                    </a:p>
                  </a:txBody>
                </a:tc>
              </a:tr>
              <a:tr h="0">
                <a:tc>
                  <a:txBody>
                    <a:bodyPr/>
                    <a:lstStyle/>
                    <a:p>
                      <a:pPr lvl="0" indent="0" marL="0">
                        <a:buNone/>
                      </a:pPr>
                      <a:r>
                        <a:rPr/>
                        <a:t>TDS range</a:t>
                      </a:r>
                    </a:p>
                  </a:txBody>
                </a:tc>
                <a:tc>
                  <a:txBody>
                    <a:bodyPr/>
                    <a:lstStyle/>
                    <a:p>
                      <a:pPr lvl="0" indent="0" marL="0">
                        <a:buNone/>
                      </a:pPr>
                      <a:r>
                        <a:rPr/>
                        <a:t>observed samples span </a:t>
                      </a:r>
                      <a:r>
                        <a:rPr>
                          <a:latin typeface="Courier"/>
                        </a:rPr>
                        <a:t>156,000-340,000 mg/L</a:t>
                      </a:r>
                    </a:p>
                  </a:txBody>
                </a:tc>
              </a:tr>
              <a:tr h="0">
                <a:tc>
                  <a:txBody>
                    <a:bodyPr/>
                    <a:lstStyle/>
                    <a:p>
                      <a:pPr lvl="0" indent="0" marL="0">
                        <a:buNone/>
                      </a:pPr>
                      <a:r>
                        <a:rPr/>
                        <a:t>Median TDS</a:t>
                      </a:r>
                    </a:p>
                  </a:txBody>
                </a:tc>
                <a:tc>
                  <a:txBody>
                    <a:bodyPr/>
                    <a:lstStyle/>
                    <a:p>
                      <a:pPr lvl="0" indent="0" marL="0">
                        <a:buNone/>
                      </a:pPr>
                      <a:r>
                        <a:rPr/>
                        <a:t>current observation-set median is </a:t>
                      </a:r>
                      <a:r>
                        <a:rPr>
                          <a:latin typeface="Courier"/>
                        </a:rPr>
                        <a:t>305,000 mg/L</a:t>
                      </a:r>
                    </a:p>
                  </a:txBody>
                </a:tc>
              </a:tr>
              <a:tr h="0">
                <a:tc>
                  <a:txBody>
                    <a:bodyPr/>
                    <a:lstStyle/>
                    <a:p>
                      <a:pPr lvl="0" indent="0" marL="0">
                        <a:buNone/>
                      </a:pPr>
                      <a:r>
                        <a:rPr/>
                        <a:t>Infrastructure</a:t>
                      </a:r>
                    </a:p>
                  </a:txBody>
                </a:tc>
                <a:tc>
                  <a:txBody>
                    <a:bodyPr/>
                    <a:lstStyle/>
                    <a:p>
                      <a:pPr lvl="0" indent="0" marL="0">
                        <a:buNone/>
                      </a:pPr>
                      <a:r>
                        <a:rPr/>
                        <a:t>existing Arkansas bromine/brine operations</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1.3 Smackover Feed Basis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231900"/>
                <a:gridCol w="1231900"/>
                <a:gridCol w="1651000"/>
                <a:gridCol w="1651000"/>
                <a:gridCol w="1231900"/>
                <a:gridCol w="1231900"/>
              </a:tblGrid>
              <a:tr h="0">
                <a:tc>
                  <a:txBody>
                    <a:bodyPr/>
                    <a:lstStyle/>
                    <a:p>
                      <a:pPr lvl="0" indent="0" marL="0">
                        <a:buNone/>
                      </a:pPr>
                      <a:r>
                        <a:rPr/>
                        <a:t>Case</a:t>
                      </a:r>
                    </a:p>
                  </a:txBody>
                  <a:tcPr/>
                </a:tc>
                <a:tc>
                  <a:txBody>
                    <a:bodyPr/>
                    <a:lstStyle/>
                    <a:p>
                      <a:pPr lvl="0" indent="0" marL="0">
                        <a:buNone/>
                      </a:pPr>
                      <a:r>
                        <a:rPr/>
                        <a:t>Row</a:t>
                      </a:r>
                    </a:p>
                  </a:txBody>
                  <a:tcPr/>
                </a:tc>
                <a:tc>
                  <a:txBody>
                    <a:bodyPr/>
                    <a:lstStyle/>
                    <a:p>
                      <a:pPr lvl="0" indent="0" marL="0" algn="r">
                        <a:buNone/>
                      </a:pPr>
                      <a:r>
                        <a:rPr/>
                        <a:t>Li (mg/L)</a:t>
                      </a:r>
                    </a:p>
                  </a:txBody>
                  <a:tcPr/>
                </a:tc>
                <a:tc>
                  <a:txBody>
                    <a:bodyPr/>
                    <a:lstStyle/>
                    <a:p>
                      <a:pPr lvl="0" indent="0" marL="0" algn="r">
                        <a:buNone/>
                      </a:pPr>
                      <a:r>
                        <a:rPr/>
                        <a:t>TDS (mg/L)</a:t>
                      </a:r>
                    </a:p>
                  </a:txBody>
                  <a:tcPr/>
                </a:tc>
                <a:tc>
                  <a:txBody>
                    <a:bodyPr/>
                    <a:lstStyle/>
                    <a:p>
                      <a:pPr lvl="0" indent="0" marL="0">
                        <a:buNone/>
                      </a:pPr>
                      <a:r>
                        <a:rPr/>
                        <a:t>Na/Ca/Mg (mg/L)</a:t>
                      </a:r>
                    </a:p>
                  </a:txBody>
                  <a:tcPr/>
                </a:tc>
                <a:tc>
                  <a:txBody>
                    <a:bodyPr/>
                    <a:lstStyle/>
                    <a:p>
                      <a:pPr lvl="0" indent="0" marL="0">
                        <a:buNone/>
                      </a:pPr>
                      <a:r>
                        <a:rPr/>
                        <a:t>Role</a:t>
                      </a:r>
                    </a:p>
                  </a:txBody>
                  <a:tcPr/>
                </a:tc>
              </a:tr>
              <a:tr h="0">
                <a:tc>
                  <a:txBody>
                    <a:bodyPr/>
                    <a:lstStyle/>
                    <a:p>
                      <a:pPr lvl="0" indent="0" marL="0">
                        <a:buNone/>
                      </a:pPr>
                      <a:r>
                        <a:rPr/>
                        <a:t>Low observed</a:t>
                      </a:r>
                    </a:p>
                  </a:txBody>
                </a:tc>
                <a:tc>
                  <a:txBody>
                    <a:bodyPr/>
                    <a:lstStyle/>
                    <a:p>
                      <a:pPr lvl="0" indent="0" marL="0">
                        <a:buNone/>
                      </a:pPr>
                      <a:r>
                        <a:rPr>
                          <a:latin typeface="Courier"/>
                        </a:rPr>
                        <a:t>SH-2</a:t>
                      </a:r>
                    </a:p>
                  </a:txBody>
                </a:tc>
                <a:tc>
                  <a:txBody>
                    <a:bodyPr/>
                    <a:lstStyle/>
                    <a:p>
                      <a:pPr lvl="0" indent="0" marL="0" algn="r">
                        <a:buNone/>
                      </a:pPr>
                      <a:r>
                        <a:rPr>
                          <a:latin typeface="Courier"/>
                        </a:rPr>
                        <a:t>11.7</a:t>
                      </a:r>
                    </a:p>
                  </a:txBody>
                </a:tc>
                <a:tc>
                  <a:txBody>
                    <a:bodyPr/>
                    <a:lstStyle/>
                    <a:p>
                      <a:pPr lvl="0" indent="0" marL="0" algn="r">
                        <a:buNone/>
                      </a:pPr>
                      <a:r>
                        <a:rPr>
                          <a:latin typeface="Courier"/>
                        </a:rPr>
                        <a:t>156,000</a:t>
                      </a:r>
                    </a:p>
                  </a:txBody>
                </a:tc>
                <a:tc>
                  <a:txBody>
                    <a:bodyPr/>
                    <a:lstStyle/>
                    <a:p>
                      <a:pPr lvl="0" indent="0" marL="0">
                        <a:buNone/>
                      </a:pPr>
                      <a:r>
                        <a:rPr>
                          <a:latin typeface="Courier"/>
                        </a:rPr>
                        <a:t>37,100 / 13,900 / 2,250</a:t>
                      </a:r>
                    </a:p>
                  </a:txBody>
                </a:tc>
                <a:tc>
                  <a:txBody>
                    <a:bodyPr/>
                    <a:lstStyle/>
                    <a:p>
                      <a:pPr lvl="0" indent="0" marL="0">
                        <a:buNone/>
                      </a:pPr>
                      <a:r>
                        <a:rPr/>
                        <a:t>Lower source bound</a:t>
                      </a:r>
                    </a:p>
                  </a:txBody>
                </a:tc>
              </a:tr>
              <a:tr h="0">
                <a:tc>
                  <a:txBody>
                    <a:bodyPr/>
                    <a:lstStyle/>
                    <a:p>
                      <a:pPr lvl="0" indent="0" marL="0">
                        <a:buNone/>
                      </a:pPr>
                      <a:r>
                        <a:rPr/>
                        <a:t>Base observed</a:t>
                      </a:r>
                    </a:p>
                  </a:txBody>
                </a:tc>
                <a:tc>
                  <a:txBody>
                    <a:bodyPr/>
                    <a:lstStyle/>
                    <a:p>
                      <a:pPr lvl="0" indent="0" marL="0">
                        <a:buNone/>
                      </a:pPr>
                      <a:r>
                        <a:rPr>
                          <a:latin typeface="Courier"/>
                        </a:rPr>
                        <a:t>MS-2</a:t>
                      </a:r>
                    </a:p>
                  </a:txBody>
                </a:tc>
                <a:tc>
                  <a:txBody>
                    <a:bodyPr/>
                    <a:lstStyle/>
                    <a:p>
                      <a:pPr lvl="0" indent="0" marL="0" algn="r">
                        <a:buNone/>
                      </a:pPr>
                      <a:r>
                        <a:rPr>
                          <a:latin typeface="Courier"/>
                        </a:rPr>
                        <a:t>168</a:t>
                      </a:r>
                    </a:p>
                  </a:txBody>
                </a:tc>
                <a:tc>
                  <a:txBody>
                    <a:bodyPr/>
                    <a:lstStyle/>
                    <a:p>
                      <a:pPr lvl="0" indent="0" marL="0" algn="r">
                        <a:buNone/>
                      </a:pPr>
                      <a:r>
                        <a:rPr>
                          <a:latin typeface="Courier"/>
                        </a:rPr>
                        <a:t>305,000</a:t>
                      </a:r>
                    </a:p>
                  </a:txBody>
                </a:tc>
                <a:tc>
                  <a:txBody>
                    <a:bodyPr/>
                    <a:lstStyle/>
                    <a:p>
                      <a:pPr lvl="0" indent="0" marL="0">
                        <a:buNone/>
                      </a:pPr>
                      <a:r>
                        <a:rPr>
                          <a:latin typeface="Courier"/>
                        </a:rPr>
                        <a:t>64,100 / 36,900 / 3,310</a:t>
                      </a:r>
                    </a:p>
                  </a:txBody>
                </a:tc>
                <a:tc>
                  <a:txBody>
                    <a:bodyPr/>
                    <a:lstStyle/>
                    <a:p>
                      <a:pPr lvl="0" indent="0" marL="0">
                        <a:buNone/>
                      </a:pPr>
                      <a:r>
                        <a:rPr/>
                        <a:t>Median-TDS base proxy</a:t>
                      </a:r>
                    </a:p>
                  </a:txBody>
                </a:tc>
              </a:tr>
              <a:tr h="0">
                <a:tc>
                  <a:txBody>
                    <a:bodyPr/>
                    <a:lstStyle/>
                    <a:p>
                      <a:pPr lvl="0" indent="0" marL="0">
                        <a:buNone/>
                      </a:pPr>
                      <a:r>
                        <a:rPr/>
                        <a:t>High observed</a:t>
                      </a:r>
                    </a:p>
                  </a:txBody>
                </a:tc>
                <a:tc>
                  <a:txBody>
                    <a:bodyPr/>
                    <a:lstStyle/>
                    <a:p>
                      <a:pPr lvl="0" indent="0" marL="0">
                        <a:buNone/>
                      </a:pPr>
                      <a:r>
                        <a:rPr>
                          <a:latin typeface="Courier"/>
                        </a:rPr>
                        <a:t>BR-2</a:t>
                      </a:r>
                    </a:p>
                  </a:txBody>
                </a:tc>
                <a:tc>
                  <a:txBody>
                    <a:bodyPr/>
                    <a:lstStyle/>
                    <a:p>
                      <a:pPr lvl="0" indent="0" marL="0" algn="r">
                        <a:buNone/>
                      </a:pPr>
                      <a:r>
                        <a:rPr>
                          <a:latin typeface="Courier"/>
                        </a:rPr>
                        <a:t>252</a:t>
                      </a:r>
                    </a:p>
                  </a:txBody>
                </a:tc>
                <a:tc>
                  <a:txBody>
                    <a:bodyPr/>
                    <a:lstStyle/>
                    <a:p>
                      <a:pPr lvl="0" indent="0" marL="0" algn="r">
                        <a:buNone/>
                      </a:pPr>
                      <a:r>
                        <a:rPr>
                          <a:latin typeface="Courier"/>
                        </a:rPr>
                        <a:t>340,000</a:t>
                      </a:r>
                    </a:p>
                  </a:txBody>
                </a:tc>
                <a:tc>
                  <a:txBody>
                    <a:bodyPr/>
                    <a:lstStyle/>
                    <a:p>
                      <a:pPr lvl="0" indent="0" marL="0">
                        <a:buNone/>
                      </a:pPr>
                      <a:r>
                        <a:rPr>
                          <a:latin typeface="Courier"/>
                        </a:rPr>
                        <a:t>70,800 / 39,900 / 3,130</a:t>
                      </a:r>
                    </a:p>
                  </a:txBody>
                </a:tc>
                <a:tc>
                  <a:txBody>
                    <a:bodyPr/>
                    <a:lstStyle/>
                    <a:p>
                      <a:pPr lvl="0" indent="0" marL="0">
                        <a:buNone/>
                      </a:pPr>
                      <a:r>
                        <a:rPr/>
                        <a:t>High-TDS/high-Li proxy</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None</a:t>
            </a:r>
          </a:p>
          <a:p>
            <a:pPr lvl="0" indent="0" marL="1270000">
              <a:buNone/>
            </a:pPr>
            <a:r>
              <a:rPr sz="2000"/>
              <a:t>These are source rows from the USGS southern-Arkansas Smackover data release after duplicate and blank rows are excluded. The separate </a:t>
            </a:r>
            <a:r>
              <a:rPr sz="2000">
                <a:latin typeface="Courier"/>
              </a:rPr>
              <a:t>100/200/400 mg/L Li</a:t>
            </a:r>
            <a:r>
              <a:rPr sz="2000"/>
              <a:t> rows are sensitivity cases, not direct well samples.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1.4 Selected Base Brine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Field</a:t>
                      </a:r>
                    </a:p>
                  </a:txBody>
                  <a:tcPr/>
                </a:tc>
                <a:tc>
                  <a:txBody>
                    <a:bodyPr/>
                    <a:lstStyle/>
                    <a:p>
                      <a:pPr lvl="0" indent="0" marL="0">
                        <a:buNone/>
                      </a:pPr>
                      <a:r>
                        <a:rPr/>
                        <a:t>Value</a:t>
                      </a:r>
                    </a:p>
                  </a:txBody>
                  <a:tcPr/>
                </a:tc>
              </a:tr>
              <a:tr h="0">
                <a:tc>
                  <a:txBody>
                    <a:bodyPr/>
                    <a:lstStyle/>
                    <a:p>
                      <a:pPr lvl="0" indent="0" marL="0">
                        <a:buNone/>
                      </a:pPr>
                      <a:r>
                        <a:rPr/>
                        <a:t>Source row</a:t>
                      </a:r>
                    </a:p>
                  </a:txBody>
                </a:tc>
                <a:tc>
                  <a:txBody>
                    <a:bodyPr/>
                    <a:lstStyle/>
                    <a:p>
                      <a:pPr lvl="0" indent="0" marL="0">
                        <a:buNone/>
                      </a:pPr>
                      <a:r>
                        <a:rPr>
                          <a:latin typeface="Courier"/>
                        </a:rPr>
                        <a:t>MS-2 / MSPU 4-W1</a:t>
                      </a:r>
                    </a:p>
                  </a:txBody>
                </a:tc>
              </a:tr>
              <a:tr h="0">
                <a:tc>
                  <a:txBody>
                    <a:bodyPr/>
                    <a:lstStyle/>
                    <a:p>
                      <a:pPr lvl="0" indent="0" marL="0">
                        <a:buNone/>
                      </a:pPr>
                      <a:r>
                        <a:rPr/>
                        <a:t>Formation</a:t>
                      </a:r>
                    </a:p>
                  </a:txBody>
                </a:tc>
                <a:tc>
                  <a:txBody>
                    <a:bodyPr/>
                    <a:lstStyle/>
                    <a:p>
                      <a:pPr lvl="0" indent="0" marL="0">
                        <a:buNone/>
                      </a:pPr>
                      <a:r>
                        <a:rPr>
                          <a:latin typeface="Courier"/>
                        </a:rPr>
                        <a:t>Smackover</a:t>
                      </a:r>
                    </a:p>
                  </a:txBody>
                </a:tc>
              </a:tr>
              <a:tr h="0">
                <a:tc>
                  <a:txBody>
                    <a:bodyPr/>
                    <a:lstStyle/>
                    <a:p>
                      <a:pPr lvl="0" indent="0" marL="0">
                        <a:buNone/>
                      </a:pPr>
                      <a:r>
                        <a:rPr/>
                        <a:t>Li</a:t>
                      </a:r>
                    </a:p>
                  </a:txBody>
                </a:tc>
                <a:tc>
                  <a:txBody>
                    <a:bodyPr/>
                    <a:lstStyle/>
                    <a:p>
                      <a:pPr lvl="0" indent="0" marL="0">
                        <a:buNone/>
                      </a:pPr>
                      <a:r>
                        <a:rPr>
                          <a:latin typeface="Courier"/>
                        </a:rPr>
                        <a:t>168 mg/L</a:t>
                      </a:r>
                    </a:p>
                  </a:txBody>
                </a:tc>
              </a:tr>
              <a:tr h="0">
                <a:tc>
                  <a:txBody>
                    <a:bodyPr/>
                    <a:lstStyle/>
                    <a:p>
                      <a:pPr lvl="0" indent="0" marL="0">
                        <a:buNone/>
                      </a:pPr>
                      <a:r>
                        <a:rPr/>
                        <a:t>TDS</a:t>
                      </a:r>
                    </a:p>
                  </a:txBody>
                </a:tc>
                <a:tc>
                  <a:txBody>
                    <a:bodyPr/>
                    <a:lstStyle/>
                    <a:p>
                      <a:pPr lvl="0" indent="0" marL="0">
                        <a:buNone/>
                      </a:pPr>
                      <a:r>
                        <a:rPr>
                          <a:latin typeface="Courier"/>
                        </a:rPr>
                        <a:t>305,000 mg/L</a:t>
                      </a:r>
                    </a:p>
                  </a:txBody>
                </a:tc>
              </a:tr>
              <a:tr h="0">
                <a:tc>
                  <a:txBody>
                    <a:bodyPr/>
                    <a:lstStyle/>
                    <a:p>
                      <a:pPr lvl="0" indent="0" marL="0">
                        <a:buNone/>
                      </a:pPr>
                      <a:r>
                        <a:rPr/>
                        <a:t>Na / Ca / Mg</a:t>
                      </a:r>
                    </a:p>
                  </a:txBody>
                </a:tc>
                <a:tc>
                  <a:txBody>
                    <a:bodyPr/>
                    <a:lstStyle/>
                    <a:p>
                      <a:pPr lvl="0" indent="0" marL="0">
                        <a:buNone/>
                      </a:pPr>
                      <a:r>
                        <a:rPr>
                          <a:latin typeface="Courier"/>
                        </a:rPr>
                        <a:t>64,100 / 36,900 / 3,310 mg/L</a:t>
                      </a:r>
                    </a:p>
                  </a:txBody>
                </a:tc>
              </a:tr>
              <a:tr h="0">
                <a:tc>
                  <a:txBody>
                    <a:bodyPr/>
                    <a:lstStyle/>
                    <a:p>
                      <a:pPr lvl="0" indent="0" marL="0">
                        <a:buNone/>
                      </a:pPr>
                      <a:r>
                        <a:rPr/>
                        <a:t>Cl / Br</a:t>
                      </a:r>
                    </a:p>
                  </a:txBody>
                </a:tc>
                <a:tc>
                  <a:txBody>
                    <a:bodyPr/>
                    <a:lstStyle/>
                    <a:p>
                      <a:pPr lvl="0" indent="0" marL="0">
                        <a:buNone/>
                      </a:pPr>
                      <a:r>
                        <a:rPr>
                          <a:latin typeface="Courier"/>
                        </a:rPr>
                        <a:t>174,000 / 2,700 mg/L</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None</a:t>
            </a:r>
          </a:p>
          <a:p>
            <a:pPr lvl="0" indent="0" marL="1270000">
              <a:buNone/>
            </a:pPr>
            <a:r>
              <a:rPr sz="2000"/>
              <a:t>The feed is Smackover-specific. The extraction chemistry is Rezaee DES/TOPO. The model couples a source-backed brine to a literature-backed Li/Na extraction chemistry without claiming a fully calibrated Arkansas extraction experiment.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1.5 Critical Minerals And REE Boundary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Group</a:t>
                      </a:r>
                    </a:p>
                  </a:txBody>
                  <a:tcPr/>
                </a:tc>
                <a:tc>
                  <a:txBody>
                    <a:bodyPr/>
                    <a:lstStyle/>
                    <a:p>
                      <a:pPr lvl="0" indent="0" marL="0">
                        <a:buNone/>
                      </a:pPr>
                      <a:r>
                        <a:rPr/>
                        <a:t>What the Smackover source table supports</a:t>
                      </a:r>
                    </a:p>
                  </a:txBody>
                  <a:tcPr/>
                </a:tc>
                <a:tc>
                  <a:txBody>
                    <a:bodyPr/>
                    <a:lstStyle/>
                    <a:p>
                      <a:pPr lvl="0" indent="0" marL="0">
                        <a:buNone/>
                      </a:pPr>
                      <a:r>
                        <a:rPr/>
                        <a:t>How to present it</a:t>
                      </a:r>
                    </a:p>
                  </a:txBody>
                  <a:tcPr/>
                </a:tc>
              </a:tr>
              <a:tr h="0">
                <a:tc>
                  <a:txBody>
                    <a:bodyPr/>
                    <a:lstStyle/>
                    <a:p>
                      <a:pPr lvl="0" indent="0" marL="0">
                        <a:buNone/>
                      </a:pPr>
                      <a:r>
                        <a:rPr/>
                        <a:t>Reported trace fields</a:t>
                      </a:r>
                    </a:p>
                  </a:txBody>
                </a:tc>
                <a:tc>
                  <a:txBody>
                    <a:bodyPr/>
                    <a:lstStyle/>
                    <a:p>
                      <a:pPr lvl="0" indent="0" marL="0">
                        <a:buNone/>
                      </a:pPr>
                      <a:r>
                        <a:rPr/>
                        <a:t>Fe, Mn, Zn, Al, As, Be, Cd, Co, Cu, Cr, Hg, Mo, Ni, Pb, U, V</a:t>
                      </a:r>
                    </a:p>
                  </a:txBody>
                </a:tc>
                <a:tc>
                  <a:txBody>
                    <a:bodyPr/>
                    <a:lstStyle/>
                    <a:p>
                      <a:pPr lvl="0" indent="0" marL="0">
                        <a:buNone/>
                      </a:pPr>
                      <a:r>
                        <a:rPr/>
                        <a:t>Use as trace/pretreatment context, with censoring caveats</a:t>
                      </a:r>
                    </a:p>
                  </a:txBody>
                </a:tc>
              </a:tr>
              <a:tr h="0">
                <a:tc>
                  <a:txBody>
                    <a:bodyPr/>
                    <a:lstStyle/>
                    <a:p>
                      <a:pPr lvl="0" indent="0" marL="0">
                        <a:buNone/>
                      </a:pPr>
                      <a:r>
                        <a:rPr/>
                        <a:t>REE</a:t>
                      </a:r>
                    </a:p>
                  </a:txBody>
                </a:tc>
                <a:tc>
                  <a:txBody>
                    <a:bodyPr/>
                    <a:lstStyle/>
                    <a:p>
                      <a:pPr lvl="0" indent="0" marL="0">
                        <a:buNone/>
                      </a:pPr>
                      <a:r>
                        <a:rPr>
                          <a:latin typeface="Courier"/>
                        </a:rPr>
                        <a:t>not_reported</a:t>
                      </a:r>
                      <a:r>
                        <a:rPr/>
                        <a:t> in the source table</a:t>
                      </a:r>
                    </a:p>
                  </a:txBody>
                </a:tc>
                <a:tc>
                  <a:txBody>
                    <a:bodyPr/>
                    <a:lstStyle/>
                    <a:p>
                      <a:pPr lvl="0" indent="0" marL="0">
                        <a:buNone/>
                      </a:pPr>
                      <a:r>
                        <a:rPr/>
                        <a:t>Do not infer; make this a future-data need</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1.6 Variables The Case Must Vary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Axis</a:t>
                      </a:r>
                    </a:p>
                  </a:txBody>
                  <a:tcPr/>
                </a:tc>
                <a:tc>
                  <a:txBody>
                    <a:bodyPr/>
                    <a:lstStyle/>
                    <a:p>
                      <a:pPr lvl="0" indent="0" marL="0">
                        <a:buNone/>
                      </a:pPr>
                      <a:r>
                        <a:rPr/>
                        <a:t>Why it matters</a:t>
                      </a:r>
                    </a:p>
                  </a:txBody>
                  <a:tcPr/>
                </a:tc>
                <a:tc>
                  <a:txBody>
                    <a:bodyPr/>
                    <a:lstStyle/>
                    <a:p>
                      <a:pPr lvl="0" indent="0" marL="0">
                        <a:buNone/>
                      </a:pPr>
                      <a:r>
                        <a:rPr/>
                        <a:t>Process consequence</a:t>
                      </a:r>
                    </a:p>
                  </a:txBody>
                  <a:tcPr/>
                </a:tc>
              </a:tr>
              <a:tr h="0">
                <a:tc>
                  <a:txBody>
                    <a:bodyPr/>
                    <a:lstStyle/>
                    <a:p>
                      <a:pPr lvl="0" indent="0" marL="0">
                        <a:buNone/>
                      </a:pPr>
                      <a:r>
                        <a:rPr/>
                        <a:t>Li concentration</a:t>
                      </a:r>
                    </a:p>
                  </a:txBody>
                </a:tc>
                <a:tc>
                  <a:txBody>
                    <a:bodyPr/>
                    <a:lstStyle/>
                    <a:p>
                      <a:pPr lvl="0" indent="0" marL="0">
                        <a:buNone/>
                      </a:pPr>
                      <a:r>
                        <a:rPr/>
                        <a:t>Sets value and concentration driving force</a:t>
                      </a:r>
                    </a:p>
                  </a:txBody>
                </a:tc>
                <a:tc>
                  <a:txBody>
                    <a:bodyPr/>
                    <a:lstStyle/>
                    <a:p>
                      <a:pPr lvl="0" indent="0" marL="0">
                        <a:buNone/>
                      </a:pPr>
                      <a:r>
                        <a:rPr/>
                        <a:t>Changes recovery target and stage count</a:t>
                      </a:r>
                    </a:p>
                  </a:txBody>
                </a:tc>
              </a:tr>
              <a:tr h="0">
                <a:tc>
                  <a:txBody>
                    <a:bodyPr/>
                    <a:lstStyle/>
                    <a:p>
                      <a:pPr lvl="0" indent="0" marL="0">
                        <a:buNone/>
                      </a:pPr>
                      <a:r>
                        <a:rPr/>
                        <a:t>Na/Li ratio</a:t>
                      </a:r>
                    </a:p>
                  </a:txBody>
                </a:tc>
                <a:tc>
                  <a:txBody>
                    <a:bodyPr/>
                    <a:lstStyle/>
                    <a:p>
                      <a:pPr lvl="0" indent="0" marL="0">
                        <a:buNone/>
                      </a:pPr>
                      <a:r>
                        <a:rPr/>
                        <a:t>Defines the clean post-pretreatment competition problem</a:t>
                      </a:r>
                    </a:p>
                  </a:txBody>
                </a:tc>
                <a:tc>
                  <a:txBody>
                    <a:bodyPr/>
                    <a:lstStyle/>
                    <a:p>
                      <a:pPr lvl="0" indent="0" marL="0">
                        <a:buNone/>
                      </a:pPr>
                      <a:r>
                        <a:rPr/>
                        <a:t>Changes Li/Na selectivity and sodium co-transfer</a:t>
                      </a:r>
                    </a:p>
                  </a:txBody>
                </a:tc>
              </a:tr>
              <a:tr h="0">
                <a:tc>
                  <a:txBody>
                    <a:bodyPr/>
                    <a:lstStyle/>
                    <a:p>
                      <a:pPr lvl="0" indent="0" marL="0">
                        <a:buNone/>
                      </a:pPr>
                      <a:r>
                        <a:rPr/>
                        <a:t>pH and temperature</a:t>
                      </a:r>
                    </a:p>
                  </a:txBody>
                </a:tc>
                <a:tc>
                  <a:txBody>
                    <a:bodyPr/>
                    <a:lstStyle/>
                    <a:p>
                      <a:pPr lvl="0" indent="0" marL="0">
                        <a:buNone/>
                      </a:pPr>
                      <a:r>
                        <a:rPr/>
                        <a:t>Rezaee reports these as major response drivers</a:t>
                      </a:r>
                    </a:p>
                  </a:txBody>
                </a:tc>
                <a:tc>
                  <a:txBody>
                    <a:bodyPr/>
                    <a:lstStyle/>
                    <a:p>
                      <a:pPr lvl="0" indent="0" marL="0">
                        <a:buNone/>
                      </a:pPr>
                      <a:r>
                        <a:rPr/>
                        <a:t>Moves extraction and selectivity at the chemistry level</a:t>
                      </a:r>
                    </a:p>
                  </a:txBody>
                </a:tc>
              </a:tr>
              <a:tr h="0">
                <a:tc>
                  <a:txBody>
                    <a:bodyPr/>
                    <a:lstStyle/>
                    <a:p>
                      <a:pPr lvl="0" indent="0" marL="0">
                        <a:buNone/>
                      </a:pPr>
                      <a:r>
                        <a:rPr/>
                        <a:t>TOPO loading</a:t>
                      </a:r>
                    </a:p>
                  </a:txBody>
                </a:tc>
                <a:tc>
                  <a:txBody>
                    <a:bodyPr/>
                    <a:lstStyle/>
                    <a:p>
                      <a:pPr lvl="0" indent="0" marL="0">
                        <a:buNone/>
                      </a:pPr>
                      <a:r>
                        <a:rPr/>
                        <a:t>Controls ligand capacity and solvent cost</a:t>
                      </a:r>
                    </a:p>
                  </a:txBody>
                </a:tc>
                <a:tc>
                  <a:txBody>
                    <a:bodyPr/>
                    <a:lstStyle/>
                    <a:p>
                      <a:pPr lvl="0" indent="0" marL="0">
                        <a:buNone/>
                      </a:pPr>
                      <a:r>
                        <a:rPr/>
                        <a:t>Changes (D_i), selectivity, and solvent inventory</a:t>
                      </a:r>
                    </a:p>
                  </a:txBody>
                </a:tc>
              </a:tr>
              <a:tr h="0">
                <a:tc>
                  <a:txBody>
                    <a:bodyPr/>
                    <a:lstStyle/>
                    <a:p>
                      <a:pPr lvl="0" indent="0" marL="0">
                        <a:buNone/>
                      </a:pPr>
                      <a:r>
                        <a:rPr/>
                        <a:t>O/A ratio</a:t>
                      </a:r>
                    </a:p>
                  </a:txBody>
                </a:tc>
                <a:tc>
                  <a:txBody>
                    <a:bodyPr/>
                    <a:lstStyle/>
                    <a:p>
                      <a:pPr lvl="0" indent="0" marL="0">
                        <a:buNone/>
                      </a:pPr>
                      <a:r>
                        <a:rPr/>
                        <a:t>Directly affects stage transfer</a:t>
                      </a:r>
                    </a:p>
                  </a:txBody>
                </a:tc>
                <a:tc>
                  <a:txBody>
                    <a:bodyPr/>
                    <a:lstStyle/>
                    <a:p>
                      <a:pPr lvl="0" indent="0" marL="0">
                        <a:buNone/>
                      </a:pPr>
                      <a:r>
                        <a:rPr/>
                        <a:t>Becomes a design and optimization variable</a:t>
                      </a:r>
                    </a:p>
                  </a:txBody>
                </a:tc>
              </a:tr>
              <a:tr h="0">
                <a:tc>
                  <a:txBody>
                    <a:bodyPr/>
                    <a:lstStyle/>
                    <a:p>
                      <a:pPr lvl="0" indent="0" marL="0">
                        <a:buNone/>
                      </a:pPr>
                      <a:r>
                        <a:rPr/>
                        <a:t>TDS / salinity feature</a:t>
                      </a:r>
                    </a:p>
                  </a:txBody>
                </a:tc>
                <a:tc>
                  <a:txBody>
                    <a:bodyPr/>
                    <a:lstStyle/>
                    <a:p>
                      <a:pPr lvl="0" indent="0" marL="0">
                        <a:buNone/>
                      </a:pPr>
                      <a:r>
                        <a:rPr/>
                        <a:t>Carries produced-water severity into the process model</a:t>
                      </a:r>
                    </a:p>
                  </a:txBody>
                </a:tc>
                <a:tc>
                  <a:txBody>
                    <a:bodyPr/>
                    <a:lstStyle/>
                    <a:p>
                      <a:pPr lvl="0" indent="0" marL="0">
                        <a:buNone/>
                      </a:pPr>
                      <a:r>
                        <a:rPr/>
                        <a:t>Sets surrogate validity and pretreatment/costing context</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1.7 Clean Li/Na Surrogate Input Space</a:t>
            </a:r>
          </a:p>
        </p:txBody>
      </p:sp>
      <p:pic>
        <p:nvPicPr>
          <p:cNvPr descr="../analyses/rezaee_2026_pcsaft_epcsaft/results/surrogate_input_space/figures/rezaee_surrogate_input_ranges.png" id="0" name="Picture 1"/>
          <p:cNvPicPr>
            <a:picLocks noGrp="1" noChangeAspect="1"/>
          </p:cNvPicPr>
          <p:nvPr/>
        </p:nvPicPr>
        <p:blipFill>
          <a:blip r:embed="rId3"/>
          <a:stretch>
            <a:fillRect/>
          </a:stretch>
        </p:blipFill>
        <p:spPr bwMode="auto">
          <a:xfrm>
            <a:off x="1562100" y="1193800"/>
            <a:ext cx="60198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1.8 Surrogate Readiness Surface</a:t>
            </a:r>
          </a:p>
        </p:txBody>
      </p:sp>
      <p:pic>
        <p:nvPicPr>
          <p:cNvPr descr="../analyses/rezaee_2026_pcsaft_epcsaft/results/uq_surrogate/figures/calibrated_li_extraction_surface.png" id="0" name="Picture 1"/>
          <p:cNvPicPr>
            <a:picLocks noGrp="1" noChangeAspect="1"/>
          </p:cNvPicPr>
          <p:nvPr/>
        </p:nvPicPr>
        <p:blipFill>
          <a:blip r:embed="rId3"/>
          <a:stretch>
            <a:fillRect/>
          </a:stretch>
        </p:blipFill>
        <p:spPr bwMode="auto">
          <a:xfrm>
            <a:off x="1701800" y="1193800"/>
            <a:ext cx="57531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2. ePC-SAFT Thermodynamic Role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2.1 The Model Gap</a:t>
            </a:r>
          </a:p>
        </p:txBody>
      </p:sp>
      <p:sp>
        <p:nvSpPr>
          <p:cNvPr id="3" name="Content Placeholder 2"/>
          <p:cNvSpPr>
            <a:spLocks noGrp="1"/>
          </p:cNvSpPr>
          <p:nvPr>
            <p:ph idx="1" sz="half"/>
          </p:nvPr>
        </p:nvSpPr>
        <p:spPr/>
        <p:txBody>
          <a:bodyPr/>
          <a:lstStyle/>
          <a:p>
            <a:pPr lvl="0" indent="0" marL="0">
              <a:buNone/>
            </a:pPr>
            <a:r>
              <a:rPr b="1"/>
              <a:t>What weak placeholders can do</a:t>
            </a:r>
          </a:p>
          <a:p>
            <a:pPr lvl="0"/>
            <a:r>
              <a:rPr/>
              <a:t>Reproduce a narrow demonstration point</a:t>
            </a:r>
          </a:p>
          <a:p>
            <a:pPr lvl="0"/>
            <a:r>
              <a:rPr/>
              <a:t>Provide a quick stage recovery factor</a:t>
            </a:r>
          </a:p>
          <a:p>
            <a:pPr lvl="0"/>
            <a:r>
              <a:rPr/>
              <a:t>Run fast inside a flowsheet</a:t>
            </a:r>
          </a:p>
          <a:p>
            <a:pPr lvl="0"/>
            <a:r>
              <a:rPr/>
              <a:t>Help debug material balances</a:t>
            </a:r>
          </a:p>
        </p:txBody>
      </p:sp>
      <p:sp>
        <p:nvSpPr>
          <p:cNvPr id="4" name="Content Placeholder 3"/>
          <p:cNvSpPr>
            <a:spLocks noGrp="1"/>
          </p:cNvSpPr>
          <p:nvPr>
            <p:ph idx="2" sz="half"/>
          </p:nvPr>
        </p:nvSpPr>
        <p:spPr/>
        <p:txBody>
          <a:bodyPr/>
          <a:lstStyle/>
          <a:p>
            <a:pPr lvl="0" indent="0" marL="0">
              <a:buNone/>
            </a:pPr>
            <a:r>
              <a:rPr b="1"/>
              <a:t>What they cannot defend</a:t>
            </a:r>
          </a:p>
          <a:p>
            <a:pPr lvl="0"/>
            <a:r>
              <a:rPr/>
              <a:t>Basin-to-basin extrapolation</a:t>
            </a:r>
          </a:p>
          <a:p>
            <a:pPr lvl="0"/>
            <a:r>
              <a:rPr/>
              <a:t>Hypersaline electrolyte behavior</a:t>
            </a:r>
          </a:p>
          <a:p>
            <a:pPr lvl="0"/>
            <a:r>
              <a:rPr/>
              <a:t>Solvent and O/A sensitivity</a:t>
            </a:r>
          </a:p>
          <a:p>
            <a:pPr lvl="0"/>
            <a:r>
              <a:rPr/>
              <a:t>Ion-specific distribution behavior</a:t>
            </a:r>
          </a:p>
          <a:p>
            <a:pPr lvl="0"/>
            <a:r>
              <a:rPr/>
              <a:t>Trust-region bounds for optimization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None</a:t>
            </a:r>
          </a:p>
          <a:p>
            <a:pPr lvl="0" indent="0" marL="1270000">
              <a:buNone/>
            </a:pPr>
            <a:r>
              <a:rPr sz="2000"/>
              <a:t>The process model needs a physical equilibrium layer before the surrogate or optimizer is meaningful.</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2.2 What ePC-SAFT Adds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Modeling need</a:t>
                      </a:r>
                    </a:p>
                  </a:txBody>
                  <a:tcPr/>
                </a:tc>
                <a:tc>
                  <a:txBody>
                    <a:bodyPr/>
                    <a:lstStyle/>
                    <a:p>
                      <a:pPr lvl="0" indent="0" marL="0">
                        <a:buNone/>
                      </a:pPr>
                      <a:r>
                        <a:rPr/>
                        <a:t>ePC-SAFT contribution</a:t>
                      </a:r>
                    </a:p>
                  </a:txBody>
                  <a:tcPr/>
                </a:tc>
                <a:tc>
                  <a:txBody>
                    <a:bodyPr/>
                    <a:lstStyle/>
                    <a:p>
                      <a:pPr lvl="0" indent="0" marL="0">
                        <a:buNone/>
                      </a:pPr>
                      <a:r>
                        <a:rPr/>
                        <a:t>Why it is novel for this case</a:t>
                      </a:r>
                    </a:p>
                  </a:txBody>
                  <a:tcPr/>
                </a:tc>
              </a:tr>
              <a:tr h="0">
                <a:tc>
                  <a:txBody>
                    <a:bodyPr/>
                    <a:lstStyle/>
                    <a:p>
                      <a:pPr lvl="0" indent="0" marL="0">
                        <a:buNone/>
                      </a:pPr>
                      <a:r>
                        <a:rPr/>
                        <a:t>Hypersaline brine</a:t>
                      </a:r>
                    </a:p>
                  </a:txBody>
                </a:tc>
                <a:tc>
                  <a:txBody>
                    <a:bodyPr/>
                    <a:lstStyle/>
                    <a:p>
                      <a:pPr lvl="0" indent="0" marL="0">
                        <a:buNone/>
                      </a:pPr>
                      <a:r>
                        <a:rPr/>
                        <a:t>Electrolyte activity and phase-equilibrium structure</a:t>
                      </a:r>
                    </a:p>
                  </a:txBody>
                </a:tc>
                <a:tc>
                  <a:txBody>
                    <a:bodyPr/>
                    <a:lstStyle/>
                    <a:p>
                      <a:pPr lvl="0" indent="0" marL="0">
                        <a:buNone/>
                      </a:pPr>
                      <a:r>
                        <a:rPr/>
                        <a:t>Salinity becomes a modeled variable, not a correction factor</a:t>
                      </a:r>
                    </a:p>
                  </a:txBody>
                </a:tc>
              </a:tr>
              <a:tr h="0">
                <a:tc>
                  <a:txBody>
                    <a:bodyPr/>
                    <a:lstStyle/>
                    <a:p>
                      <a:pPr lvl="0" indent="0" marL="0">
                        <a:buNone/>
                      </a:pPr>
                      <a:r>
                        <a:rPr/>
                        <a:t>Aqueous/organic split</a:t>
                      </a:r>
                    </a:p>
                  </a:txBody>
                </a:tc>
                <a:tc>
                  <a:txBody>
                    <a:bodyPr/>
                    <a:lstStyle/>
                    <a:p>
                      <a:pPr lvl="0" indent="0" marL="0">
                        <a:buNone/>
                      </a:pPr>
                      <a:r>
                        <a:rPr/>
                        <a:t>Phase compositions and phase fractions</a:t>
                      </a:r>
                    </a:p>
                  </a:txBody>
                </a:tc>
                <a:tc>
                  <a:txBody>
                    <a:bodyPr/>
                    <a:lstStyle/>
                    <a:p>
                      <a:pPr lvl="0" indent="0" marL="0">
                        <a:buNone/>
                      </a:pPr>
                      <a:r>
                        <a:rPr/>
                        <a:t>The extraction stage gets a thermodynamic target</a:t>
                      </a:r>
                    </a:p>
                  </a:txBody>
                </a:tc>
              </a:tr>
              <a:tr h="0">
                <a:tc>
                  <a:txBody>
                    <a:bodyPr/>
                    <a:lstStyle/>
                    <a:p>
                      <a:pPr lvl="0" indent="0" marL="0">
                        <a:buNone/>
                      </a:pPr>
                      <a:r>
                        <a:rPr/>
                        <a:t>Ion partitioning</a:t>
                      </a:r>
                    </a:p>
                  </a:txBody>
                </a:tc>
                <a:tc>
                  <a:txBody>
                    <a:bodyPr/>
                    <a:lstStyle/>
                    <a:p>
                      <a:pPr lvl="0" indent="0" marL="0">
                        <a:buNone/>
                      </a:pPr>
                      <a:r>
                        <a:rPr/>
                        <a:t>Distribution ratios and selectivity metrics</a:t>
                      </a:r>
                    </a:p>
                  </a:txBody>
                </a:tc>
                <a:tc>
                  <a:txBody>
                    <a:bodyPr/>
                    <a:lstStyle/>
                    <a:p>
                      <a:pPr lvl="0" indent="0" marL="0">
                        <a:buNone/>
                      </a:pPr>
                      <a:r>
                        <a:rPr/>
                        <a:t>Li movement can be separated from bulk salt movement</a:t>
                      </a:r>
                    </a:p>
                  </a:txBody>
                </a:tc>
              </a:tr>
              <a:tr h="0">
                <a:tc>
                  <a:txBody>
                    <a:bodyPr/>
                    <a:lstStyle/>
                    <a:p>
                      <a:pPr lvl="0" indent="0" marL="0">
                        <a:buNone/>
                      </a:pPr>
                      <a:r>
                        <a:rPr/>
                        <a:t>Sensitivity surfaces</a:t>
                      </a:r>
                    </a:p>
                  </a:txBody>
                </a:tc>
                <a:tc>
                  <a:txBody>
                    <a:bodyPr/>
                    <a:lstStyle/>
                    <a:p>
                      <a:pPr lvl="0" indent="0" marL="0">
                        <a:buNone/>
                      </a:pPr>
                      <a:r>
                        <a:rPr/>
                        <a:t>Response to TDS, O/A, solvent, and feed composition</a:t>
                      </a:r>
                    </a:p>
                  </a:txBody>
                </a:tc>
                <a:tc>
                  <a:txBody>
                    <a:bodyPr/>
                    <a:lstStyle/>
                    <a:p>
                      <a:pPr lvl="0" indent="0" marL="0">
                        <a:buNone/>
                      </a:pPr>
                      <a:r>
                        <a:rPr/>
                        <a:t>Surrogates can be trained inside a meaningful region</a:t>
                      </a:r>
                    </a:p>
                  </a:txBody>
                </a:tc>
              </a:tr>
              <a:tr h="0">
                <a:tc>
                  <a:txBody>
                    <a:bodyPr/>
                    <a:lstStyle/>
                    <a:p>
                      <a:pPr lvl="0" indent="0" marL="0">
                        <a:buNone/>
                      </a:pPr>
                      <a:r>
                        <a:rPr/>
                        <a:t>Diagnostics</a:t>
                      </a:r>
                    </a:p>
                  </a:txBody>
                </a:tc>
                <a:tc>
                  <a:txBody>
                    <a:bodyPr/>
                    <a:lstStyle/>
                    <a:p>
                      <a:pPr lvl="0" indent="0" marL="0">
                        <a:buNone/>
                      </a:pPr>
                      <a:r>
                        <a:rPr/>
                        <a:t>Stability, convergence, and phase-distance checks</a:t>
                      </a:r>
                    </a:p>
                  </a:txBody>
                </a:tc>
                <a:tc>
                  <a:txBody>
                    <a:bodyPr/>
                    <a:lstStyle/>
                    <a:p>
                      <a:pPr lvl="0" indent="0" marL="0">
                        <a:buNone/>
                      </a:pPr>
                      <a:r>
                        <a:rPr/>
                        <a:t>Failed or collapsed points do not silently become process data</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2.3 Rezaee 2026 As A Parameter-Fitting Smoke Test</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What Rezaee gives</a:t>
                      </a:r>
                    </a:p>
                  </a:txBody>
                  <a:tcPr/>
                </a:tc>
                <a:tc>
                  <a:txBody>
                    <a:bodyPr/>
                    <a:lstStyle/>
                    <a:p>
                      <a:pPr lvl="0" indent="0" marL="0">
                        <a:buNone/>
                      </a:pPr>
                      <a:r>
                        <a:rPr/>
                        <a:t>How this deck should use it</a:t>
                      </a:r>
                    </a:p>
                  </a:txBody>
                  <a:tcPr/>
                </a:tc>
              </a:tr>
              <a:tr h="0">
                <a:tc>
                  <a:txBody>
                    <a:bodyPr/>
                    <a:lstStyle/>
                    <a:p>
                      <a:pPr lvl="0" indent="0" marL="0">
                        <a:buNone/>
                      </a:pPr>
                      <a:r>
                        <a:rPr/>
                        <a:t>2025 extraction responses and SI phase-composition rows</a:t>
                      </a:r>
                    </a:p>
                  </a:txBody>
                </a:tc>
                <a:tc>
                  <a:txBody>
                    <a:bodyPr/>
                    <a:lstStyle/>
                    <a:p>
                      <a:pPr lvl="0" indent="0" marL="0">
                        <a:buNone/>
                      </a:pPr>
                      <a:r>
                        <a:rPr/>
                        <a:t>Source-backed Li/Na bridge targets</a:t>
                      </a:r>
                    </a:p>
                  </a:txBody>
                </a:tc>
              </a:tr>
              <a:tr h="0">
                <a:tc>
                  <a:txBody>
                    <a:bodyPr/>
                    <a:lstStyle/>
                    <a:p>
                      <a:pPr lvl="0" indent="0" marL="0">
                        <a:buNone/>
                      </a:pPr>
                      <a:r>
                        <a:rPr/>
                        <a:t>2026 DES/TOPO/RLi/RNa PC-SAFT parameters and organic (k_{ij}) values</a:t>
                      </a:r>
                    </a:p>
                  </a:txBody>
                </a:tc>
                <a:tc>
                  <a:txBody>
                    <a:bodyPr/>
                    <a:lstStyle/>
                    <a:p>
                      <a:pPr lvl="0" indent="0" marL="0">
                        <a:buNone/>
                      </a:pPr>
                      <a:r>
                        <a:rPr/>
                        <a:t>Package-facing parameter payload</a:t>
                      </a:r>
                    </a:p>
                  </a:txBody>
                </a:tc>
              </a:tr>
              <a:tr h="0">
                <a:tc>
                  <a:txBody>
                    <a:bodyPr/>
                    <a:lstStyle/>
                    <a:p>
                      <a:pPr lvl="0" indent="0" marL="0">
                        <a:buNone/>
                      </a:pPr>
                      <a:r>
                        <a:rPr/>
                        <a:t>2026 reaction constants and phase-specific ion-exchange equations</a:t>
                      </a:r>
                    </a:p>
                  </a:txBody>
                </a:tc>
                <a:tc>
                  <a:txBody>
                    <a:bodyPr/>
                    <a:lstStyle/>
                    <a:p>
                      <a:pPr lvl="0" indent="0" marL="0">
                        <a:buNone/>
                      </a:pPr>
                      <a:r>
                        <a:rPr/>
                        <a:t>Reactive-equilibrium diagnostic target</a:t>
                      </a:r>
                    </a:p>
                  </a:txBody>
                </a:tc>
              </a:tr>
              <a:tr h="0">
                <a:tc>
                  <a:txBody>
                    <a:bodyPr/>
                    <a:lstStyle/>
                    <a:p>
                      <a:pPr lvl="0" indent="0" marL="0">
                        <a:buNone/>
                      </a:pPr>
                      <a:r>
                        <a:rPr/>
                        <a:t>Aqueous electrolyte phase modeled with ePC-SAFT</a:t>
                      </a:r>
                    </a:p>
                  </a:txBody>
                </a:tc>
                <a:tc>
                  <a:txBody>
                    <a:bodyPr/>
                    <a:lstStyle/>
                    <a:p>
                      <a:pPr lvl="0" indent="0" marL="0">
                        <a:buNone/>
                      </a:pPr>
                      <a:r>
                        <a:rPr/>
                        <a:t>Activity and stability diagnostics for the brine side</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None</a:t>
            </a:r>
          </a:p>
          <a:p>
            <a:pPr lvl="0" indent="0" marL="1270000">
              <a:buNone/>
            </a:pPr>
            <a:r>
              <a:rPr sz="2000"/>
              <a:t>Rezaee is now the active Li/Na bridge. Direct published-constant closure is still a documented activity-reference gap.</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2.4 Active Rezaee Workflow Chain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289300"/>
                <a:gridCol w="2463800"/>
                <a:gridCol w="2463800"/>
              </a:tblGrid>
              <a:tr h="0">
                <a:tc>
                  <a:txBody>
                    <a:bodyPr/>
                    <a:lstStyle/>
                    <a:p>
                      <a:pPr lvl="0" indent="0" marL="0" algn="r">
                        <a:buNone/>
                      </a:pPr>
                      <a:r>
                        <a:rPr/>
                        <a:t>Step</a:t>
                      </a:r>
                    </a:p>
                  </a:txBody>
                  <a:tcPr/>
                </a:tc>
                <a:tc>
                  <a:txBody>
                    <a:bodyPr/>
                    <a:lstStyle/>
                    <a:p>
                      <a:pPr lvl="0" indent="0" marL="0">
                        <a:buNone/>
                      </a:pPr>
                      <a:r>
                        <a:rPr/>
                        <a:t>Current artifact</a:t>
                      </a:r>
                    </a:p>
                  </a:txBody>
                  <a:tcPr/>
                </a:tc>
                <a:tc>
                  <a:txBody>
                    <a:bodyPr/>
                    <a:lstStyle/>
                    <a:p>
                      <a:pPr lvl="0" indent="0" marL="0">
                        <a:buNone/>
                      </a:pPr>
                      <a:r>
                        <a:rPr/>
                        <a:t>Use</a:t>
                      </a:r>
                    </a:p>
                  </a:txBody>
                  <a:tcPr/>
                </a:tc>
              </a:tr>
              <a:tr h="0">
                <a:tc>
                  <a:txBody>
                    <a:bodyPr/>
                    <a:lstStyle/>
                    <a:p>
                      <a:pPr lvl="0" indent="0" marL="0" algn="r">
                        <a:buNone/>
                      </a:pPr>
                      <a:r>
                        <a:rPr/>
                        <a:t>1</a:t>
                      </a:r>
                    </a:p>
                  </a:txBody>
                </a:tc>
                <a:tc>
                  <a:txBody>
                    <a:bodyPr/>
                    <a:lstStyle/>
                    <a:p>
                      <a:pPr lvl="0" indent="0" marL="0">
                        <a:buNone/>
                      </a:pPr>
                      <a:r>
                        <a:rPr/>
                        <a:t>Rezaee 2025/2026 source tables</a:t>
                      </a:r>
                    </a:p>
                  </a:txBody>
                </a:tc>
                <a:tc>
                  <a:txBody>
                    <a:bodyPr/>
                    <a:lstStyle/>
                    <a:p>
                      <a:pPr lvl="0" indent="0" marL="0">
                        <a:buNone/>
                      </a:pPr>
                      <a:r>
                        <a:rPr/>
                        <a:t>Li/Na extraction and PC-SAFT/ePC-SAFT parameter evidence</a:t>
                      </a:r>
                    </a:p>
                  </a:txBody>
                </a:tc>
              </a:tr>
              <a:tr h="0">
                <a:tc>
                  <a:txBody>
                    <a:bodyPr/>
                    <a:lstStyle/>
                    <a:p>
                      <a:pPr lvl="0" indent="0" marL="0" algn="r">
                        <a:buNone/>
                      </a:pPr>
                      <a:r>
                        <a:rPr/>
                        <a:t>2</a:t>
                      </a:r>
                    </a:p>
                  </a:txBody>
                </a:tc>
                <a:tc>
                  <a:txBody>
                    <a:bodyPr/>
                    <a:lstStyle/>
                    <a:p>
                      <a:pPr lvl="0" indent="0" marL="0">
                        <a:buNone/>
                      </a:pPr>
                      <a:r>
                        <a:rPr/>
                        <a:t>Section 3.2 DOE-basis surface</a:t>
                      </a:r>
                    </a:p>
                  </a:txBody>
                </a:tc>
                <a:tc>
                  <a:txBody>
                    <a:bodyPr/>
                    <a:lstStyle/>
                    <a:p>
                      <a:pPr lvl="0" indent="0" marL="0">
                        <a:buNone/>
                      </a:pPr>
                      <a:r>
                        <a:rPr/>
                        <a:t>calibrated log-(D_i) response basis</a:t>
                      </a:r>
                    </a:p>
                  </a:txBody>
                </a:tc>
              </a:tr>
              <a:tr h="0">
                <a:tc>
                  <a:txBody>
                    <a:bodyPr/>
                    <a:lstStyle/>
                    <a:p>
                      <a:pPr lvl="0" indent="0" marL="0" algn="r">
                        <a:buNone/>
                      </a:pPr>
                      <a:r>
                        <a:rPr/>
                        <a:t>3</a:t>
                      </a:r>
                    </a:p>
                  </a:txBody>
                </a:tc>
                <a:tc>
                  <a:txBody>
                    <a:bodyPr/>
                    <a:lstStyle/>
                    <a:p>
                      <a:pPr lvl="0" indent="0" marL="0">
                        <a:buNone/>
                      </a:pPr>
                      <a:r>
                        <a:rPr/>
                        <a:t>523-row TDS-Li-O/A matrix</a:t>
                      </a:r>
                    </a:p>
                  </a:txBody>
                </a:tc>
                <a:tc>
                  <a:txBody>
                    <a:bodyPr/>
                    <a:lstStyle/>
                    <a:p>
                      <a:pPr lvl="0" indent="0" marL="0">
                        <a:buNone/>
                      </a:pPr>
                      <a:r>
                        <a:rPr/>
                        <a:t>produced-water process screening</a:t>
                      </a:r>
                    </a:p>
                  </a:txBody>
                </a:tc>
              </a:tr>
              <a:tr h="0">
                <a:tc>
                  <a:txBody>
                    <a:bodyPr/>
                    <a:lstStyle/>
                    <a:p>
                      <a:pPr lvl="0" indent="0" marL="0" algn="r">
                        <a:buNone/>
                      </a:pPr>
                      <a:r>
                        <a:rPr/>
                        <a:t>4</a:t>
                      </a:r>
                    </a:p>
                  </a:txBody>
                </a:tc>
                <a:tc>
                  <a:txBody>
                    <a:bodyPr/>
                    <a:lstStyle/>
                    <a:p>
                      <a:pPr lvl="0" indent="0" marL="0">
                        <a:buNone/>
                      </a:pPr>
                      <a:r>
                        <a:rPr/>
                        <a:t>PrOMMiS/IDAES transfer table</a:t>
                      </a:r>
                    </a:p>
                  </a:txBody>
                </a:tc>
                <a:tc>
                  <a:txBody>
                    <a:bodyPr/>
                    <a:lstStyle/>
                    <a:p>
                      <a:pPr lvl="0" indent="0" marL="0">
                        <a:buNone/>
                      </a:pPr>
                      <a:r>
                        <a:rPr/>
                        <a:t>staged-contacting and costing handoff</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2.5 Why The Calibrated Surrogate Is The Right Bridge</a:t>
            </a:r>
          </a:p>
        </p:txBody>
      </p:sp>
      <p:sp>
        <p:nvSpPr>
          <p:cNvPr id="3" name="Content Placeholder 2"/>
          <p:cNvSpPr>
            <a:spLocks noGrp="1"/>
          </p:cNvSpPr>
          <p:nvPr>
            <p:ph idx="1" sz="half"/>
          </p:nvPr>
        </p:nvSpPr>
        <p:spPr/>
        <p:txBody>
          <a:bodyPr/>
          <a:lstStyle/>
          <a:p>
            <a:pPr lvl="0" indent="0" marL="0">
              <a:buNone/>
            </a:pPr>
            <a:r>
              <a:rPr b="1"/>
              <a:t>What it now gives</a:t>
            </a:r>
          </a:p>
          <a:p>
            <a:pPr lvl="0"/>
            <a:r>
              <a:rPr/>
              <a:t>finite Li and Na extraction for all 523 rows</a:t>
            </a:r>
          </a:p>
          <a:p>
            <a:pPr lvl="0"/>
            <a:r>
              <a:rPr/>
              <a:t>explicit (D_{Li}), (D_{Na}), and selectivity</a:t>
            </a:r>
          </a:p>
          <a:p>
            <a:pPr lvl="0"/>
            <a:r>
              <a:rPr/>
              <a:t>transfer variables ready for staged process models</a:t>
            </a:r>
          </a:p>
        </p:txBody>
      </p:sp>
      <p:sp>
        <p:nvSpPr>
          <p:cNvPr id="4" name="Content Placeholder 3"/>
          <p:cNvSpPr>
            <a:spLocks noGrp="1"/>
          </p:cNvSpPr>
          <p:nvPr>
            <p:ph idx="2" sz="half"/>
          </p:nvPr>
        </p:nvSpPr>
        <p:spPr/>
        <p:txBody>
          <a:bodyPr/>
          <a:lstStyle/>
          <a:p>
            <a:pPr lvl="0" indent="0" marL="0">
              <a:buNone/>
            </a:pPr>
            <a:r>
              <a:rPr b="1"/>
              <a:t>What remains bounded</a:t>
            </a:r>
          </a:p>
          <a:p>
            <a:pPr lvl="0"/>
            <a:r>
              <a:rPr/>
              <a:t>raw Smackover is not fed directly to extraction</a:t>
            </a:r>
          </a:p>
          <a:p>
            <a:pPr lvl="0"/>
            <a:r>
              <a:rPr/>
              <a:t>divalents are pretreatment species</a:t>
            </a:r>
          </a:p>
          <a:p>
            <a:pPr lvl="0"/>
            <a:r>
              <a:rPr/>
              <a:t>high Na/Li rows carry extrapolation warnings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3. Selective Extraction Model</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3.1 One-Stage Selective Split</a:t>
            </a:r>
          </a:p>
        </p:txBody>
      </p:sp>
      <p:sp>
        <p:nvSpPr>
          <p:cNvPr id="3" name="Content Placeholder 2"/>
          <p:cNvSpPr>
            <a:spLocks noGrp="1"/>
          </p:cNvSpPr>
          <p:nvPr>
            <p:ph idx="1" sz="half"/>
          </p:nvPr>
        </p:nvSpPr>
        <p:spPr/>
        <p:txBody>
          <a:bodyPr/>
          <a:lstStyle/>
          <a:p>
            <a:pPr lvl="0" indent="0" marL="0">
              <a:buNone/>
            </a:pPr>
            <a:r>
              <a:rPr b="1"/>
              <a:t>MS-2 O/A = 1 stage result</a:t>
            </a:r>
          </a:p>
          <a:p>
            <a:pPr lvl="0"/>
            <a:r>
              <a:rPr/>
              <a:t>Li extraction: </a:t>
            </a:r>
            <a:r>
              <a:rPr>
                <a:latin typeface="Courier"/>
              </a:rPr>
              <a:t>45.3660%</a:t>
            </a:r>
          </a:p>
          <a:p>
            <a:pPr lvl="0"/>
            <a:r>
              <a:rPr/>
              <a:t>Na extraction: </a:t>
            </a:r>
            <a:r>
              <a:rPr>
                <a:latin typeface="Courier"/>
              </a:rPr>
              <a:t>8.9780%</a:t>
            </a:r>
          </a:p>
          <a:p>
            <a:pPr lvl="0"/>
            <a:r>
              <a:rPr/>
              <a:t>(D_{Li} = 0.8304)</a:t>
            </a:r>
          </a:p>
          <a:p>
            <a:pPr lvl="0"/>
            <a:r>
              <a:rPr/>
              <a:t>(D_{Na} = 0.09864)</a:t>
            </a:r>
          </a:p>
          <a:p>
            <a:pPr lvl="0"/>
            <a:r>
              <a:rPr/>
              <a:t>(S_{Li/Na} = 8.4185)</a:t>
            </a:r>
          </a:p>
          <a:p>
            <a:pPr lvl="0"/>
            <a:r>
              <a:rPr/>
              <a:t>Trust label: </a:t>
            </a:r>
            <a:r>
              <a:rPr>
                <a:latin typeface="Courier"/>
              </a:rPr>
              <a:t>anchored_by_rezaee_real_brine_high_na_li</a:t>
            </a:r>
          </a:p>
          <a:p>
            <a:pPr lvl="0" indent="0" marL="1270000">
              <a:buNone/>
            </a:pPr>
            <a:r>
              <a:rPr sz="2000" b="1"/>
              <a:t>None</a:t>
            </a:r>
          </a:p>
          <a:p>
            <a:pPr lvl="0" indent="0" marL="1270000">
              <a:buNone/>
            </a:pPr>
            <a:r>
              <a:rPr sz="2000"/>
              <a:t>Source-regressed Rezaee Li/Na bridge after divalent pretreatment; not a divalent reactive LLE flash.</a:t>
            </a:r>
          </a:p>
        </p:txBody>
      </p:sp>
      <p:sp>
        <p:nvSpPr>
          <p:cNvPr id="4" name="Content Placeholder 3"/>
          <p:cNvSpPr>
            <a:spLocks noGrp="1"/>
          </p:cNvSpPr>
          <p:nvPr>
            <p:ph idx="2" sz="half"/>
          </p:nvPr>
        </p:nvSpPr>
        <p:spPr/>
        <p:txBody>
          <a:bodyPr/>
          <a:lstStyle/>
          <a:p>
            <a:pPr lvl="0" indent="0" marL="0">
              <a:buNone/>
            </a:pPr>
            <a:r>
              <a:rPr b="1"/>
              <a:t>What changed from the old wrapper</a:t>
            </a:r>
          </a:p>
          <a:p>
            <a:pPr lvl="0"/>
            <a:r>
              <a:rPr/>
              <a:t>The active bridge now uses Rezaee DES/TOPO source responses instead of the old HBTA/TOPO placeholder.</a:t>
            </a:r>
          </a:p>
          <a:p>
            <a:pPr lvl="0"/>
            <a:r>
              <a:rPr/>
              <a:t>The package evaluates ePC-SAFT electrolyte stability and PC-SAFT/ePC-SAFT activity diagnostics.</a:t>
            </a:r>
          </a:p>
          <a:p>
            <a:pPr lvl="0"/>
            <a:r>
              <a:rPr/>
              <a:t>The old HBTA/TOPO wrapper remains only as comparison and future parameterization context.</a:t>
            </a:r>
          </a:p>
          <a:p>
            <a:pPr lvl="0"/>
            <a:r>
              <a:rPr/>
              <a:t>The current stage-output table carries extraction, distribution, selectivity, and validity labels.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3.2 Rezaee Bridge Closure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905000"/>
                <a:gridCol w="1905000"/>
                <a:gridCol w="2527300"/>
                <a:gridCol w="1905000"/>
              </a:tblGrid>
              <a:tr h="0">
                <a:tc>
                  <a:txBody>
                    <a:bodyPr/>
                    <a:lstStyle/>
                    <a:p>
                      <a:pPr lvl="0" indent="0" marL="0">
                        <a:buNone/>
                      </a:pPr>
                      <a:r>
                        <a:rPr/>
                        <a:t>Evidence item</a:t>
                      </a:r>
                    </a:p>
                  </a:txBody>
                  <a:tcPr/>
                </a:tc>
                <a:tc>
                  <a:txBody>
                    <a:bodyPr/>
                    <a:lstStyle/>
                    <a:p>
                      <a:pPr lvl="0" indent="0" marL="0">
                        <a:buNone/>
                      </a:pPr>
                      <a:r>
                        <a:rPr/>
                        <a:t>Source artifact</a:t>
                      </a:r>
                    </a:p>
                  </a:txBody>
                  <a:tcPr/>
                </a:tc>
                <a:tc>
                  <a:txBody>
                    <a:bodyPr/>
                    <a:lstStyle/>
                    <a:p>
                      <a:pPr lvl="0" indent="0" marL="0" algn="r">
                        <a:buNone/>
                      </a:pPr>
                      <a:r>
                        <a:rPr/>
                        <a:t>Value</a:t>
                      </a:r>
                    </a:p>
                  </a:txBody>
                  <a:tcPr/>
                </a:tc>
                <a:tc>
                  <a:txBody>
                    <a:bodyPr/>
                    <a:lstStyle/>
                    <a:p>
                      <a:pPr lvl="0" indent="0" marL="0">
                        <a:buNone/>
                      </a:pPr>
                      <a:r>
                        <a:rPr/>
                        <a:t>Use</a:t>
                      </a:r>
                    </a:p>
                  </a:txBody>
                  <a:tcPr/>
                </a:tc>
              </a:tr>
              <a:tr h="0">
                <a:tc>
                  <a:txBody>
                    <a:bodyPr/>
                    <a:lstStyle/>
                    <a:p>
                      <a:pPr lvl="0" indent="0" marL="0">
                        <a:buNone/>
                      </a:pPr>
                      <a:r>
                        <a:rPr/>
                        <a:t>Extraction target rows</a:t>
                      </a:r>
                    </a:p>
                  </a:txBody>
                </a:tc>
                <a:tc>
                  <a:txBody>
                    <a:bodyPr/>
                    <a:lstStyle/>
                    <a:p>
                      <a:pPr lvl="0" indent="0" marL="0">
                        <a:buNone/>
                      </a:pPr>
                      <a:r>
                        <a:rPr>
                          <a:latin typeface="Courier"/>
                        </a:rPr>
                        <a:t>rezaee_2025_extraction_target_summary.csv</a:t>
                      </a:r>
                    </a:p>
                  </a:txBody>
                </a:tc>
                <a:tc>
                  <a:txBody>
                    <a:bodyPr/>
                    <a:lstStyle/>
                    <a:p>
                      <a:pPr lvl="0" indent="0" marL="0" algn="r">
                        <a:buNone/>
                      </a:pPr>
                      <a:r>
                        <a:rPr>
                          <a:latin typeface="Courier"/>
                        </a:rPr>
                        <a:t>32</a:t>
                      </a:r>
                    </a:p>
                  </a:txBody>
                </a:tc>
                <a:tc>
                  <a:txBody>
                    <a:bodyPr/>
                    <a:lstStyle/>
                    <a:p>
                      <a:pPr lvl="0" indent="0" marL="0">
                        <a:buNone/>
                      </a:pPr>
                      <a:r>
                        <a:rPr/>
                        <a:t>Source-regressed bridge fit</a:t>
                      </a:r>
                    </a:p>
                  </a:txBody>
                </a:tc>
              </a:tr>
              <a:tr h="0">
                <a:tc>
                  <a:txBody>
                    <a:bodyPr/>
                    <a:lstStyle/>
                    <a:p>
                      <a:pPr lvl="0" indent="0" marL="0">
                        <a:buNone/>
                      </a:pPr>
                      <a:r>
                        <a:rPr/>
                        <a:t>SI phase-composition rows</a:t>
                      </a:r>
                    </a:p>
                  </a:txBody>
                </a:tc>
                <a:tc>
                  <a:txBody>
                    <a:bodyPr/>
                    <a:lstStyle/>
                    <a:p>
                      <a:pPr lvl="0" indent="0" marL="0">
                        <a:buNone/>
                      </a:pPr>
                      <a:r>
                        <a:rPr>
                          <a:latin typeface="Courier"/>
                        </a:rPr>
                        <a:t>rezaee_2025_extraction_equilibrium_summary.csv</a:t>
                      </a:r>
                    </a:p>
                  </a:txBody>
                </a:tc>
                <a:tc>
                  <a:txBody>
                    <a:bodyPr/>
                    <a:lstStyle/>
                    <a:p>
                      <a:pPr lvl="0" indent="0" marL="0" algn="r">
                        <a:buNone/>
                      </a:pPr>
                      <a:r>
                        <a:rPr>
                          <a:latin typeface="Courier"/>
                        </a:rPr>
                        <a:t>26</a:t>
                      </a:r>
                    </a:p>
                  </a:txBody>
                </a:tc>
                <a:tc>
                  <a:txBody>
                    <a:bodyPr/>
                    <a:lstStyle/>
                    <a:p>
                      <a:pPr lvl="0" indent="0" marL="0">
                        <a:buNone/>
                      </a:pPr>
                      <a:r>
                        <a:rPr/>
                        <a:t>Reactive-equilibrium diagnostic</a:t>
                      </a:r>
                    </a:p>
                  </a:txBody>
                </a:tc>
              </a:tr>
              <a:tr h="0">
                <a:tc>
                  <a:txBody>
                    <a:bodyPr/>
                    <a:lstStyle/>
                    <a:p>
                      <a:pPr lvl="0" indent="0" marL="0">
                        <a:buNone/>
                      </a:pPr>
                      <a:r>
                        <a:rPr/>
                        <a:t>Median source (D_{Li})</a:t>
                      </a:r>
                    </a:p>
                  </a:txBody>
                </a:tc>
                <a:tc>
                  <a:txBody>
                    <a:bodyPr/>
                    <a:lstStyle/>
                    <a:p>
                      <a:pPr lvl="0" indent="0" marL="0">
                        <a:buNone/>
                      </a:pPr>
                      <a:r>
                        <a:rPr>
                          <a:latin typeface="Courier"/>
                        </a:rPr>
                        <a:t>rezaee_li_na_distribution_coefficients.csv</a:t>
                      </a:r>
                    </a:p>
                  </a:txBody>
                </a:tc>
                <a:tc>
                  <a:txBody>
                    <a:bodyPr/>
                    <a:lstStyle/>
                    <a:p>
                      <a:pPr lvl="0" indent="0" marL="0" algn="r">
                        <a:buNone/>
                      </a:pPr>
                      <a:r>
                        <a:rPr>
                          <a:latin typeface="Courier"/>
                        </a:rPr>
                        <a:t>0.6017</a:t>
                      </a:r>
                    </a:p>
                  </a:txBody>
                </a:tc>
                <a:tc>
                  <a:txBody>
                    <a:bodyPr/>
                    <a:lstStyle/>
                    <a:p>
                      <a:pPr lvl="0" indent="0" marL="0">
                        <a:buNone/>
                      </a:pPr>
                      <a:r>
                        <a:rPr/>
                        <a:t>Surrogate prior</a:t>
                      </a:r>
                    </a:p>
                  </a:txBody>
                </a:tc>
              </a:tr>
              <a:tr h="0">
                <a:tc>
                  <a:txBody>
                    <a:bodyPr/>
                    <a:lstStyle/>
                    <a:p>
                      <a:pPr lvl="0" indent="0" marL="0">
                        <a:buNone/>
                      </a:pPr>
                      <a:r>
                        <a:rPr/>
                        <a:t>Median source (D_{Na})</a:t>
                      </a:r>
                    </a:p>
                  </a:txBody>
                </a:tc>
                <a:tc>
                  <a:txBody>
                    <a:bodyPr/>
                    <a:lstStyle/>
                    <a:p>
                      <a:pPr lvl="0" indent="0" marL="0">
                        <a:buNone/>
                      </a:pPr>
                      <a:r>
                        <a:rPr>
                          <a:latin typeface="Courier"/>
                        </a:rPr>
                        <a:t>rezaee_li_na_distribution_coefficients.csv</a:t>
                      </a:r>
                    </a:p>
                  </a:txBody>
                </a:tc>
                <a:tc>
                  <a:txBody>
                    <a:bodyPr/>
                    <a:lstStyle/>
                    <a:p>
                      <a:pPr lvl="0" indent="0" marL="0" algn="r">
                        <a:buNone/>
                      </a:pPr>
                      <a:r>
                        <a:rPr>
                          <a:latin typeface="Courier"/>
                        </a:rPr>
                        <a:t>0.1257</a:t>
                      </a:r>
                    </a:p>
                  </a:txBody>
                </a:tc>
                <a:tc>
                  <a:txBody>
                    <a:bodyPr/>
                    <a:lstStyle/>
                    <a:p>
                      <a:pPr lvl="0" indent="0" marL="0">
                        <a:buNone/>
                      </a:pPr>
                      <a:r>
                        <a:rPr/>
                        <a:t>Surrogate prior</a:t>
                      </a:r>
                    </a:p>
                  </a:txBody>
                </a:tc>
              </a:tr>
              <a:tr h="0">
                <a:tc>
                  <a:txBody>
                    <a:bodyPr/>
                    <a:lstStyle/>
                    <a:p>
                      <a:pPr lvl="0" indent="0" marL="0">
                        <a:buNone/>
                      </a:pPr>
                      <a:r>
                        <a:rPr/>
                        <a:t>Bridge Li logit RMSE</a:t>
                      </a:r>
                    </a:p>
                  </a:txBody>
                </a:tc>
                <a:tc>
                  <a:txBody>
                    <a:bodyPr/>
                    <a:lstStyle/>
                    <a:p>
                      <a:pPr lvl="0" indent="0" marL="0">
                        <a:buNone/>
                      </a:pPr>
                      <a:r>
                        <a:rPr>
                          <a:latin typeface="Courier"/>
                        </a:rPr>
                        <a:t>rezaee_li_na_distribution_bridge_report.md</a:t>
                      </a:r>
                    </a:p>
                  </a:txBody>
                </a:tc>
                <a:tc>
                  <a:txBody>
                    <a:bodyPr/>
                    <a:lstStyle/>
                    <a:p>
                      <a:pPr lvl="0" indent="0" marL="0" algn="r">
                        <a:buNone/>
                      </a:pPr>
                      <a:r>
                        <a:rPr>
                          <a:latin typeface="Courier"/>
                        </a:rPr>
                        <a:t>0.154</a:t>
                      </a:r>
                    </a:p>
                  </a:txBody>
                </a:tc>
                <a:tc>
                  <a:txBody>
                    <a:bodyPr/>
                    <a:lstStyle/>
                    <a:p>
                      <a:pPr lvl="0" indent="0" marL="0">
                        <a:buNone/>
                      </a:pPr>
                      <a:r>
                        <a:rPr/>
                        <a:t>Fit diagnostic</a:t>
                      </a:r>
                    </a:p>
                  </a:txBody>
                </a:tc>
              </a:tr>
              <a:tr h="0">
                <a:tc>
                  <a:txBody>
                    <a:bodyPr/>
                    <a:lstStyle/>
                    <a:p>
                      <a:pPr lvl="0" indent="0" marL="0">
                        <a:buNone/>
                      </a:pPr>
                      <a:r>
                        <a:rPr/>
                        <a:t>Bridge Na logit RMSE</a:t>
                      </a:r>
                    </a:p>
                  </a:txBody>
                </a:tc>
                <a:tc>
                  <a:txBody>
                    <a:bodyPr/>
                    <a:lstStyle/>
                    <a:p>
                      <a:pPr lvl="0" indent="0" marL="0">
                        <a:buNone/>
                      </a:pPr>
                      <a:r>
                        <a:rPr>
                          <a:latin typeface="Courier"/>
                        </a:rPr>
                        <a:t>rezaee_li_na_distribution_bridge_report.md</a:t>
                      </a:r>
                    </a:p>
                  </a:txBody>
                </a:tc>
                <a:tc>
                  <a:txBody>
                    <a:bodyPr/>
                    <a:lstStyle/>
                    <a:p>
                      <a:pPr lvl="0" indent="0" marL="0" algn="r">
                        <a:buNone/>
                      </a:pPr>
                      <a:r>
                        <a:rPr>
                          <a:latin typeface="Courier"/>
                        </a:rPr>
                        <a:t>0.1615</a:t>
                      </a:r>
                    </a:p>
                  </a:txBody>
                </a:tc>
                <a:tc>
                  <a:txBody>
                    <a:bodyPr/>
                    <a:lstStyle/>
                    <a:p>
                      <a:pPr lvl="0" indent="0" marL="0">
                        <a:buNone/>
                      </a:pPr>
                      <a:r>
                        <a:rPr/>
                        <a:t>Fit diagnostic</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None</a:t>
            </a:r>
          </a:p>
          <a:p>
            <a:pPr lvl="0" indent="0" marL="1270000">
              <a:buNone/>
            </a:pPr>
            <a:r>
              <a:rPr sz="2000"/>
              <a:t>This is the current presentation-facing closure: Li/Na staged transfer from a Rezaee source-regressed bridge. Ca, Mg, and other divalent ions remain pretreatment context, not active extraction targets.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3.3 Multi-Stage Performance</a:t>
            </a:r>
          </a:p>
        </p:txBody>
      </p:sp>
      <p:graphicFrame>
        <p:nvGraphicFramePr>
          <p:cNvPr id="6" name="Content Placeholder 5"/>
          <p:cNvGraphicFramePr>
            <a:graphicFrameLocks noGrp="1"/>
          </p:cNvGraphicFramePr>
          <p:nvPr>
            <p:ph idx="1"/>
          </p:nvPr>
        </p:nvGraphicFramePr>
        <p:xfrm>
          <a:off x="457200" y="1193800"/>
          <a:ext cx="4038600" cy="33909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a:t>Stage metric</a:t>
                      </a:r>
                    </a:p>
                  </a:txBody>
                  <a:tcPr/>
                </a:tc>
                <a:tc>
                  <a:txBody>
                    <a:bodyPr/>
                    <a:lstStyle/>
                    <a:p>
                      <a:pPr lvl="0" indent="0" marL="0" algn="r">
                        <a:buNone/>
                      </a:pPr>
                      <a:r>
                        <a:rPr/>
                        <a:t>Rezaee bridge value</a:t>
                      </a:r>
                    </a:p>
                  </a:txBody>
                  <a:tcPr/>
                </a:tc>
              </a:tr>
              <a:tr h="0">
                <a:tc>
                  <a:txBody>
                    <a:bodyPr/>
                    <a:lstStyle/>
                    <a:p>
                      <a:pPr lvl="0" indent="0" marL="0">
                        <a:buNone/>
                      </a:pPr>
                      <a:r>
                        <a:rPr/>
                        <a:t>Stage 1 Li extraction</a:t>
                      </a:r>
                    </a:p>
                  </a:txBody>
                </a:tc>
                <a:tc>
                  <a:txBody>
                    <a:bodyPr/>
                    <a:lstStyle/>
                    <a:p>
                      <a:pPr lvl="0" indent="0" marL="0" algn="r">
                        <a:buNone/>
                      </a:pPr>
                      <a:r>
                        <a:rPr>
                          <a:latin typeface="Courier"/>
                        </a:rPr>
                        <a:t>45.3660%</a:t>
                      </a:r>
                    </a:p>
                  </a:txBody>
                </a:tc>
              </a:tr>
              <a:tr h="0">
                <a:tc>
                  <a:txBody>
                    <a:bodyPr/>
                    <a:lstStyle/>
                    <a:p>
                      <a:pPr lvl="0" indent="0" marL="0">
                        <a:buNone/>
                      </a:pPr>
                      <a:r>
                        <a:rPr/>
                        <a:t>Stage 1 Na extraction</a:t>
                      </a:r>
                    </a:p>
                  </a:txBody>
                </a:tc>
                <a:tc>
                  <a:txBody>
                    <a:bodyPr/>
                    <a:lstStyle/>
                    <a:p>
                      <a:pPr lvl="0" indent="0" marL="0" algn="r">
                        <a:buNone/>
                      </a:pPr>
                      <a:r>
                        <a:rPr>
                          <a:latin typeface="Courier"/>
                        </a:rPr>
                        <a:t>8.9780%</a:t>
                      </a:r>
                    </a:p>
                  </a:txBody>
                </a:tc>
              </a:tr>
              <a:tr h="0">
                <a:tc>
                  <a:txBody>
                    <a:bodyPr/>
                    <a:lstStyle/>
                    <a:p>
                      <a:pPr lvl="0" indent="0" marL="0">
                        <a:buNone/>
                      </a:pPr>
                      <a:r>
                        <a:rPr/>
                        <a:t>Stage 3 Li recovery</a:t>
                      </a:r>
                    </a:p>
                  </a:txBody>
                </a:tc>
                <a:tc>
                  <a:txBody>
                    <a:bodyPr/>
                    <a:lstStyle/>
                    <a:p>
                      <a:pPr lvl="0" indent="0" marL="0" algn="r">
                        <a:buNone/>
                      </a:pPr>
                      <a:r>
                        <a:rPr>
                          <a:latin typeface="Courier"/>
                        </a:rPr>
                        <a:t>83.6925%</a:t>
                      </a:r>
                    </a:p>
                  </a:txBody>
                </a:tc>
              </a:tr>
              <a:tr h="0">
                <a:tc>
                  <a:txBody>
                    <a:bodyPr/>
                    <a:lstStyle/>
                    <a:p>
                      <a:pPr lvl="0" indent="0" marL="0">
                        <a:buNone/>
                      </a:pPr>
                      <a:r>
                        <a:rPr/>
                        <a:t>Stage 3 Na recovery</a:t>
                      </a:r>
                    </a:p>
                  </a:txBody>
                </a:tc>
                <a:tc>
                  <a:txBody>
                    <a:bodyPr/>
                    <a:lstStyle/>
                    <a:p>
                      <a:pPr lvl="0" indent="0" marL="0" algn="r">
                        <a:buNone/>
                      </a:pPr>
                      <a:r>
                        <a:rPr>
                          <a:latin typeface="Courier"/>
                        </a:rPr>
                        <a:t>24.5883%</a:t>
                      </a:r>
                    </a:p>
                  </a:txBody>
                </a:tc>
              </a:tr>
            </a:tbl>
          </a:graphicData>
        </a:graphic>
      </p:graphicFrame>
      <p:sp>
        <p:nvSpPr>
          <p:cNvPr id="4" name="Content Placeholder 3"/>
          <p:cNvSpPr>
            <a:spLocks noGrp="1"/>
          </p:cNvSpPr>
          <p:nvPr>
            <p:ph idx="2" sz="half"/>
          </p:nvPr>
        </p:nvSpPr>
        <p:spPr/>
        <p:txBody>
          <a:bodyPr/>
          <a:lstStyle/>
          <a:p>
            <a:pPr lvl="0" indent="0" marL="0">
              <a:buNone/>
            </a:pPr>
            <a:r>
              <a:rPr b="1"/>
              <a:t>Three-stage bridge interpretation</a:t>
            </a:r>
          </a:p>
          <a:p>
            <a:pPr lvl="0"/>
            <a:r>
              <a:rPr/>
              <a:t>The stage chain is source-regressed from Rezaee Li/Na responses.</a:t>
            </a:r>
          </a:p>
          <a:p>
            <a:pPr lvl="0"/>
            <a:r>
              <a:rPr/>
              <a:t>The Smackover row is a feed-context projection, not a measured Arkansas extraction experiment.</a:t>
            </a:r>
          </a:p>
          <a:p>
            <a:pPr lvl="0"/>
            <a:r>
              <a:rPr/>
              <a:t>The result is strong enough for PrOMMiS/IDAES handoff, not investment-grade TEA.</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3.4 Thermodynamic Insight</a:t>
            </a:r>
          </a:p>
        </p:txBody>
      </p:sp>
      <p:sp>
        <p:nvSpPr>
          <p:cNvPr id="3" name="Content Placeholder 2"/>
          <p:cNvSpPr>
            <a:spLocks noGrp="1"/>
          </p:cNvSpPr>
          <p:nvPr>
            <p:ph idx="1" sz="half"/>
          </p:nvPr>
        </p:nvSpPr>
        <p:spPr/>
        <p:txBody>
          <a:bodyPr/>
          <a:lstStyle/>
          <a:p>
            <a:pPr lvl="0" indent="0" marL="0">
              <a:buNone/>
            </a:pPr>
            <a:r>
              <a:rPr b="1"/>
              <a:t>The old question</a:t>
            </a:r>
          </a:p>
          <a:p>
            <a:pPr lvl="0" indent="0" marL="0">
              <a:buNone/>
            </a:pPr>
            <a:r>
              <a:rPr/>
              <a:t>Can this solvent extract lithium from this brine?</a:t>
            </a:r>
          </a:p>
          <a:p>
            <a:pPr lvl="0" indent="0" marL="0">
              <a:buNone/>
            </a:pPr>
            <a:r>
              <a:rPr b="1"/>
              <a:t>The stronger question</a:t>
            </a:r>
          </a:p>
          <a:p>
            <a:pPr lvl="0" indent="0" marL="0">
              <a:buNone/>
            </a:pPr>
            <a:r>
              <a:rPr/>
              <a:t>Where should this chemistry work, how does the answer change with basin chemistry, and what stage variables should enter a process model?</a:t>
            </a:r>
          </a:p>
        </p:txBody>
      </p:sp>
      <p:sp>
        <p:nvSpPr>
          <p:cNvPr id="4" name="Content Placeholder 3"/>
          <p:cNvSpPr>
            <a:spLocks noGrp="1"/>
          </p:cNvSpPr>
          <p:nvPr>
            <p:ph idx="2" sz="half"/>
          </p:nvPr>
        </p:nvSpPr>
        <p:spPr/>
        <p:txBody>
          <a:bodyPr/>
          <a:lstStyle/>
          <a:p>
            <a:pPr lvl="0" indent="0" marL="0">
              <a:buNone/>
            </a:pPr>
            <a:r>
              <a:rPr b="1"/>
              <a:t>Why ePC-SAFT changes the question</a:t>
            </a:r>
          </a:p>
          <a:p>
            <a:pPr lvl="0"/>
            <a:r>
              <a:rPr/>
              <a:t>It turns feed chemistry into equilibrium states.</a:t>
            </a:r>
          </a:p>
          <a:p>
            <a:pPr lvl="0"/>
            <a:r>
              <a:rPr/>
              <a:t>It lets salt load and O/A ratio become computable sensitivities.</a:t>
            </a:r>
          </a:p>
          <a:p>
            <a:pPr lvl="0"/>
            <a:r>
              <a:rPr/>
              <a:t>It provides distribution and selectivity variables, not only recovery percentages.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4. PrOMMiS / IDAES Process Bridge</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4.1 From Equilibrium To Transfer Variables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Process-model need</a:t>
                      </a:r>
                    </a:p>
                  </a:txBody>
                  <a:tcPr/>
                </a:tc>
                <a:tc>
                  <a:txBody>
                    <a:bodyPr/>
                    <a:lstStyle/>
                    <a:p>
                      <a:pPr lvl="0" indent="0" marL="0">
                        <a:buNone/>
                      </a:pPr>
                      <a:r>
                        <a:rPr/>
                        <a:t>ePC-SAFT-derived quantity</a:t>
                      </a:r>
                    </a:p>
                  </a:txBody>
                  <a:tcPr/>
                </a:tc>
                <a:tc>
                  <a:txBody>
                    <a:bodyPr/>
                    <a:lstStyle/>
                    <a:p>
                      <a:pPr lvl="0" indent="0" marL="0">
                        <a:buNone/>
                      </a:pPr>
                      <a:r>
                        <a:rPr/>
                        <a:t>Use in PrOMMiS / IDAES</a:t>
                      </a:r>
                    </a:p>
                  </a:txBody>
                  <a:tcPr/>
                </a:tc>
              </a:tr>
              <a:tr h="0">
                <a:tc>
                  <a:txBody>
                    <a:bodyPr/>
                    <a:lstStyle/>
                    <a:p>
                      <a:pPr lvl="0" indent="0" marL="0">
                        <a:buNone/>
                      </a:pPr>
                      <a:r>
                        <a:rPr/>
                        <a:t>Feed state</a:t>
                      </a:r>
                    </a:p>
                  </a:txBody>
                </a:tc>
                <a:tc>
                  <a:txBody>
                    <a:bodyPr/>
                    <a:lstStyle/>
                    <a:p>
                      <a:pPr lvl="0" indent="0" marL="0">
                        <a:buNone/>
                      </a:pPr>
                      <a:r>
                        <a:rPr/>
                        <a:t>(z_i), TDS, Li/Na/Mg/Ca/Sr/Ba/Cl basis, temperature</a:t>
                      </a:r>
                    </a:p>
                  </a:txBody>
                </a:tc>
                <a:tc>
                  <a:txBody>
                    <a:bodyPr/>
                    <a:lstStyle/>
                    <a:p>
                      <a:pPr lvl="0" indent="0" marL="0">
                        <a:buNone/>
                      </a:pPr>
                      <a:r>
                        <a:rPr/>
                        <a:t>Basin-specific solvent-extraction inlet</a:t>
                      </a:r>
                    </a:p>
                  </a:txBody>
                </a:tc>
              </a:tr>
              <a:tr h="0">
                <a:tc>
                  <a:txBody>
                    <a:bodyPr/>
                    <a:lstStyle/>
                    <a:p>
                      <a:pPr lvl="0" indent="0" marL="0">
                        <a:buNone/>
                      </a:pPr>
                      <a:r>
                        <a:rPr/>
                        <a:t>Phase split</a:t>
                      </a:r>
                    </a:p>
                  </a:txBody>
                </a:tc>
                <a:tc>
                  <a:txBody>
                    <a:bodyPr/>
                    <a:lstStyle/>
                    <a:p>
                      <a:pPr lvl="0" indent="0" marL="0">
                        <a:buNone/>
                      </a:pPr>
                      <a:r>
                        <a:rPr/>
                        <a:t>aqueous and organic compositions, phase fraction</a:t>
                      </a:r>
                    </a:p>
                  </a:txBody>
                </a:tc>
                <a:tc>
                  <a:txBody>
                    <a:bodyPr/>
                    <a:lstStyle/>
                    <a:p>
                      <a:pPr lvl="0" indent="0" marL="0">
                        <a:buNone/>
                      </a:pPr>
                      <a:r>
                        <a:rPr/>
                        <a:t>Equilibrium target or closure for a stage</a:t>
                      </a:r>
                    </a:p>
                  </a:txBody>
                </a:tc>
              </a:tr>
              <a:tr h="0">
                <a:tc>
                  <a:txBody>
                    <a:bodyPr/>
                    <a:lstStyle/>
                    <a:p>
                      <a:pPr lvl="0" indent="0" marL="0">
                        <a:buNone/>
                      </a:pPr>
                      <a:r>
                        <a:rPr/>
                        <a:t>Transfer strength</a:t>
                      </a:r>
                    </a:p>
                  </a:txBody>
                </a:tc>
                <a:tc>
                  <a:txBody>
                    <a:bodyPr/>
                    <a:lstStyle/>
                    <a:p>
                      <a:pPr lvl="0" indent="0" marL="0">
                        <a:buNone/>
                      </a:pPr>
                      <a:r>
                        <a:rPr/>
                        <a:t>(D_i = C_{i,org}/C_{i,aq})</a:t>
                      </a:r>
                    </a:p>
                  </a:txBody>
                </a:tc>
                <a:tc>
                  <a:txBody>
                    <a:bodyPr/>
                    <a:lstStyle/>
                    <a:p>
                      <a:pPr lvl="0" indent="0" marL="0">
                        <a:buNone/>
                      </a:pPr>
                      <a:r>
                        <a:rPr/>
                        <a:t>Distribution behavior in material balances</a:t>
                      </a:r>
                    </a:p>
                  </a:txBody>
                </a:tc>
              </a:tr>
              <a:tr h="0">
                <a:tc>
                  <a:txBody>
                    <a:bodyPr/>
                    <a:lstStyle/>
                    <a:p>
                      <a:pPr lvl="0" indent="0" marL="0">
                        <a:buNone/>
                      </a:pPr>
                      <a:r>
                        <a:rPr/>
                        <a:t>Selectivity</a:t>
                      </a:r>
                    </a:p>
                  </a:txBody>
                </a:tc>
                <a:tc>
                  <a:txBody>
                    <a:bodyPr/>
                    <a:lstStyle/>
                    <a:p>
                      <a:pPr lvl="0" indent="0" marL="0">
                        <a:buNone/>
                      </a:pPr>
                      <a:r>
                        <a:rPr/>
                        <a:t>(S_{Li/Na})</a:t>
                      </a:r>
                    </a:p>
                  </a:txBody>
                </a:tc>
                <a:tc>
                  <a:txBody>
                    <a:bodyPr/>
                    <a:lstStyle/>
                    <a:p>
                      <a:pPr lvl="0" indent="0" marL="0">
                        <a:buNone/>
                      </a:pPr>
                      <a:r>
                        <a:rPr/>
                        <a:t>Separation constraint for the active Li/Na showcase</a:t>
                      </a:r>
                    </a:p>
                  </a:txBody>
                </a:tc>
              </a:tr>
            </a:tbl>
          </a:graphicData>
        </a:graphic>
      </p:graphicFrame>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None</a:t>
            </a:r>
          </a:p>
          <a:p>
            <a:pPr lvl="0" indent="0" marL="1270000">
              <a:buNone/>
            </a:pPr>
            <a:r>
              <a:rPr sz="2000"/>
              <a:t>PrOMMiS and IDAES do not just need a lithium recovery number. They need a defensible map from produced-water chemistry to stage transfer variables.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4.2 Transfer-Variable Contract</a:t>
            </a:r>
          </a:p>
        </p:txBody>
      </p:sp>
      <p:sp>
        <p:nvSpPr>
          <p:cNvPr id="4" name="Text Placeholder 3"/>
          <p:cNvSpPr>
            <a:spLocks noGrp="1"/>
          </p:cNvSpPr>
          <p:nvPr>
            <p:ph idx="2" sz="half" type="body"/>
          </p:nvPr>
        </p:nvSpPr>
        <p:spPr/>
        <p:txBody>
          <a:bodyPr/>
          <a:lstStyle/>
          <a:p>
            <a:pPr lvl="0" indent="0" marL="0">
              <a:buNone/>
            </a:pPr>
            <a:r>
              <a:rPr/>
              <a:t>For process integration, the ePC-SAFT output should be treated as the following structured contract: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Variable</a:t>
                      </a:r>
                    </a:p>
                  </a:txBody>
                  <a:tcPr/>
                </a:tc>
                <a:tc>
                  <a:txBody>
                    <a:bodyPr/>
                    <a:lstStyle/>
                    <a:p>
                      <a:pPr lvl="0" indent="0" marL="0">
                        <a:buNone/>
                      </a:pPr>
                      <a:r>
                        <a:rPr/>
                        <a:t>Definition</a:t>
                      </a:r>
                    </a:p>
                  </a:txBody>
                  <a:tcPr/>
                </a:tc>
                <a:tc>
                  <a:txBody>
                    <a:bodyPr/>
                    <a:lstStyle/>
                    <a:p>
                      <a:pPr lvl="0" indent="0" marL="0">
                        <a:buNone/>
                      </a:pPr>
                      <a:r>
                        <a:rPr/>
                        <a:t>Why PrOMMiS / IDAES needs it</a:t>
                      </a:r>
                    </a:p>
                  </a:txBody>
                  <a:tcPr/>
                </a:tc>
              </a:tr>
              <a:tr h="0">
                <a:tc>
                  <a:txBody>
                    <a:bodyPr/>
                    <a:lstStyle/>
                    <a:p>
                      <a:pPr lvl="0" indent="0" marL="0">
                        <a:buNone/>
                      </a:pPr>
                      <a:r>
                        <a:rPr/>
                        <a:t>(_i)</a:t>
                      </a:r>
                    </a:p>
                  </a:txBody>
                </a:tc>
                <a:tc>
                  <a:txBody>
                    <a:bodyPr/>
                    <a:lstStyle/>
                    <a:p>
                      <a:pPr lvl="0" indent="0" marL="0">
                        <a:buNone/>
                      </a:pPr>
                      <a:r>
                        <a:rPr/>
                        <a:t>stage removal (= (C_{i,in} - C_{i,out}) / C_{i,in})</a:t>
                      </a:r>
                    </a:p>
                  </a:txBody>
                </a:tc>
                <a:tc>
                  <a:txBody>
                    <a:bodyPr/>
                    <a:lstStyle/>
                    <a:p>
                      <a:pPr lvl="0" indent="0" marL="0">
                        <a:buNone/>
                      </a:pPr>
                      <a:r>
                        <a:rPr/>
                        <a:t>Links chemistry to process-wide recovery objectives</a:t>
                      </a:r>
                    </a:p>
                  </a:txBody>
                </a:tc>
              </a:tr>
              <a:tr h="0">
                <a:tc>
                  <a:txBody>
                    <a:bodyPr/>
                    <a:lstStyle/>
                    <a:p>
                      <a:pPr lvl="0" indent="0" marL="0">
                        <a:buNone/>
                      </a:pPr>
                      <a:r>
                        <a:rPr/>
                        <a:t>(D_i)</a:t>
                      </a:r>
                    </a:p>
                  </a:txBody>
                </a:tc>
                <a:tc>
                  <a:txBody>
                    <a:bodyPr/>
                    <a:lstStyle/>
                    <a:p>
                      <a:pPr lvl="0" indent="0" marL="0">
                        <a:buNone/>
                      </a:pPr>
                      <a:r>
                        <a:rPr/>
                        <a:t>(C_{i,org} / C_{i,aq})</a:t>
                      </a:r>
                    </a:p>
                  </a:txBody>
                </a:tc>
                <a:tc>
                  <a:txBody>
                    <a:bodyPr/>
                    <a:lstStyle/>
                    <a:p>
                      <a:pPr lvl="0" indent="0" marL="0">
                        <a:buNone/>
                      </a:pPr>
                      <a:r>
                        <a:rPr/>
                        <a:t>Controls staged transfer in material balance equations</a:t>
                      </a:r>
                    </a:p>
                  </a:txBody>
                </a:tc>
              </a:tr>
              <a:tr h="0">
                <a:tc>
                  <a:txBody>
                    <a:bodyPr/>
                    <a:lstStyle/>
                    <a:p>
                      <a:pPr lvl="0" indent="0" marL="0">
                        <a:buNone/>
                      </a:pPr>
                      <a:r>
                        <a:rPr/>
                        <a:t>(S_{Li/Na})</a:t>
                      </a:r>
                    </a:p>
                  </a:txBody>
                </a:tc>
                <a:tc>
                  <a:txBody>
                    <a:bodyPr/>
                    <a:lstStyle/>
                    <a:p>
                      <a:pPr lvl="0" indent="0" marL="0">
                        <a:buNone/>
                      </a:pPr>
                      <a:r>
                        <a:rPr/>
                        <a:t>Selectivity ratio from stage/phase outputs</a:t>
                      </a:r>
                    </a:p>
                  </a:txBody>
                </a:tc>
                <a:tc>
                  <a:txBody>
                    <a:bodyPr/>
                    <a:lstStyle/>
                    <a:p>
                      <a:pPr lvl="0" indent="0" marL="0">
                        <a:buNone/>
                      </a:pPr>
                      <a:r>
                        <a:rPr/>
                        <a:t>Enables solvent and design comparison without refitting fixed coefficients</a:t>
                      </a:r>
                    </a:p>
                  </a:txBody>
                </a:tc>
              </a:tr>
              <a:tr h="0">
                <a:tc>
                  <a:txBody>
                    <a:bodyPr/>
                    <a:lstStyle/>
                    <a:p>
                      <a:pPr lvl="0" indent="0" marL="0">
                        <a:buNone/>
                      </a:pPr>
                      <a:r>
                        <a:rPr/>
                        <a:t>Validity flags</a:t>
                      </a:r>
                    </a:p>
                  </a:txBody>
                </a:tc>
                <a:tc>
                  <a:txBody>
                    <a:bodyPr/>
                    <a:lstStyle/>
                    <a:p>
                      <a:pPr lvl="0" indent="0" marL="0">
                        <a:buNone/>
                      </a:pPr>
                      <a:r>
                        <a:rPr/>
                        <a:t>residuals, phase flags, domain bounds</a:t>
                      </a:r>
                    </a:p>
                  </a:txBody>
                </a:tc>
                <a:tc>
                  <a:txBody>
                    <a:bodyPr/>
                    <a:lstStyle/>
                    <a:p>
                      <a:pPr lvl="0" indent="0" marL="0">
                        <a:buNone/>
                      </a:pPr>
                      <a:r>
                        <a:rPr/>
                        <a:t>Prevents brittle points from entering surrogate or optimizer datasets</a:t>
                      </a:r>
                    </a:p>
                  </a:txBody>
                </a:tc>
              </a:tr>
            </a:tbl>
          </a:graphicData>
        </a:graphic>
      </p:graphicFrame>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None</a:t>
            </a:r>
          </a:p>
          <a:p>
            <a:pPr lvl="0" indent="0" marL="1270000">
              <a:buNone/>
            </a:pPr>
            <a:r>
              <a:rPr sz="2000"/>
              <a:t>This keeps the story concrete: ePC-SAFT computes the transfer map; PrOMMiS/IDAES consumes it.</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4.3 Why This Belongs In PrOMMiS / IDAES</a:t>
            </a:r>
          </a:p>
        </p:txBody>
      </p:sp>
      <p:sp>
        <p:nvSpPr>
          <p:cNvPr id="3" name="Content Placeholder 2"/>
          <p:cNvSpPr>
            <a:spLocks noGrp="1"/>
          </p:cNvSpPr>
          <p:nvPr>
            <p:ph idx="1"/>
          </p:nvPr>
        </p:nvSpPr>
        <p:spPr/>
        <p:txBody>
          <a:bodyPr/>
          <a:lstStyle/>
          <a:p>
            <a:pPr lvl="0" indent="0" marL="0">
              <a:buNone/>
            </a:pPr>
            <a:r>
              <a:rPr b="1"/>
              <a:t>1. Offline engine</a:t>
            </a:r>
            <a:r>
              <a:rPr/>
              <a:t> Run ePC-SAFT outside the flowsheet to generate equilibrium tables over feed chemistry, O/A ratio, and solvent conditions.</a:t>
            </a:r>
          </a:p>
          <a:p>
            <a:pPr lvl="0" indent="0" marL="0">
              <a:buNone/>
            </a:pPr>
            <a:r>
              <a:rPr b="1"/>
              <a:t>2. Surrogate layer</a:t>
            </a:r>
            <a:r>
              <a:rPr/>
              <a:t> Fit ALAMO or another surrogate inside a documented trust region so optimization is fast and bounded.</a:t>
            </a:r>
          </a:p>
          <a:p>
            <a:pPr lvl="0" indent="0" marL="0">
              <a:buNone/>
            </a:pPr>
            <a:r>
              <a:rPr b="1"/>
              <a:t>3. External function</a:t>
            </a:r>
            <a:r>
              <a:rPr/>
              <a:t> Expose high-fidelity calls for studies where direct thermodynamic solves are worth the cost.</a:t>
            </a:r>
          </a:p>
          <a:p>
            <a:pPr lvl="0" indent="0" marL="0">
              <a:buNone/>
            </a:pPr>
            <a:r>
              <a:rPr b="1"/>
              <a:t>4. Process model</a:t>
            </a:r>
            <a:r>
              <a:rPr/>
              <a:t> Use PrOMMiS/IDAES for staged extraction, recycle, stripping, costing hooks, and optimization.</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4.4 Formal IDAES Costing Scaffold</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Costing block</a:t>
                      </a:r>
                    </a:p>
                  </a:txBody>
                  <a:tcPr/>
                </a:tc>
                <a:tc>
                  <a:txBody>
                    <a:bodyPr/>
                    <a:lstStyle/>
                    <a:p>
                      <a:pPr lvl="0" indent="0" marL="0">
                        <a:buNone/>
                      </a:pPr>
                      <a:r>
                        <a:rPr/>
                        <a:t>Current basis</a:t>
                      </a:r>
                    </a:p>
                  </a:txBody>
                  <a:tcPr/>
                </a:tc>
                <a:tc>
                  <a:txBody>
                    <a:bodyPr/>
                    <a:lstStyle/>
                    <a:p>
                      <a:pPr lvl="0" indent="0" marL="0">
                        <a:buNone/>
                      </a:pPr>
                      <a:r>
                        <a:rPr/>
                        <a:t>Needed before formal TEA</a:t>
                      </a:r>
                    </a:p>
                  </a:txBody>
                  <a:tcPr/>
                </a:tc>
              </a:tr>
              <a:tr h="0">
                <a:tc>
                  <a:txBody>
                    <a:bodyPr/>
                    <a:lstStyle/>
                    <a:p>
                      <a:pPr lvl="0" indent="0" marL="0">
                        <a:buNone/>
                      </a:pPr>
                      <a:r>
                        <a:rPr/>
                        <a:t>Feed and annual basis</a:t>
                      </a:r>
                    </a:p>
                  </a:txBody>
                </a:tc>
                <a:tc>
                  <a:txBody>
                    <a:bodyPr/>
                    <a:lstStyle/>
                    <a:p>
                      <a:pPr lvl="0" indent="0" marL="0">
                        <a:buNone/>
                      </a:pPr>
                      <a:r>
                        <a:rPr/>
                        <a:t>Smackover base feed; </a:t>
                      </a:r>
                      <a:r>
                        <a:rPr>
                          <a:latin typeface="Courier"/>
                        </a:rPr>
                        <a:t>100/1000/10000 m3/day</a:t>
                      </a:r>
                      <a:r>
                        <a:rPr/>
                        <a:t> scenarios</a:t>
                      </a:r>
                    </a:p>
                  </a:txBody>
                </a:tc>
                <a:tc>
                  <a:txBody>
                    <a:bodyPr/>
                    <a:lstStyle/>
                    <a:p>
                      <a:pPr lvl="0" indent="0" marL="0">
                        <a:buNone/>
                      </a:pPr>
                      <a:r>
                        <a:rPr/>
                        <a:t>approved flowrate and uptime</a:t>
                      </a:r>
                    </a:p>
                  </a:txBody>
                </a:tc>
              </a:tr>
              <a:tr h="0">
                <a:tc>
                  <a:txBody>
                    <a:bodyPr/>
                    <a:lstStyle/>
                    <a:p>
                      <a:pPr lvl="0" indent="0" marL="0">
                        <a:buNone/>
                      </a:pPr>
                      <a:r>
                        <a:rPr/>
                        <a:t>Pretreatment</a:t>
                      </a:r>
                    </a:p>
                  </a:txBody>
                </a:tc>
                <a:tc>
                  <a:txBody>
                    <a:bodyPr/>
                    <a:lstStyle/>
                    <a:p>
                      <a:pPr lvl="0" indent="0" marL="0">
                        <a:buNone/>
                      </a:pPr>
                      <a:r>
                        <a:rPr/>
                        <a:t>IDAES/Pyomo scenario expression from model inputs</a:t>
                      </a:r>
                    </a:p>
                  </a:txBody>
                </a:tc>
                <a:tc>
                  <a:txBody>
                    <a:bodyPr/>
                    <a:lstStyle/>
                    <a:p>
                      <a:pPr lvl="0" indent="0" marL="0">
                        <a:buNone/>
                      </a:pPr>
                      <a:r>
                        <a:rPr/>
                        <a:t>removal target, reagent use, waste handling</a:t>
                      </a:r>
                    </a:p>
                  </a:txBody>
                </a:tc>
              </a:tr>
              <a:tr h="0">
                <a:tc>
                  <a:txBody>
                    <a:bodyPr/>
                    <a:lstStyle/>
                    <a:p>
                      <a:pPr lvl="0" indent="0" marL="0">
                        <a:buNone/>
                      </a:pPr>
                      <a:r>
                        <a:rPr/>
                        <a:t>Extraction/contacting</a:t>
                      </a:r>
                    </a:p>
                  </a:txBody>
                </a:tc>
                <a:tc>
                  <a:txBody>
                    <a:bodyPr/>
                    <a:lstStyle/>
                    <a:p>
                      <a:pPr lvl="0" indent="0" marL="0">
                        <a:buNone/>
                      </a:pPr>
                      <a:r>
                        <a:rPr/>
                        <a:t>three-stage Rezaee DES/TOPO Li/Na bridge</a:t>
                      </a:r>
                    </a:p>
                  </a:txBody>
                </a:tc>
                <a:tc>
                  <a:txBody>
                    <a:bodyPr/>
                    <a:lstStyle/>
                    <a:p>
                      <a:pPr lvl="0" indent="0" marL="0">
                        <a:buNone/>
                      </a:pPr>
                      <a:r>
                        <a:rPr/>
                        <a:t>contactor sizing, residence time, solvent inventory</a:t>
                      </a:r>
                    </a:p>
                  </a:txBody>
                </a:tc>
              </a:tr>
              <a:tr h="0">
                <a:tc>
                  <a:txBody>
                    <a:bodyPr/>
                    <a:lstStyle/>
                    <a:p>
                      <a:pPr lvl="0" indent="0" marL="0">
                        <a:buNone/>
                      </a:pPr>
                      <a:r>
                        <a:rPr/>
                        <a:t>Solvent makeup/loss</a:t>
                      </a:r>
                    </a:p>
                  </a:txBody>
                </a:tc>
                <a:tc>
                  <a:txBody>
                    <a:bodyPr/>
                    <a:lstStyle/>
                    <a:p>
                      <a:pPr lvl="0" indent="0" marL="0">
                        <a:buNone/>
                      </a:pPr>
                      <a:r>
                        <a:rPr/>
                        <a:t>low/base/high placeholder per m3 feed</a:t>
                      </a:r>
                    </a:p>
                  </a:txBody>
                </a:tc>
                <a:tc>
                  <a:txBody>
                    <a:bodyPr/>
                    <a:lstStyle/>
                    <a:p>
                      <a:pPr lvl="0" indent="0" marL="0">
                        <a:buNone/>
                      </a:pPr>
                      <a:r>
                        <a:rPr/>
                        <a:t>DES/TOPO prices and solvent-loss rate</a:t>
                      </a:r>
                    </a:p>
                  </a:txBody>
                </a:tc>
              </a:tr>
              <a:tr h="0">
                <a:tc>
                  <a:txBody>
                    <a:bodyPr/>
                    <a:lstStyle/>
                    <a:p>
                      <a:pPr lvl="0" indent="0" marL="0">
                        <a:buNone/>
                      </a:pPr>
                      <a:r>
                        <a:rPr/>
                        <a:t>Concentration and Li2CO3 precipitation</a:t>
                      </a:r>
                    </a:p>
                  </a:txBody>
                </a:tc>
                <a:tc>
                  <a:txBody>
                    <a:bodyPr/>
                    <a:lstStyle/>
                    <a:p>
                      <a:pPr lvl="0" indent="0" marL="0">
                        <a:buNone/>
                      </a:pPr>
                      <a:r>
                        <a:rPr/>
                        <a:t>bridge recovery </a:t>
                      </a:r>
                      <a:r>
                        <a:rPr>
                          <a:latin typeface="Courier"/>
                        </a:rPr>
                        <a:t>83.6925%</a:t>
                      </a:r>
                    </a:p>
                  </a:txBody>
                </a:tc>
                <a:tc>
                  <a:txBody>
                    <a:bodyPr/>
                    <a:lstStyle/>
                    <a:p>
                      <a:pPr lvl="0" indent="0" marL="0">
                        <a:buNone/>
                      </a:pPr>
                      <a:r>
                        <a:rPr/>
                        <a:t>evaporation duty, carbonate reagent, product spec</a:t>
                      </a:r>
                    </a:p>
                  </a:txBody>
                </a:tc>
              </a:tr>
            </a:tbl>
          </a:graphicData>
        </a:graphic>
      </p:graphicFrame>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None</a:t>
            </a:r>
          </a:p>
          <a:p>
            <a:pPr lvl="0" indent="0" marL="1270000">
              <a:buNone/>
            </a:pPr>
            <a:r>
              <a:rPr sz="2000"/>
              <a:t>The formal IDAES/Pyomo layer computes production, revenue, annual operating cost, annualized contactor CAPEX, breakeven Li2CO3 price, and net-before-tax scenario values.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4.5 MSContactor/Costing Readiness Check</a:t>
            </a:r>
          </a:p>
        </p:txBody>
      </p:sp>
      <p:pic>
        <p:nvPicPr>
          <p:cNvPr descr="../analyses/rezaee_2026_pcsaft_epcsaft/results/uq_surrogate/figures/calibrated_costing_scenarios.png" id="0" name="Picture 1"/>
          <p:cNvPicPr>
            <a:picLocks noGrp="1" noChangeAspect="1"/>
          </p:cNvPicPr>
          <p:nvPr/>
        </p:nvPicPr>
        <p:blipFill>
          <a:blip r:embed="rId3"/>
          <a:stretch>
            <a:fillRect/>
          </a:stretch>
        </p:blipFill>
        <p:spPr bwMode="auto">
          <a:xfrm>
            <a:off x="1701800" y="1193800"/>
            <a:ext cx="5740400" cy="33909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4.6 Implementation Requirements</a:t>
            </a:r>
          </a:p>
        </p:txBody>
      </p:sp>
      <p:sp>
        <p:nvSpPr>
          <p:cNvPr id="3" name="Content Placeholder 2"/>
          <p:cNvSpPr>
            <a:spLocks noGrp="1"/>
          </p:cNvSpPr>
          <p:nvPr>
            <p:ph idx="1" sz="half"/>
          </p:nvPr>
        </p:nvSpPr>
        <p:spPr/>
        <p:txBody>
          <a:bodyPr/>
          <a:lstStyle/>
          <a:p>
            <a:pPr lvl="0" indent="0" marL="0">
              <a:buNone/>
            </a:pPr>
            <a:r>
              <a:rPr b="1"/>
              <a:t>Add ePC-SAFT as the thermodynamic backbone</a:t>
            </a:r>
          </a:p>
          <a:p>
            <a:pPr lvl="0"/>
            <a:r>
              <a:rPr/>
              <a:t>property/equilibrium service for electrolyte LLE</a:t>
            </a:r>
          </a:p>
          <a:p>
            <a:pPr lvl="0"/>
            <a:r>
              <a:rPr/>
              <a:t>documented species and feed basis</a:t>
            </a:r>
          </a:p>
          <a:p>
            <a:pPr lvl="0"/>
            <a:r>
              <a:rPr/>
              <a:t>diagnostics carried with every result</a:t>
            </a:r>
          </a:p>
          <a:p>
            <a:pPr lvl="0"/>
            <a:r>
              <a:rPr/>
              <a:t>reproducible dataset generation</a:t>
            </a:r>
          </a:p>
        </p:txBody>
      </p:sp>
      <p:sp>
        <p:nvSpPr>
          <p:cNvPr id="4" name="Content Placeholder 3"/>
          <p:cNvSpPr>
            <a:spLocks noGrp="1"/>
          </p:cNvSpPr>
          <p:nvPr>
            <p:ph idx="2" sz="half"/>
          </p:nvPr>
        </p:nvSpPr>
        <p:spPr/>
        <p:txBody>
          <a:bodyPr/>
          <a:lstStyle/>
          <a:p>
            <a:pPr lvl="0" indent="0" marL="0">
              <a:buNone/>
            </a:pPr>
            <a:r>
              <a:rPr b="1"/>
              <a:t>Use PrOMMiS/IDAES for the process system</a:t>
            </a:r>
          </a:p>
          <a:p>
            <a:pPr lvl="0"/>
            <a:r>
              <a:rPr/>
              <a:t>solvent-extraction stage balances</a:t>
            </a:r>
          </a:p>
          <a:p>
            <a:pPr lvl="0"/>
            <a:r>
              <a:rPr/>
              <a:t>multi-stage contactors</a:t>
            </a:r>
          </a:p>
          <a:p>
            <a:pPr lvl="0"/>
            <a:r>
              <a:rPr/>
              <a:t>surrogate and external-function interfaces</a:t>
            </a:r>
          </a:p>
          <a:p>
            <a:pPr lvl="0"/>
            <a:r>
              <a:rPr/>
              <a:t>flowsheet optimization and costing hooks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None</a:t>
            </a:r>
          </a:p>
          <a:p>
            <a:pPr lvl="0" indent="0" marL="1270000">
              <a:buNone/>
            </a:pPr>
            <a:r>
              <a:rPr sz="2000"/>
              <a:t>The sell is simple: ePC-SAFT supplies the equilibrium evidence; PrOMMiS/IDAES turns that evidence into a process model.</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4.7 Remaining Engineering Work</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Priority</a:t>
                      </a:r>
                    </a:p>
                  </a:txBody>
                  <a:tcPr/>
                </a:tc>
                <a:tc>
                  <a:txBody>
                    <a:bodyPr/>
                    <a:lstStyle/>
                    <a:p>
                      <a:pPr lvl="0" indent="0" marL="0">
                        <a:buNone/>
                      </a:pPr>
                      <a:r>
                        <a:rPr/>
                        <a:t>Work item</a:t>
                      </a:r>
                    </a:p>
                  </a:txBody>
                  <a:tcPr/>
                </a:tc>
                <a:tc>
                  <a:txBody>
                    <a:bodyPr/>
                    <a:lstStyle/>
                    <a:p>
                      <a:pPr lvl="0" indent="0" marL="0">
                        <a:buNone/>
                      </a:pPr>
                      <a:r>
                        <a:rPr/>
                        <a:t>Why it matters</a:t>
                      </a:r>
                    </a:p>
                  </a:txBody>
                  <a:tcPr/>
                </a:tc>
              </a:tr>
              <a:tr h="0">
                <a:tc>
                  <a:txBody>
                    <a:bodyPr/>
                    <a:lstStyle/>
                    <a:p>
                      <a:pPr lvl="0" indent="0" marL="0">
                        <a:buNone/>
                      </a:pPr>
                      <a:r>
                        <a:rPr/>
                        <a:t>1</a:t>
                      </a:r>
                    </a:p>
                  </a:txBody>
                </a:tc>
                <a:tc>
                  <a:txBody>
                    <a:bodyPr/>
                    <a:lstStyle/>
                    <a:p>
                      <a:pPr lvl="0" indent="0" marL="0">
                        <a:buNone/>
                      </a:pPr>
                      <a:r>
                        <a:rPr/>
                        <a:t>Resolve the Rezaee activity-reference gap</a:t>
                      </a:r>
                    </a:p>
                  </a:txBody>
                </a:tc>
                <a:tc>
                  <a:txBody>
                    <a:bodyPr/>
                    <a:lstStyle/>
                    <a:p>
                      <a:pPr lvl="0" indent="0" marL="0">
                        <a:buNone/>
                      </a:pPr>
                      <a:r>
                        <a:rPr/>
                        <a:t>Determines whether direct published-constant reactive equilibrium can replace the bridge</a:t>
                      </a:r>
                    </a:p>
                  </a:txBody>
                </a:tc>
              </a:tr>
              <a:tr h="0">
                <a:tc>
                  <a:txBody>
                    <a:bodyPr/>
                    <a:lstStyle/>
                    <a:p>
                      <a:pPr lvl="0" indent="0" marL="0">
                        <a:buNone/>
                      </a:pPr>
                      <a:r>
                        <a:rPr/>
                        <a:t>2</a:t>
                      </a:r>
                    </a:p>
                  </a:txBody>
                </a:tc>
                <a:tc>
                  <a:txBody>
                    <a:bodyPr/>
                    <a:lstStyle/>
                    <a:p>
                      <a:pPr lvl="0" indent="0" marL="0">
                        <a:buNone/>
                      </a:pPr>
                      <a:r>
                        <a:rPr/>
                        <a:t>Validate high-Na/Li extraction data</a:t>
                      </a:r>
                    </a:p>
                  </a:txBody>
                </a:tc>
                <a:tc>
                  <a:txBody>
                    <a:bodyPr/>
                    <a:lstStyle/>
                    <a:p>
                      <a:pPr lvl="0" indent="0" marL="0">
                        <a:buNone/>
                      </a:pPr>
                      <a:r>
                        <a:rPr/>
                        <a:t>Tests the main extrapolation warning beyond the Rezaee DOE range</a:t>
                      </a:r>
                    </a:p>
                  </a:txBody>
                </a:tc>
              </a:tr>
              <a:tr h="0">
                <a:tc>
                  <a:txBody>
                    <a:bodyPr/>
                    <a:lstStyle/>
                    <a:p>
                      <a:pPr lvl="0" indent="0" marL="0">
                        <a:buNone/>
                      </a:pPr>
                      <a:r>
                        <a:rPr/>
                        <a:t>3</a:t>
                      </a:r>
                    </a:p>
                  </a:txBody>
                </a:tc>
                <a:tc>
                  <a:txBody>
                    <a:bodyPr/>
                    <a:lstStyle/>
                    <a:p>
                      <a:pPr lvl="0" indent="0" marL="0">
                        <a:buNone/>
                      </a:pPr>
                      <a:r>
                        <a:rPr/>
                        <a:t>Upgrade the Rezaee-named PrOMMiS MSContactor case from algebraic transfer to unit-model validation</a:t>
                      </a:r>
                    </a:p>
                  </a:txBody>
                </a:tc>
                <a:tc>
                  <a:txBody>
                    <a:bodyPr/>
                    <a:lstStyle/>
                    <a:p>
                      <a:pPr lvl="0" indent="0" marL="0">
                        <a:buNone/>
                      </a:pPr>
                      <a:r>
                        <a:rPr/>
                        <a:t>Tests convergence and material-balance consistency under staged operation</a:t>
                      </a:r>
                    </a:p>
                  </a:txBody>
                </a:tc>
              </a:tr>
              <a:tr h="0">
                <a:tc>
                  <a:txBody>
                    <a:bodyPr/>
                    <a:lstStyle/>
                    <a:p>
                      <a:pPr lvl="0" indent="0" marL="0">
                        <a:buNone/>
                      </a:pPr>
                      <a:r>
                        <a:rPr/>
                        <a:t>4</a:t>
                      </a:r>
                    </a:p>
                  </a:txBody>
                </a:tc>
                <a:tc>
                  <a:txBody>
                    <a:bodyPr/>
                    <a:lstStyle/>
                    <a:p>
                      <a:pPr lvl="0" indent="0" marL="0">
                        <a:buNone/>
                      </a:pPr>
                      <a:r>
                        <a:rPr/>
                        <a:t>Replace Class-5 costing assumptions with engineering ranges</a:t>
                      </a:r>
                    </a:p>
                  </a:txBody>
                </a:tc>
                <a:tc>
                  <a:txBody>
                    <a:bodyPr/>
                    <a:lstStyle/>
                    <a:p>
                      <a:pPr lvl="0" indent="0" marL="0">
                        <a:buNone/>
                      </a:pPr>
                      <a:r>
                        <a:rPr/>
                        <a:t>Improves economic credibility before TEA-style interpretation</a:t>
                      </a:r>
                    </a:p>
                  </a:txBody>
                </a:tc>
              </a:tr>
              <a:tr h="0">
                <a:tc>
                  <a:txBody>
                    <a:bodyPr/>
                    <a:lstStyle/>
                    <a:p>
                      <a:pPr lvl="0" indent="0" marL="0">
                        <a:buNone/>
                      </a:pPr>
                      <a:r>
                        <a:rPr/>
                        <a:t>5</a:t>
                      </a:r>
                    </a:p>
                  </a:txBody>
                </a:tc>
                <a:tc>
                  <a:txBody>
                    <a:bodyPr/>
                    <a:lstStyle/>
                    <a:p>
                      <a:pPr lvl="0" indent="0" marL="0">
                        <a:buNone/>
                      </a:pPr>
                      <a:r>
                        <a:rPr/>
                        <a:t>Keep legacy solvent artifacts in the archive</a:t>
                      </a:r>
                    </a:p>
                  </a:txBody>
                </a:tc>
                <a:tc>
                  <a:txBody>
                    <a:bodyPr/>
                    <a:lstStyle/>
                    <a:p>
                      <a:pPr lvl="0" indent="0" marL="0">
                        <a:buNone/>
                      </a:pPr>
                      <a:r>
                        <a:rPr/>
                        <a:t>Preserves traceability without confusing the active Rezaee chain</a:t>
                      </a:r>
                    </a:p>
                  </a:txBody>
                </a:tc>
              </a:tr>
            </a:tbl>
          </a:graphicData>
        </a:graphic>
      </p:graphicFrame>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5. Backup: Sensitivity Expansion</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5.1 Next-Step Sensitivity Expansion</a:t>
            </a:r>
          </a:p>
        </p:txBody>
      </p:sp>
      <p:sp>
        <p:nvSpPr>
          <p:cNvPr id="3" name="Content Placeholder 2"/>
          <p:cNvSpPr>
            <a:spLocks noGrp="1"/>
          </p:cNvSpPr>
          <p:nvPr>
            <p:ph idx="1"/>
          </p:nvPr>
        </p:nvSpPr>
        <p:spPr/>
        <p:txBody>
          <a:bodyPr/>
          <a:lstStyle/>
          <a:p>
            <a:pPr lvl="0"/>
            <a:r>
              <a:rPr/>
              <a:t>Re-run the Rezaee bridge across basin-style feed envelopes:</a:t>
            </a:r>
          </a:p>
          <a:p>
            <a:pPr lvl="1"/>
            <a:r>
              <a:rPr/>
              <a:t>Appalachian high-Li case</a:t>
            </a:r>
          </a:p>
          <a:p>
            <a:pPr lvl="1"/>
            <a:r>
              <a:rPr/>
              <a:t>Permian volume-driven low-grade case</a:t>
            </a:r>
          </a:p>
          <a:p>
            <a:pPr lvl="1"/>
            <a:r>
              <a:rPr/>
              <a:t>Williston high-TDS case</a:t>
            </a:r>
          </a:p>
          <a:p>
            <a:pPr lvl="1"/>
            <a:r>
              <a:rPr/>
              <a:t>Smackover premium-brine case</a:t>
            </a:r>
          </a:p>
          <a:p>
            <a:pPr lvl="0"/>
            <a:r>
              <a:rPr/>
              <a:t>Keep the next design-of-experiments table in Markdown so trust-region bounds and surrogate regions are explicit.</a:t>
            </a:r>
          </a:p>
          <a:p>
            <a:pPr lvl="0"/>
            <a:r>
              <a:rPr/>
              <a:t>Start from the scaffold response table and replace the response columns with calibrated model outputs.</a:t>
            </a:r>
          </a:p>
          <a:p>
            <a:pPr lvl="0"/>
            <a:r>
              <a:rPr/>
              <a:t>Add a PrOMMiS/IDAES interface table for every generated variable: units, species basis, source basis, and validity limits.</a:t>
            </a:r>
          </a:p>
          <a:p>
            <a:pPr lvl="0"/>
            <a:r>
              <a:rPr/>
              <a:t>Keep the narrative in one place: screening, thermodynamics, selective result, and process-design interface.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ePC-SAFT For Produced-Water Lithium Extraction</dc:title>
  <dc:creator>Chemical engineering technical review</dc:creator>
  <cp:keywords/>
  <dcterms:created xsi:type="dcterms:W3CDTF">2026-05-08T19:29:14Z</dcterms:created>
  <dcterms:modified xsi:type="dcterms:W3CDTF">2026-05-08T19:29:14Z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2026-05-08</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subtitle">
    <vt:lpwstr>Rezaee DES/TOPO Li/Na bridge for thermodynamic and process-systems integration</vt:lpwstr>
  </property>
  <property fmtid="{D5CDD505-2E9C-101B-9397-08002B2CF9AE}" pid="11" name="toc-title">
    <vt:lpwstr>Table of contents</vt:lpwstr>
  </property>
</Properties>
</file>