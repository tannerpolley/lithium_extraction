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notesMaster" Target="notesMasters/notesMaster1.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Restrict quantitative claims to source-backed literature, generated validation tables, and explicitly labeled model outputs. Ionic-liquid systems are context only, not the active benchmark.</a:t>
            </a:r>
          </a:p>
          <a:p>
            <a:pPr lvl="0" indent="0" marL="0">
              <a:buNone/>
            </a:pPr>
          </a:p>
          <a:p>
            <a:pPr lvl="0" indent="0" marL="0">
              <a:buNone/>
            </a:pPr>
            <a:r>
              <a:rPr/>
              <a:t>Open with the implementation need, not with a generic lithium motivation. The audience should understand within the first minute that this is a case for thermodynamic integration, not a broad solvent-discovery survey.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first premise. If produced water were a single feed, a simple recovery factor might be defensible. It is not a single feed, so the model needs to carry chemistry.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key line is: Smackover wins not because it is easy, but because it is valuable and thermodynamically unforgiving. That is exactly where an electrolyte EoS earns its keep.</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shows true source composition without implying that the Shan/Gando extraction feed is a Smackover sample.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makes the case concrete while preserving the source-vs-chemistry boundary.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trace-metal values are censored thresholds, so avoid treating medians as exact resource grades. The key message is disciplined: REE are not source-supported for this feed yet.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makes the problem multidimensional without inventing unsupported ranges. It sets up why a thermodynamic engine is needed before a process optimizer starts sampling.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not to oversell. This is a replacement for unsupported transfer assumptions, not a claim that ePC-SAFT solves kinetics, hydraulics, or plant economics by itself.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novelty claim is reusable insight. The model lets the project ask where the chemistry should work, why the answer changes across basins, and what variables the process model should receive. For this deck, those variables are transfer variables, not equipment performance coefficients.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prevents overclaiming. It answers the obvious reviewer question: yes, the new paper is useful, but it used PC-SAFT for the organic side and ePC-SAFT for the aqueous side. The case study still needs its own HBTA/TOPO parameterization.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ranking keeps the active benchmark conventional and non-ionic while still identifying backup solvent families.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creates the contrast. The older result is not embarrassing; it is the baseline that proves why a better thermodynamic/chemistry architecture is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important contrast is selective transfer: lithium moves materially while sodium barely moves. The model is source-regressed against literature anchors and reused across feed cases, but it is still not a full organic-phase ePC-SAFT closure.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near-total stage-three value is useful as a design signal, not as a final physical claim. In the costing tables it is capped to the Shan/Gando three-stage anchor.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main “novel insight” slide. The idea is not just a better lithium number. It is a more reusable way to reason from location to chemistry to process design.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concrete software interface. Percent extraction is the audience-friendly number; the unit model needs compositions, phase splits, distribution ratios, selectivity, and diagnostics.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strongest technical anchor for implementation reviewers because it is explicit about what gets passed across process boundaries.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recommended maturity ladder. Do not pitch direct coupling as the only path. The lowest-risk first step is an offline data generator that feeds a bounded surrogate.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assumptions are scenario placeholders, not vendor quotes.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ask. It should leave no ambiguity about what you want: implement ePC-SAFT into the ecosystem so these cases can move from isolated scripts into reusable process models.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gives you a transparent ending if someone asks what is already proven versus what remains. It also turns the next work into a clear roadmap rather than a vague promise.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backup slide is the roadmap for the next systematic screening campaign. It should be shown when someone asks how this becomes more than one case.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ePC-SAFT For Produced-Water Lithium Extraction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Thermodynamic and process-systems case study for HBTA/TOPO solvent extraction</a:t>
            </a:r>
            <a:br/>
            <a:br/>
            <a:r>
              <a:rPr/>
              <a:t>Chemical engineering technical review</a:t>
            </a:r>
          </a:p>
        </p:txBody>
      </p:sp>
      <p:sp>
        <p:nvSpPr>
          <p:cNvPr id="4" name="Date Placeholder 3"/>
          <p:cNvSpPr>
            <a:spLocks noGrp="1"/>
          </p:cNvSpPr>
          <p:nvPr>
            <p:ph idx="10" sz="half" type="dt"/>
          </p:nvPr>
        </p:nvSpPr>
        <p:spPr/>
        <p:txBody>
          <a:bodyPr/>
          <a:lstStyle/>
          <a:p>
            <a:pPr lvl="0" indent="0" marL="0">
              <a:buNone/>
            </a:pPr>
            <a:r>
              <a:rPr/>
              <a:t>2026-05-07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0. Technical Thesis</a:t>
            </a:r>
          </a:p>
        </p:txBody>
      </p:sp>
      <p:sp>
        <p:nvSpPr>
          <p:cNvPr id="3" name="Content Placeholder 2"/>
          <p:cNvSpPr>
            <a:spLocks noGrp="1"/>
          </p:cNvSpPr>
          <p:nvPr>
            <p:ph idx="1"/>
          </p:nvPr>
        </p:nvSpPr>
        <p:spPr/>
        <p:txBody>
          <a:bodyPr/>
          <a:lstStyle/>
          <a:p>
            <a:pPr lvl="0" indent="0" marL="0">
              <a:buNone/>
            </a:pPr>
            <a:r>
              <a:rPr/>
              <a:t>This deck makes one chemical-engineering argument:</a:t>
            </a:r>
          </a:p>
          <a:p>
            <a:pPr lvl="0" indent="0" marL="1270000">
              <a:buNone/>
            </a:pPr>
            <a:r>
              <a:rPr sz="2000" b="1"/>
              <a:t>None</a:t>
            </a:r>
          </a:p>
          <a:p>
            <a:pPr lvl="0" indent="0" marL="1270000">
              <a:buNone/>
            </a:pPr>
            <a:r>
              <a:rPr sz="2000"/>
              <a:t>Produced-water lithium extraction needs a thermodynamic model that maps basin chemistry into solvent-extraction transfer variables. The benchmark chemistry is the non-ionic HBTA/TOPO/sulfonated-kerosene system; ePC-SAFT is evaluated as the equilibrium backbone for PrOMMiS and IDAES.</a:t>
            </a:r>
          </a:p>
          <a:p>
            <a:pPr lvl="0"/>
            <a:r>
              <a:rPr/>
              <a:t>Feed basis: southern Arkansas Smackover brine.</a:t>
            </a:r>
          </a:p>
          <a:p>
            <a:pPr lvl="0"/>
            <a:r>
              <a:rPr/>
              <a:t>Solvent chemistry: HBTA/TOPO complexation with selective Li transfer.</a:t>
            </a:r>
          </a:p>
          <a:p>
            <a:pPr lvl="0"/>
            <a:r>
              <a:rPr/>
              <a:t>Thermodynamic target: electrolyte liquid-liquid equilibrium and ion-specific distribution.</a:t>
            </a:r>
          </a:p>
          <a:p>
            <a:pPr lvl="0"/>
            <a:r>
              <a:rPr/>
              <a:t>Process target: staged extraction, surrogate generation, and IDAES costing.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 Basin Thermodynamic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Produced Water Is Not One Feed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Basin</a:t>
                      </a:r>
                    </a:p>
                  </a:txBody>
                  <a:tcPr/>
                </a:tc>
                <a:tc>
                  <a:txBody>
                    <a:bodyPr/>
                    <a:lstStyle/>
                    <a:p>
                      <a:pPr lvl="0" indent="0" marL="0">
                        <a:buNone/>
                      </a:pPr>
                      <a:r>
                        <a:rPr/>
                        <a:t>Representative lithium signal</a:t>
                      </a:r>
                    </a:p>
                  </a:txBody>
                  <a:tcPr/>
                </a:tc>
                <a:tc>
                  <a:txBody>
                    <a:bodyPr/>
                    <a:lstStyle/>
                    <a:p>
                      <a:pPr lvl="0" indent="0" marL="0">
                        <a:buNone/>
                      </a:pPr>
                      <a:r>
                        <a:rPr/>
                        <a:t>Representative TDS signal</a:t>
                      </a:r>
                    </a:p>
                  </a:txBody>
                  <a:tcPr/>
                </a:tc>
                <a:tc>
                  <a:txBody>
                    <a:bodyPr/>
                    <a:lstStyle/>
                    <a:p>
                      <a:pPr lvl="0" indent="0" marL="0">
                        <a:buNone/>
                      </a:pPr>
                      <a:r>
                        <a:rPr/>
                        <a:t>Why it matters</a:t>
                      </a:r>
                    </a:p>
                  </a:txBody>
                  <a:tcPr/>
                </a:tc>
              </a:tr>
              <a:tr h="0">
                <a:tc>
                  <a:txBody>
                    <a:bodyPr/>
                    <a:lstStyle/>
                    <a:p>
                      <a:pPr lvl="0" indent="0" marL="0">
                        <a:buNone/>
                      </a:pPr>
                      <a:r>
                        <a:rPr/>
                        <a:t>Appalachian</a:t>
                      </a:r>
                    </a:p>
                  </a:txBody>
                </a:tc>
                <a:tc>
                  <a:txBody>
                    <a:bodyPr/>
                    <a:lstStyle/>
                    <a:p>
                      <a:pPr lvl="0" indent="0" marL="0">
                        <a:buNone/>
                      </a:pPr>
                      <a:r>
                        <a:rPr/>
                        <a:t>Marcellus subsets reach </a:t>
                      </a:r>
                      <a:r>
                        <a:rPr>
                          <a:latin typeface="Courier"/>
                        </a:rPr>
                        <a:t>127-205 mg/L</a:t>
                      </a:r>
                      <a:r>
                        <a:rPr/>
                        <a:t> Li</a:t>
                      </a:r>
                    </a:p>
                  </a:txBody>
                </a:tc>
                <a:tc>
                  <a:txBody>
                    <a:bodyPr/>
                    <a:lstStyle/>
                    <a:p>
                      <a:pPr lvl="0" indent="0" marL="0">
                        <a:buNone/>
                      </a:pPr>
                      <a:r>
                        <a:rPr/>
                        <a:t>Often </a:t>
                      </a:r>
                      <a:r>
                        <a:rPr>
                          <a:latin typeface="Courier"/>
                        </a:rPr>
                        <a:t>&gt;100,000 mg/L</a:t>
                      </a:r>
                      <a:r>
                        <a:rPr/>
                        <a:t> TDS</a:t>
                      </a:r>
                    </a:p>
                  </a:txBody>
                </a:tc>
                <a:tc>
                  <a:txBody>
                    <a:bodyPr/>
                    <a:lstStyle/>
                    <a:p>
                      <a:pPr lvl="0" indent="0" marL="0">
                        <a:buNone/>
                      </a:pPr>
                      <a:r>
                        <a:rPr/>
                        <a:t>High Li, chemically variable</a:t>
                      </a:r>
                    </a:p>
                  </a:txBody>
                </a:tc>
              </a:tr>
              <a:tr h="0">
                <a:tc>
                  <a:txBody>
                    <a:bodyPr/>
                    <a:lstStyle/>
                    <a:p>
                      <a:pPr lvl="0" indent="0" marL="0">
                        <a:buNone/>
                      </a:pPr>
                      <a:r>
                        <a:rPr/>
                        <a:t>Permian</a:t>
                      </a:r>
                    </a:p>
                  </a:txBody>
                </a:tc>
                <a:tc>
                  <a:txBody>
                    <a:bodyPr/>
                    <a:lstStyle/>
                    <a:p>
                      <a:pPr lvl="0" indent="0" marL="0">
                        <a:buNone/>
                      </a:pPr>
                      <a:r>
                        <a:rPr/>
                        <a:t>Wolfcamp average near </a:t>
                      </a:r>
                      <a:r>
                        <a:rPr>
                          <a:latin typeface="Courier"/>
                        </a:rPr>
                        <a:t>14 ppm</a:t>
                      </a:r>
                      <a:r>
                        <a:rPr/>
                        <a:t> Li</a:t>
                      </a:r>
                    </a:p>
                  </a:txBody>
                </a:tc>
                <a:tc>
                  <a:txBody>
                    <a:bodyPr/>
                    <a:lstStyle/>
                    <a:p>
                      <a:pPr lvl="0" indent="0" marL="0">
                        <a:buNone/>
                      </a:pPr>
                      <a:r>
                        <a:rPr>
                          <a:latin typeface="Courier"/>
                        </a:rPr>
                        <a:t>&lt;25-140 g/L</a:t>
                      </a:r>
                      <a:r>
                        <a:rPr/>
                        <a:t> TDS range</a:t>
                      </a:r>
                    </a:p>
                  </a:txBody>
                </a:tc>
                <a:tc>
                  <a:txBody>
                    <a:bodyPr/>
                    <a:lstStyle/>
                    <a:p>
                      <a:pPr lvl="0" indent="0" marL="0">
                        <a:buNone/>
                      </a:pPr>
                      <a:r>
                        <a:rPr/>
                        <a:t>High water volume, lower Li grade</a:t>
                      </a:r>
                    </a:p>
                  </a:txBody>
                </a:tc>
              </a:tr>
              <a:tr h="0">
                <a:tc>
                  <a:txBody>
                    <a:bodyPr/>
                    <a:lstStyle/>
                    <a:p>
                      <a:pPr lvl="0" indent="0" marL="0">
                        <a:buNone/>
                      </a:pPr>
                      <a:r>
                        <a:rPr/>
                        <a:t>Williston</a:t>
                      </a:r>
                    </a:p>
                  </a:txBody>
                </a:tc>
                <a:tc>
                  <a:txBody>
                    <a:bodyPr/>
                    <a:lstStyle/>
                    <a:p>
                      <a:pPr lvl="0" indent="0" marL="0">
                        <a:buNone/>
                      </a:pPr>
                      <a:r>
                        <a:rPr/>
                        <a:t>Brines can exceed </a:t>
                      </a:r>
                      <a:r>
                        <a:rPr>
                          <a:latin typeface="Courier"/>
                        </a:rPr>
                        <a:t>100 mg/L</a:t>
                      </a:r>
                      <a:r>
                        <a:rPr/>
                        <a:t> Li</a:t>
                      </a:r>
                    </a:p>
                  </a:txBody>
                </a:tc>
                <a:tc>
                  <a:txBody>
                    <a:bodyPr/>
                    <a:lstStyle/>
                    <a:p>
                      <a:pPr lvl="0" indent="0" marL="0">
                        <a:buNone/>
                      </a:pPr>
                      <a:r>
                        <a:rPr/>
                        <a:t>Bakken/Three Forks near </a:t>
                      </a:r>
                      <a:r>
                        <a:rPr>
                          <a:latin typeface="Courier"/>
                        </a:rPr>
                        <a:t>308 g/L</a:t>
                      </a:r>
                      <a:r>
                        <a:rPr/>
                        <a:t> TDS</a:t>
                      </a:r>
                    </a:p>
                  </a:txBody>
                </a:tc>
                <a:tc>
                  <a:txBody>
                    <a:bodyPr/>
                    <a:lstStyle/>
                    <a:p>
                      <a:pPr lvl="0" indent="0" marL="0">
                        <a:buNone/>
                      </a:pPr>
                      <a:r>
                        <a:rPr/>
                        <a:t>Salinity can dominate pretreatment</a:t>
                      </a:r>
                    </a:p>
                  </a:txBody>
                </a:tc>
              </a:tr>
              <a:tr h="0">
                <a:tc>
                  <a:txBody>
                    <a:bodyPr/>
                    <a:lstStyle/>
                    <a:p>
                      <a:pPr lvl="0" indent="0" marL="0">
                        <a:buNone/>
                      </a:pPr>
                      <a:r>
                        <a:rPr/>
                        <a:t>Smackover</a:t>
                      </a:r>
                    </a:p>
                  </a:txBody>
                </a:tc>
                <a:tc>
                  <a:txBody>
                    <a:bodyPr/>
                    <a:lstStyle/>
                    <a:p>
                      <a:pPr lvl="0" indent="0" marL="0">
                        <a:buNone/>
                      </a:pPr>
                      <a:r>
                        <a:rPr/>
                        <a:t>Observed Li about </a:t>
                      </a:r>
                      <a:r>
                        <a:rPr>
                          <a:latin typeface="Courier"/>
                        </a:rPr>
                        <a:t>1-477 mg/L</a:t>
                      </a:r>
                    </a:p>
                  </a:txBody>
                </a:tc>
                <a:tc>
                  <a:txBody>
                    <a:bodyPr/>
                    <a:lstStyle/>
                    <a:p>
                      <a:pPr lvl="0" indent="0" marL="0">
                        <a:buNone/>
                      </a:pPr>
                      <a:r>
                        <a:rPr>
                          <a:latin typeface="Courier"/>
                        </a:rPr>
                        <a:t>156,000-340,000 mg/L</a:t>
                      </a:r>
                      <a:r>
                        <a:rPr/>
                        <a:t> TDS</a:t>
                      </a:r>
                    </a:p>
                  </a:txBody>
                </a:tc>
                <a:tc>
                  <a:txBody>
                    <a:bodyPr/>
                    <a:lstStyle/>
                    <a:p>
                      <a:pPr lvl="0" indent="0" marL="0">
                        <a:buNone/>
                      </a:pPr>
                      <a:r>
                        <a:rPr/>
                        <a:t>Premium but thermodynamically hard</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None</a:t>
            </a:r>
          </a:p>
          <a:p>
            <a:pPr lvl="0" indent="0" marL="1270000">
              <a:buNone/>
            </a:pPr>
            <a:r>
              <a:rPr sz="2000"/>
              <a:t>The case study starts with basin screening because the same extraction train will not behave the same across these feeds.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1.2 Why Smackover Is The Flagship Case</a:t>
            </a:r>
          </a:p>
        </p:txBody>
      </p:sp>
      <p:sp>
        <p:nvSpPr>
          <p:cNvPr id="4" name="Text Placeholder 3"/>
          <p:cNvSpPr>
            <a:spLocks noGrp="1"/>
          </p:cNvSpPr>
          <p:nvPr>
            <p:ph idx="2" sz="half" type="body"/>
          </p:nvPr>
        </p:nvSpPr>
        <p:spPr/>
        <p:txBody>
          <a:bodyPr/>
          <a:lstStyle/>
          <a:p>
            <a:pPr lvl="0" indent="0" marL="0">
              <a:buNone/>
            </a:pPr>
            <a:r>
              <a:rPr b="1"/>
              <a:t>Why this location makes sense</a:t>
            </a:r>
          </a:p>
          <a:p>
            <a:pPr lvl="0"/>
            <a:r>
              <a:rPr/>
              <a:t>Southern Arkansas Smackover combines high Li with very high salinity, so the chemistry is both valuable and hard.</a:t>
            </a:r>
          </a:p>
          <a:p>
            <a:pPr lvl="0"/>
            <a:r>
              <a:rPr/>
              <a:t>Smackover and Marcellus are the more favorable U.S. plays on major-metals-to-lithium and divalent-to-lithium ratios in the cited screening work.</a:t>
            </a:r>
          </a:p>
          <a:p>
            <a:pPr lvl="0"/>
            <a:r>
              <a:rPr/>
              <a:t>Arkansas already has commercial bromine and brine-handling infrastructure.</a:t>
            </a:r>
          </a:p>
          <a:p>
            <a:pPr lvl="0"/>
            <a:r>
              <a:rPr/>
              <a:t>That combination connects chemistry, location, and process deployment.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Signal</a:t>
                      </a:r>
                    </a:p>
                  </a:txBody>
                  <a:tcPr/>
                </a:tc>
                <a:tc>
                  <a:txBody>
                    <a:bodyPr/>
                    <a:lstStyle/>
                    <a:p>
                      <a:pPr lvl="0" indent="0" marL="0">
                        <a:buNone/>
                      </a:pPr>
                      <a:r>
                        <a:rPr/>
                        <a:t>Smackover basis</a:t>
                      </a:r>
                    </a:p>
                  </a:txBody>
                  <a:tcPr/>
                </a:tc>
              </a:tr>
              <a:tr h="0">
                <a:tc>
                  <a:txBody>
                    <a:bodyPr/>
                    <a:lstStyle/>
                    <a:p>
                      <a:pPr lvl="0" indent="0" marL="0">
                        <a:buNone/>
                      </a:pPr>
                      <a:r>
                        <a:rPr/>
                        <a:t>Li range</a:t>
                      </a:r>
                    </a:p>
                  </a:txBody>
                </a:tc>
                <a:tc>
                  <a:txBody>
                    <a:bodyPr/>
                    <a:lstStyle/>
                    <a:p>
                      <a:pPr lvl="0" indent="0" marL="0">
                        <a:buNone/>
                      </a:pPr>
                      <a:r>
                        <a:rPr/>
                        <a:t>observed wells span about </a:t>
                      </a:r>
                      <a:r>
                        <a:rPr>
                          <a:latin typeface="Courier"/>
                        </a:rPr>
                        <a:t>1-477 mg/L</a:t>
                      </a:r>
                    </a:p>
                  </a:txBody>
                </a:tc>
              </a:tr>
              <a:tr h="0">
                <a:tc>
                  <a:txBody>
                    <a:bodyPr/>
                    <a:lstStyle/>
                    <a:p>
                      <a:pPr lvl="0" indent="0" marL="0">
                        <a:buNone/>
                      </a:pPr>
                      <a:r>
                        <a:rPr/>
                        <a:t>TDS range</a:t>
                      </a:r>
                    </a:p>
                  </a:txBody>
                </a:tc>
                <a:tc>
                  <a:txBody>
                    <a:bodyPr/>
                    <a:lstStyle/>
                    <a:p>
                      <a:pPr lvl="0" indent="0" marL="0">
                        <a:buNone/>
                      </a:pPr>
                      <a:r>
                        <a:rPr/>
                        <a:t>observed samples span </a:t>
                      </a:r>
                      <a:r>
                        <a:rPr>
                          <a:latin typeface="Courier"/>
                        </a:rPr>
                        <a:t>156,000-340,000 mg/L</a:t>
                      </a:r>
                    </a:p>
                  </a:txBody>
                </a:tc>
              </a:tr>
              <a:tr h="0">
                <a:tc>
                  <a:txBody>
                    <a:bodyPr/>
                    <a:lstStyle/>
                    <a:p>
                      <a:pPr lvl="0" indent="0" marL="0">
                        <a:buNone/>
                      </a:pPr>
                      <a:r>
                        <a:rPr/>
                        <a:t>Median TDS</a:t>
                      </a:r>
                    </a:p>
                  </a:txBody>
                </a:tc>
                <a:tc>
                  <a:txBody>
                    <a:bodyPr/>
                    <a:lstStyle/>
                    <a:p>
                      <a:pPr lvl="0" indent="0" marL="0">
                        <a:buNone/>
                      </a:pPr>
                      <a:r>
                        <a:rPr/>
                        <a:t>current observation-set median is </a:t>
                      </a:r>
                      <a:r>
                        <a:rPr>
                          <a:latin typeface="Courier"/>
                        </a:rPr>
                        <a:t>305,000 mg/L</a:t>
                      </a:r>
                    </a:p>
                  </a:txBody>
                </a:tc>
              </a:tr>
              <a:tr h="0">
                <a:tc>
                  <a:txBody>
                    <a:bodyPr/>
                    <a:lstStyle/>
                    <a:p>
                      <a:pPr lvl="0" indent="0" marL="0">
                        <a:buNone/>
                      </a:pPr>
                      <a:r>
                        <a:rPr/>
                        <a:t>Infrastructure</a:t>
                      </a:r>
                    </a:p>
                  </a:txBody>
                </a:tc>
                <a:tc>
                  <a:txBody>
                    <a:bodyPr/>
                    <a:lstStyle/>
                    <a:p>
                      <a:pPr lvl="0" indent="0" marL="0">
                        <a:buNone/>
                      </a:pPr>
                      <a:r>
                        <a:rPr/>
                        <a:t>existing Arkansas bromine/brine operations</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1.3 Smackover Feed Basis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231900"/>
                <a:gridCol w="1231900"/>
                <a:gridCol w="1651000"/>
                <a:gridCol w="1651000"/>
                <a:gridCol w="1231900"/>
                <a:gridCol w="1231900"/>
              </a:tblGrid>
              <a:tr h="0">
                <a:tc>
                  <a:txBody>
                    <a:bodyPr/>
                    <a:lstStyle/>
                    <a:p>
                      <a:pPr lvl="0" indent="0" marL="0">
                        <a:buNone/>
                      </a:pPr>
                      <a:r>
                        <a:rPr/>
                        <a:t>Case</a:t>
                      </a:r>
                    </a:p>
                  </a:txBody>
                  <a:tcPr/>
                </a:tc>
                <a:tc>
                  <a:txBody>
                    <a:bodyPr/>
                    <a:lstStyle/>
                    <a:p>
                      <a:pPr lvl="0" indent="0" marL="0">
                        <a:buNone/>
                      </a:pPr>
                      <a:r>
                        <a:rPr/>
                        <a:t>Row</a:t>
                      </a:r>
                    </a:p>
                  </a:txBody>
                  <a:tcPr/>
                </a:tc>
                <a:tc>
                  <a:txBody>
                    <a:bodyPr/>
                    <a:lstStyle/>
                    <a:p>
                      <a:pPr lvl="0" indent="0" marL="0" algn="r">
                        <a:buNone/>
                      </a:pPr>
                      <a:r>
                        <a:rPr/>
                        <a:t>Li (mg/L)</a:t>
                      </a:r>
                    </a:p>
                  </a:txBody>
                  <a:tcPr/>
                </a:tc>
                <a:tc>
                  <a:txBody>
                    <a:bodyPr/>
                    <a:lstStyle/>
                    <a:p>
                      <a:pPr lvl="0" indent="0" marL="0" algn="r">
                        <a:buNone/>
                      </a:pPr>
                      <a:r>
                        <a:rPr/>
                        <a:t>TDS (mg/L)</a:t>
                      </a:r>
                    </a:p>
                  </a:txBody>
                  <a:tcPr/>
                </a:tc>
                <a:tc>
                  <a:txBody>
                    <a:bodyPr/>
                    <a:lstStyle/>
                    <a:p>
                      <a:pPr lvl="0" indent="0" marL="0">
                        <a:buNone/>
                      </a:pPr>
                      <a:r>
                        <a:rPr/>
                        <a:t>Na/Ca/Mg (mg/L)</a:t>
                      </a:r>
                    </a:p>
                  </a:txBody>
                  <a:tcPr/>
                </a:tc>
                <a:tc>
                  <a:txBody>
                    <a:bodyPr/>
                    <a:lstStyle/>
                    <a:p>
                      <a:pPr lvl="0" indent="0" marL="0">
                        <a:buNone/>
                      </a:pPr>
                      <a:r>
                        <a:rPr/>
                        <a:t>Role</a:t>
                      </a:r>
                    </a:p>
                  </a:txBody>
                  <a:tcPr/>
                </a:tc>
              </a:tr>
              <a:tr h="0">
                <a:tc>
                  <a:txBody>
                    <a:bodyPr/>
                    <a:lstStyle/>
                    <a:p>
                      <a:pPr lvl="0" indent="0" marL="0">
                        <a:buNone/>
                      </a:pPr>
                      <a:r>
                        <a:rPr/>
                        <a:t>Low observed</a:t>
                      </a:r>
                    </a:p>
                  </a:txBody>
                </a:tc>
                <a:tc>
                  <a:txBody>
                    <a:bodyPr/>
                    <a:lstStyle/>
                    <a:p>
                      <a:pPr lvl="0" indent="0" marL="0">
                        <a:buNone/>
                      </a:pPr>
                      <a:r>
                        <a:rPr>
                          <a:latin typeface="Courier"/>
                        </a:rPr>
                        <a:t>SH-2</a:t>
                      </a:r>
                    </a:p>
                  </a:txBody>
                </a:tc>
                <a:tc>
                  <a:txBody>
                    <a:bodyPr/>
                    <a:lstStyle/>
                    <a:p>
                      <a:pPr lvl="0" indent="0" marL="0" algn="r">
                        <a:buNone/>
                      </a:pPr>
                      <a:r>
                        <a:rPr>
                          <a:latin typeface="Courier"/>
                        </a:rPr>
                        <a:t>11.7</a:t>
                      </a:r>
                    </a:p>
                  </a:txBody>
                </a:tc>
                <a:tc>
                  <a:txBody>
                    <a:bodyPr/>
                    <a:lstStyle/>
                    <a:p>
                      <a:pPr lvl="0" indent="0" marL="0" algn="r">
                        <a:buNone/>
                      </a:pPr>
                      <a:r>
                        <a:rPr>
                          <a:latin typeface="Courier"/>
                        </a:rPr>
                        <a:t>156,000</a:t>
                      </a:r>
                    </a:p>
                  </a:txBody>
                </a:tc>
                <a:tc>
                  <a:txBody>
                    <a:bodyPr/>
                    <a:lstStyle/>
                    <a:p>
                      <a:pPr lvl="0" indent="0" marL="0">
                        <a:buNone/>
                      </a:pPr>
                      <a:r>
                        <a:rPr>
                          <a:latin typeface="Courier"/>
                        </a:rPr>
                        <a:t>37,100 / 13,900 / 2,250</a:t>
                      </a:r>
                    </a:p>
                  </a:txBody>
                </a:tc>
                <a:tc>
                  <a:txBody>
                    <a:bodyPr/>
                    <a:lstStyle/>
                    <a:p>
                      <a:pPr lvl="0" indent="0" marL="0">
                        <a:buNone/>
                      </a:pPr>
                      <a:r>
                        <a:rPr/>
                        <a:t>Lower source bound</a:t>
                      </a:r>
                    </a:p>
                  </a:txBody>
                </a:tc>
              </a:tr>
              <a:tr h="0">
                <a:tc>
                  <a:txBody>
                    <a:bodyPr/>
                    <a:lstStyle/>
                    <a:p>
                      <a:pPr lvl="0" indent="0" marL="0">
                        <a:buNone/>
                      </a:pPr>
                      <a:r>
                        <a:rPr/>
                        <a:t>Base observed</a:t>
                      </a:r>
                    </a:p>
                  </a:txBody>
                </a:tc>
                <a:tc>
                  <a:txBody>
                    <a:bodyPr/>
                    <a:lstStyle/>
                    <a:p>
                      <a:pPr lvl="0" indent="0" marL="0">
                        <a:buNone/>
                      </a:pPr>
                      <a:r>
                        <a:rPr>
                          <a:latin typeface="Courier"/>
                        </a:rPr>
                        <a:t>MS-2</a:t>
                      </a:r>
                    </a:p>
                  </a:txBody>
                </a:tc>
                <a:tc>
                  <a:txBody>
                    <a:bodyPr/>
                    <a:lstStyle/>
                    <a:p>
                      <a:pPr lvl="0" indent="0" marL="0" algn="r">
                        <a:buNone/>
                      </a:pPr>
                      <a:r>
                        <a:rPr>
                          <a:latin typeface="Courier"/>
                        </a:rPr>
                        <a:t>168</a:t>
                      </a:r>
                    </a:p>
                  </a:txBody>
                </a:tc>
                <a:tc>
                  <a:txBody>
                    <a:bodyPr/>
                    <a:lstStyle/>
                    <a:p>
                      <a:pPr lvl="0" indent="0" marL="0" algn="r">
                        <a:buNone/>
                      </a:pPr>
                      <a:r>
                        <a:rPr>
                          <a:latin typeface="Courier"/>
                        </a:rPr>
                        <a:t>305,000</a:t>
                      </a:r>
                    </a:p>
                  </a:txBody>
                </a:tc>
                <a:tc>
                  <a:txBody>
                    <a:bodyPr/>
                    <a:lstStyle/>
                    <a:p>
                      <a:pPr lvl="0" indent="0" marL="0">
                        <a:buNone/>
                      </a:pPr>
                      <a:r>
                        <a:rPr>
                          <a:latin typeface="Courier"/>
                        </a:rPr>
                        <a:t>64,100 / 36,900 / 3,310</a:t>
                      </a:r>
                    </a:p>
                  </a:txBody>
                </a:tc>
                <a:tc>
                  <a:txBody>
                    <a:bodyPr/>
                    <a:lstStyle/>
                    <a:p>
                      <a:pPr lvl="0" indent="0" marL="0">
                        <a:buNone/>
                      </a:pPr>
                      <a:r>
                        <a:rPr/>
                        <a:t>Median-TDS base proxy</a:t>
                      </a:r>
                    </a:p>
                  </a:txBody>
                </a:tc>
              </a:tr>
              <a:tr h="0">
                <a:tc>
                  <a:txBody>
                    <a:bodyPr/>
                    <a:lstStyle/>
                    <a:p>
                      <a:pPr lvl="0" indent="0" marL="0">
                        <a:buNone/>
                      </a:pPr>
                      <a:r>
                        <a:rPr/>
                        <a:t>High observed</a:t>
                      </a:r>
                    </a:p>
                  </a:txBody>
                </a:tc>
                <a:tc>
                  <a:txBody>
                    <a:bodyPr/>
                    <a:lstStyle/>
                    <a:p>
                      <a:pPr lvl="0" indent="0" marL="0">
                        <a:buNone/>
                      </a:pPr>
                      <a:r>
                        <a:rPr>
                          <a:latin typeface="Courier"/>
                        </a:rPr>
                        <a:t>BR-2</a:t>
                      </a:r>
                    </a:p>
                  </a:txBody>
                </a:tc>
                <a:tc>
                  <a:txBody>
                    <a:bodyPr/>
                    <a:lstStyle/>
                    <a:p>
                      <a:pPr lvl="0" indent="0" marL="0" algn="r">
                        <a:buNone/>
                      </a:pPr>
                      <a:r>
                        <a:rPr>
                          <a:latin typeface="Courier"/>
                        </a:rPr>
                        <a:t>252</a:t>
                      </a:r>
                    </a:p>
                  </a:txBody>
                </a:tc>
                <a:tc>
                  <a:txBody>
                    <a:bodyPr/>
                    <a:lstStyle/>
                    <a:p>
                      <a:pPr lvl="0" indent="0" marL="0" algn="r">
                        <a:buNone/>
                      </a:pPr>
                      <a:r>
                        <a:rPr>
                          <a:latin typeface="Courier"/>
                        </a:rPr>
                        <a:t>340,000</a:t>
                      </a:r>
                    </a:p>
                  </a:txBody>
                </a:tc>
                <a:tc>
                  <a:txBody>
                    <a:bodyPr/>
                    <a:lstStyle/>
                    <a:p>
                      <a:pPr lvl="0" indent="0" marL="0">
                        <a:buNone/>
                      </a:pPr>
                      <a:r>
                        <a:rPr>
                          <a:latin typeface="Courier"/>
                        </a:rPr>
                        <a:t>70,800 / 39,900 / 3,130</a:t>
                      </a:r>
                    </a:p>
                  </a:txBody>
                </a:tc>
                <a:tc>
                  <a:txBody>
                    <a:bodyPr/>
                    <a:lstStyle/>
                    <a:p>
                      <a:pPr lvl="0" indent="0" marL="0">
                        <a:buNone/>
                      </a:pPr>
                      <a:r>
                        <a:rPr/>
                        <a:t>High-TDS/high-Li proxy</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None</a:t>
            </a:r>
          </a:p>
          <a:p>
            <a:pPr lvl="0" indent="0" marL="1270000">
              <a:buNone/>
            </a:pPr>
            <a:r>
              <a:rPr sz="2000"/>
              <a:t>These are source rows from the USGS southern-Arkansas Smackover data release after duplicate and blank rows are excluded. The separate </a:t>
            </a:r>
            <a:r>
              <a:rPr sz="2000">
                <a:latin typeface="Courier"/>
              </a:rPr>
              <a:t>100/200/400 mg/L Li</a:t>
            </a:r>
            <a:r>
              <a:rPr sz="2000"/>
              <a:t> rows are sensitivity cases, not direct well samples.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1.4 Selected Base Brine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Source row</a:t>
                      </a:r>
                    </a:p>
                  </a:txBody>
                </a:tc>
                <a:tc>
                  <a:txBody>
                    <a:bodyPr/>
                    <a:lstStyle/>
                    <a:p>
                      <a:pPr lvl="0" indent="0" marL="0">
                        <a:buNone/>
                      </a:pPr>
                      <a:r>
                        <a:rPr>
                          <a:latin typeface="Courier"/>
                        </a:rPr>
                        <a:t>MS-2 / MSPU 4-W1</a:t>
                      </a:r>
                    </a:p>
                  </a:txBody>
                </a:tc>
              </a:tr>
              <a:tr h="0">
                <a:tc>
                  <a:txBody>
                    <a:bodyPr/>
                    <a:lstStyle/>
                    <a:p>
                      <a:pPr lvl="0" indent="0" marL="0">
                        <a:buNone/>
                      </a:pPr>
                      <a:r>
                        <a:rPr/>
                        <a:t>Formation</a:t>
                      </a:r>
                    </a:p>
                  </a:txBody>
                </a:tc>
                <a:tc>
                  <a:txBody>
                    <a:bodyPr/>
                    <a:lstStyle/>
                    <a:p>
                      <a:pPr lvl="0" indent="0" marL="0">
                        <a:buNone/>
                      </a:pPr>
                      <a:r>
                        <a:rPr>
                          <a:latin typeface="Courier"/>
                        </a:rPr>
                        <a:t>Smackover</a:t>
                      </a:r>
                    </a:p>
                  </a:txBody>
                </a:tc>
              </a:tr>
              <a:tr h="0">
                <a:tc>
                  <a:txBody>
                    <a:bodyPr/>
                    <a:lstStyle/>
                    <a:p>
                      <a:pPr lvl="0" indent="0" marL="0">
                        <a:buNone/>
                      </a:pPr>
                      <a:r>
                        <a:rPr/>
                        <a:t>Li</a:t>
                      </a:r>
                    </a:p>
                  </a:txBody>
                </a:tc>
                <a:tc>
                  <a:txBody>
                    <a:bodyPr/>
                    <a:lstStyle/>
                    <a:p>
                      <a:pPr lvl="0" indent="0" marL="0">
                        <a:buNone/>
                      </a:pPr>
                      <a:r>
                        <a:rPr>
                          <a:latin typeface="Courier"/>
                        </a:rPr>
                        <a:t>168 mg/L</a:t>
                      </a:r>
                    </a:p>
                  </a:txBody>
                </a:tc>
              </a:tr>
              <a:tr h="0">
                <a:tc>
                  <a:txBody>
                    <a:bodyPr/>
                    <a:lstStyle/>
                    <a:p>
                      <a:pPr lvl="0" indent="0" marL="0">
                        <a:buNone/>
                      </a:pPr>
                      <a:r>
                        <a:rPr/>
                        <a:t>TDS</a:t>
                      </a:r>
                    </a:p>
                  </a:txBody>
                </a:tc>
                <a:tc>
                  <a:txBody>
                    <a:bodyPr/>
                    <a:lstStyle/>
                    <a:p>
                      <a:pPr lvl="0" indent="0" marL="0">
                        <a:buNone/>
                      </a:pPr>
                      <a:r>
                        <a:rPr>
                          <a:latin typeface="Courier"/>
                        </a:rPr>
                        <a:t>305,000 mg/L</a:t>
                      </a:r>
                    </a:p>
                  </a:txBody>
                </a:tc>
              </a:tr>
              <a:tr h="0">
                <a:tc>
                  <a:txBody>
                    <a:bodyPr/>
                    <a:lstStyle/>
                    <a:p>
                      <a:pPr lvl="0" indent="0" marL="0">
                        <a:buNone/>
                      </a:pPr>
                      <a:r>
                        <a:rPr/>
                        <a:t>Na / Ca / Mg</a:t>
                      </a:r>
                    </a:p>
                  </a:txBody>
                </a:tc>
                <a:tc>
                  <a:txBody>
                    <a:bodyPr/>
                    <a:lstStyle/>
                    <a:p>
                      <a:pPr lvl="0" indent="0" marL="0">
                        <a:buNone/>
                      </a:pPr>
                      <a:r>
                        <a:rPr>
                          <a:latin typeface="Courier"/>
                        </a:rPr>
                        <a:t>64,100 / 36,900 / 3,310 mg/L</a:t>
                      </a:r>
                    </a:p>
                  </a:txBody>
                </a:tc>
              </a:tr>
              <a:tr h="0">
                <a:tc>
                  <a:txBody>
                    <a:bodyPr/>
                    <a:lstStyle/>
                    <a:p>
                      <a:pPr lvl="0" indent="0" marL="0">
                        <a:buNone/>
                      </a:pPr>
                      <a:r>
                        <a:rPr/>
                        <a:t>Cl / Br</a:t>
                      </a:r>
                    </a:p>
                  </a:txBody>
                </a:tc>
                <a:tc>
                  <a:txBody>
                    <a:bodyPr/>
                    <a:lstStyle/>
                    <a:p>
                      <a:pPr lvl="0" indent="0" marL="0">
                        <a:buNone/>
                      </a:pPr>
                      <a:r>
                        <a:rPr>
                          <a:latin typeface="Courier"/>
                        </a:rPr>
                        <a:t>174,000 / 2,700 mg/L</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None</a:t>
            </a:r>
          </a:p>
          <a:p>
            <a:pPr lvl="0" indent="0" marL="1270000">
              <a:buNone/>
            </a:pPr>
            <a:r>
              <a:rPr sz="2000"/>
              <a:t>The feed is Smackover-specific. The extraction chemistry is Shan/Gando HBTA/TOPO. The model couples a source-backed brine to a literature-backed non-ionic extraction chemistry without claiming a fully calibrated Arkansas extraction experiment.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1.5 Critical Minerals And REE Boundary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Group</a:t>
                      </a:r>
                    </a:p>
                  </a:txBody>
                  <a:tcPr/>
                </a:tc>
                <a:tc>
                  <a:txBody>
                    <a:bodyPr/>
                    <a:lstStyle/>
                    <a:p>
                      <a:pPr lvl="0" indent="0" marL="0">
                        <a:buNone/>
                      </a:pPr>
                      <a:r>
                        <a:rPr/>
                        <a:t>What the Smackover source table supports</a:t>
                      </a:r>
                    </a:p>
                  </a:txBody>
                  <a:tcPr/>
                </a:tc>
                <a:tc>
                  <a:txBody>
                    <a:bodyPr/>
                    <a:lstStyle/>
                    <a:p>
                      <a:pPr lvl="0" indent="0" marL="0">
                        <a:buNone/>
                      </a:pPr>
                      <a:r>
                        <a:rPr/>
                        <a:t>How to present it</a:t>
                      </a:r>
                    </a:p>
                  </a:txBody>
                  <a:tcPr/>
                </a:tc>
              </a:tr>
              <a:tr h="0">
                <a:tc>
                  <a:txBody>
                    <a:bodyPr/>
                    <a:lstStyle/>
                    <a:p>
                      <a:pPr lvl="0" indent="0" marL="0">
                        <a:buNone/>
                      </a:pPr>
                      <a:r>
                        <a:rPr/>
                        <a:t>Reported trace fields</a:t>
                      </a:r>
                    </a:p>
                  </a:txBody>
                </a:tc>
                <a:tc>
                  <a:txBody>
                    <a:bodyPr/>
                    <a:lstStyle/>
                    <a:p>
                      <a:pPr lvl="0" indent="0" marL="0">
                        <a:buNone/>
                      </a:pPr>
                      <a:r>
                        <a:rPr/>
                        <a:t>Fe, Mn, Zn, Al, As, Be, Cd, Co, Cu, Cr, Hg, Mo, Ni, Pb, U, V</a:t>
                      </a:r>
                    </a:p>
                  </a:txBody>
                </a:tc>
                <a:tc>
                  <a:txBody>
                    <a:bodyPr/>
                    <a:lstStyle/>
                    <a:p>
                      <a:pPr lvl="0" indent="0" marL="0">
                        <a:buNone/>
                      </a:pPr>
                      <a:r>
                        <a:rPr/>
                        <a:t>Use as trace/pretreatment context, with censoring caveats</a:t>
                      </a:r>
                    </a:p>
                  </a:txBody>
                </a:tc>
              </a:tr>
              <a:tr h="0">
                <a:tc>
                  <a:txBody>
                    <a:bodyPr/>
                    <a:lstStyle/>
                    <a:p>
                      <a:pPr lvl="0" indent="0" marL="0">
                        <a:buNone/>
                      </a:pPr>
                      <a:r>
                        <a:rPr/>
                        <a:t>REE</a:t>
                      </a:r>
                    </a:p>
                  </a:txBody>
                </a:tc>
                <a:tc>
                  <a:txBody>
                    <a:bodyPr/>
                    <a:lstStyle/>
                    <a:p>
                      <a:pPr lvl="0" indent="0" marL="0">
                        <a:buNone/>
                      </a:pPr>
                      <a:r>
                        <a:rPr>
                          <a:latin typeface="Courier"/>
                        </a:rPr>
                        <a:t>not_reported</a:t>
                      </a:r>
                      <a:r>
                        <a:rPr/>
                        <a:t> in the source table</a:t>
                      </a:r>
                    </a:p>
                  </a:txBody>
                </a:tc>
                <a:tc>
                  <a:txBody>
                    <a:bodyPr/>
                    <a:lstStyle/>
                    <a:p>
                      <a:pPr lvl="0" indent="0" marL="0">
                        <a:buNone/>
                      </a:pPr>
                      <a:r>
                        <a:rPr/>
                        <a:t>Do not infer; make this a future-data need</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1.6 Variables The Case Must Vary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Axis</a:t>
                      </a:r>
                    </a:p>
                  </a:txBody>
                  <a:tcPr/>
                </a:tc>
                <a:tc>
                  <a:txBody>
                    <a:bodyPr/>
                    <a:lstStyle/>
                    <a:p>
                      <a:pPr lvl="0" indent="0" marL="0">
                        <a:buNone/>
                      </a:pPr>
                      <a:r>
                        <a:rPr/>
                        <a:t>Why it matters</a:t>
                      </a:r>
                    </a:p>
                  </a:txBody>
                  <a:tcPr/>
                </a:tc>
                <a:tc>
                  <a:txBody>
                    <a:bodyPr/>
                    <a:lstStyle/>
                    <a:p>
                      <a:pPr lvl="0" indent="0" marL="0">
                        <a:buNone/>
                      </a:pPr>
                      <a:r>
                        <a:rPr/>
                        <a:t>Process consequence</a:t>
                      </a:r>
                    </a:p>
                  </a:txBody>
                  <a:tcPr/>
                </a:tc>
              </a:tr>
              <a:tr h="0">
                <a:tc>
                  <a:txBody>
                    <a:bodyPr/>
                    <a:lstStyle/>
                    <a:p>
                      <a:pPr lvl="0" indent="0" marL="0">
                        <a:buNone/>
                      </a:pPr>
                      <a:r>
                        <a:rPr/>
                        <a:t>Li concentration</a:t>
                      </a:r>
                    </a:p>
                  </a:txBody>
                </a:tc>
                <a:tc>
                  <a:txBody>
                    <a:bodyPr/>
                    <a:lstStyle/>
                    <a:p>
                      <a:pPr lvl="0" indent="0" marL="0">
                        <a:buNone/>
                      </a:pPr>
                      <a:r>
                        <a:rPr/>
                        <a:t>Sets value and concentration driving force</a:t>
                      </a:r>
                    </a:p>
                  </a:txBody>
                </a:tc>
                <a:tc>
                  <a:txBody>
                    <a:bodyPr/>
                    <a:lstStyle/>
                    <a:p>
                      <a:pPr lvl="0" indent="0" marL="0">
                        <a:buNone/>
                      </a:pPr>
                      <a:r>
                        <a:rPr/>
                        <a:t>Changes recovery target and stage count</a:t>
                      </a:r>
                    </a:p>
                  </a:txBody>
                </a:tc>
              </a:tr>
              <a:tr h="0">
                <a:tc>
                  <a:txBody>
                    <a:bodyPr/>
                    <a:lstStyle/>
                    <a:p>
                      <a:pPr lvl="0" indent="0" marL="0">
                        <a:buNone/>
                      </a:pPr>
                      <a:r>
                        <a:rPr/>
                        <a:t>TDS / NaCl load</a:t>
                      </a:r>
                    </a:p>
                  </a:txBody>
                </a:tc>
                <a:tc>
                  <a:txBody>
                    <a:bodyPr/>
                    <a:lstStyle/>
                    <a:p>
                      <a:pPr lvl="0" indent="0" marL="0">
                        <a:buNone/>
                      </a:pPr>
                      <a:r>
                        <a:rPr/>
                        <a:t>Changes ionic strength and activity behavior</a:t>
                      </a:r>
                    </a:p>
                  </a:txBody>
                </a:tc>
                <a:tc>
                  <a:txBody>
                    <a:bodyPr/>
                    <a:lstStyle/>
                    <a:p>
                      <a:pPr lvl="0" indent="0" marL="0">
                        <a:buNone/>
                      </a:pPr>
                      <a:r>
                        <a:rPr/>
                        <a:t>Moves distribution behavior and surrogate validity</a:t>
                      </a:r>
                    </a:p>
                  </a:txBody>
                </a:tc>
              </a:tr>
              <a:tr h="0">
                <a:tc>
                  <a:txBody>
                    <a:bodyPr/>
                    <a:lstStyle/>
                    <a:p>
                      <a:pPr lvl="0" indent="0" marL="0">
                        <a:buNone/>
                      </a:pPr>
                      <a:r>
                        <a:rPr/>
                        <a:t>Competing ions</a:t>
                      </a:r>
                    </a:p>
                  </a:txBody>
                </a:tc>
                <a:tc>
                  <a:txBody>
                    <a:bodyPr/>
                    <a:lstStyle/>
                    <a:p>
                      <a:pPr lvl="0" indent="0" marL="0">
                        <a:buNone/>
                      </a:pPr>
                      <a:r>
                        <a:rPr/>
                        <a:t>Mg, Ca, Sr, Ba, and Na affect selectivity</a:t>
                      </a:r>
                    </a:p>
                  </a:txBody>
                </a:tc>
                <a:tc>
                  <a:txBody>
                    <a:bodyPr/>
                    <a:lstStyle/>
                    <a:p>
                      <a:pPr lvl="0" indent="0" marL="0">
                        <a:buNone/>
                      </a:pPr>
                      <a:r>
                        <a:rPr/>
                        <a:t>Changes pretreatment and solvent burden</a:t>
                      </a:r>
                    </a:p>
                  </a:txBody>
                </a:tc>
              </a:tr>
              <a:tr h="0">
                <a:tc>
                  <a:txBody>
                    <a:bodyPr/>
                    <a:lstStyle/>
                    <a:p>
                      <a:pPr lvl="0" indent="0" marL="0">
                        <a:buNone/>
                      </a:pPr>
                      <a:r>
                        <a:rPr/>
                        <a:t>Solvent / extractant chemistry</a:t>
                      </a:r>
                    </a:p>
                  </a:txBody>
                </a:tc>
                <a:tc>
                  <a:txBody>
                    <a:bodyPr/>
                    <a:lstStyle/>
                    <a:p>
                      <a:pPr lvl="0" indent="0" marL="0">
                        <a:buNone/>
                      </a:pPr>
                      <a:r>
                        <a:rPr/>
                        <a:t>Determines whether selective transfer is plausible</a:t>
                      </a:r>
                    </a:p>
                  </a:txBody>
                </a:tc>
                <a:tc>
                  <a:txBody>
                    <a:bodyPr/>
                    <a:lstStyle/>
                    <a:p>
                      <a:pPr lvl="0" indent="0" marL="0">
                        <a:buNone/>
                      </a:pPr>
                      <a:r>
                        <a:rPr/>
                        <a:t>Changes (D_i), selectivity, and loaded-solvent composition</a:t>
                      </a:r>
                    </a:p>
                  </a:txBody>
                </a:tc>
              </a:tr>
              <a:tr h="0">
                <a:tc>
                  <a:txBody>
                    <a:bodyPr/>
                    <a:lstStyle/>
                    <a:p>
                      <a:pPr lvl="0" indent="0" marL="0">
                        <a:buNone/>
                      </a:pPr>
                      <a:r>
                        <a:rPr/>
                        <a:t>O/A ratio</a:t>
                      </a:r>
                    </a:p>
                  </a:txBody>
                </a:tc>
                <a:tc>
                  <a:txBody>
                    <a:bodyPr/>
                    <a:lstStyle/>
                    <a:p>
                      <a:pPr lvl="0" indent="0" marL="0">
                        <a:buNone/>
                      </a:pPr>
                      <a:r>
                        <a:rPr/>
                        <a:t>Directly affects stage transfer</a:t>
                      </a:r>
                    </a:p>
                  </a:txBody>
                </a:tc>
                <a:tc>
                  <a:txBody>
                    <a:bodyPr/>
                    <a:lstStyle/>
                    <a:p>
                      <a:pPr lvl="0" indent="0" marL="0">
                        <a:buNone/>
                      </a:pPr>
                      <a:r>
                        <a:rPr/>
                        <a:t>Becomes a design and optimization variable</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2. ePC-SAFT Thermodynamic Role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2.1 The Model Gap</a:t>
            </a:r>
          </a:p>
        </p:txBody>
      </p:sp>
      <p:sp>
        <p:nvSpPr>
          <p:cNvPr id="3" name="Content Placeholder 2"/>
          <p:cNvSpPr>
            <a:spLocks noGrp="1"/>
          </p:cNvSpPr>
          <p:nvPr>
            <p:ph idx="1" sz="half"/>
          </p:nvPr>
        </p:nvSpPr>
        <p:spPr/>
        <p:txBody>
          <a:bodyPr/>
          <a:lstStyle/>
          <a:p>
            <a:pPr lvl="0" indent="0" marL="0">
              <a:buNone/>
            </a:pPr>
            <a:r>
              <a:rPr b="1"/>
              <a:t>What weak placeholders can do</a:t>
            </a:r>
          </a:p>
          <a:p>
            <a:pPr lvl="0"/>
            <a:r>
              <a:rPr/>
              <a:t>Reproduce a narrow demonstration point</a:t>
            </a:r>
          </a:p>
          <a:p>
            <a:pPr lvl="0"/>
            <a:r>
              <a:rPr/>
              <a:t>Provide a quick stage recovery factor</a:t>
            </a:r>
          </a:p>
          <a:p>
            <a:pPr lvl="0"/>
            <a:r>
              <a:rPr/>
              <a:t>Run fast inside a flowsheet</a:t>
            </a:r>
          </a:p>
          <a:p>
            <a:pPr lvl="0"/>
            <a:r>
              <a:rPr/>
              <a:t>Help debug material balances</a:t>
            </a:r>
          </a:p>
        </p:txBody>
      </p:sp>
      <p:sp>
        <p:nvSpPr>
          <p:cNvPr id="4" name="Content Placeholder 3"/>
          <p:cNvSpPr>
            <a:spLocks noGrp="1"/>
          </p:cNvSpPr>
          <p:nvPr>
            <p:ph idx="2" sz="half"/>
          </p:nvPr>
        </p:nvSpPr>
        <p:spPr/>
        <p:txBody>
          <a:bodyPr/>
          <a:lstStyle/>
          <a:p>
            <a:pPr lvl="0" indent="0" marL="0">
              <a:buNone/>
            </a:pPr>
            <a:r>
              <a:rPr b="1"/>
              <a:t>What they cannot defend</a:t>
            </a:r>
          </a:p>
          <a:p>
            <a:pPr lvl="0"/>
            <a:r>
              <a:rPr/>
              <a:t>Basin-to-basin extrapolation</a:t>
            </a:r>
          </a:p>
          <a:p>
            <a:pPr lvl="0"/>
            <a:r>
              <a:rPr/>
              <a:t>Hypersaline electrolyte behavior</a:t>
            </a:r>
          </a:p>
          <a:p>
            <a:pPr lvl="0"/>
            <a:r>
              <a:rPr/>
              <a:t>Solvent and O/A sensitivity</a:t>
            </a:r>
          </a:p>
          <a:p>
            <a:pPr lvl="0"/>
            <a:r>
              <a:rPr/>
              <a:t>Ion-specific distribution behavior</a:t>
            </a:r>
          </a:p>
          <a:p>
            <a:pPr lvl="0"/>
            <a:r>
              <a:rPr/>
              <a:t>Trust-region bounds for optimization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None</a:t>
            </a:r>
          </a:p>
          <a:p>
            <a:pPr lvl="0" indent="0" marL="1270000">
              <a:buNone/>
            </a:pPr>
            <a:r>
              <a:rPr sz="2000"/>
              <a:t>The process model needs a physical equilibrium layer before the surrogate or optimizer is meaningful.</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2.2 What ePC-SAFT Adds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Modeling need</a:t>
                      </a:r>
                    </a:p>
                  </a:txBody>
                  <a:tcPr/>
                </a:tc>
                <a:tc>
                  <a:txBody>
                    <a:bodyPr/>
                    <a:lstStyle/>
                    <a:p>
                      <a:pPr lvl="0" indent="0" marL="0">
                        <a:buNone/>
                      </a:pPr>
                      <a:r>
                        <a:rPr/>
                        <a:t>ePC-SAFT contribution</a:t>
                      </a:r>
                    </a:p>
                  </a:txBody>
                  <a:tcPr/>
                </a:tc>
                <a:tc>
                  <a:txBody>
                    <a:bodyPr/>
                    <a:lstStyle/>
                    <a:p>
                      <a:pPr lvl="0" indent="0" marL="0">
                        <a:buNone/>
                      </a:pPr>
                      <a:r>
                        <a:rPr/>
                        <a:t>Why it is novel for this case</a:t>
                      </a:r>
                    </a:p>
                  </a:txBody>
                  <a:tcPr/>
                </a:tc>
              </a:tr>
              <a:tr h="0">
                <a:tc>
                  <a:txBody>
                    <a:bodyPr/>
                    <a:lstStyle/>
                    <a:p>
                      <a:pPr lvl="0" indent="0" marL="0">
                        <a:buNone/>
                      </a:pPr>
                      <a:r>
                        <a:rPr/>
                        <a:t>Hypersaline brine</a:t>
                      </a:r>
                    </a:p>
                  </a:txBody>
                </a:tc>
                <a:tc>
                  <a:txBody>
                    <a:bodyPr/>
                    <a:lstStyle/>
                    <a:p>
                      <a:pPr lvl="0" indent="0" marL="0">
                        <a:buNone/>
                      </a:pPr>
                      <a:r>
                        <a:rPr/>
                        <a:t>Electrolyte activity and phase-equilibrium structure</a:t>
                      </a:r>
                    </a:p>
                  </a:txBody>
                </a:tc>
                <a:tc>
                  <a:txBody>
                    <a:bodyPr/>
                    <a:lstStyle/>
                    <a:p>
                      <a:pPr lvl="0" indent="0" marL="0">
                        <a:buNone/>
                      </a:pPr>
                      <a:r>
                        <a:rPr/>
                        <a:t>Salinity becomes a modeled variable, not a correction factor</a:t>
                      </a:r>
                    </a:p>
                  </a:txBody>
                </a:tc>
              </a:tr>
              <a:tr h="0">
                <a:tc>
                  <a:txBody>
                    <a:bodyPr/>
                    <a:lstStyle/>
                    <a:p>
                      <a:pPr lvl="0" indent="0" marL="0">
                        <a:buNone/>
                      </a:pPr>
                      <a:r>
                        <a:rPr/>
                        <a:t>Aqueous/organic split</a:t>
                      </a:r>
                    </a:p>
                  </a:txBody>
                </a:tc>
                <a:tc>
                  <a:txBody>
                    <a:bodyPr/>
                    <a:lstStyle/>
                    <a:p>
                      <a:pPr lvl="0" indent="0" marL="0">
                        <a:buNone/>
                      </a:pPr>
                      <a:r>
                        <a:rPr/>
                        <a:t>Phase compositions and phase fractions</a:t>
                      </a:r>
                    </a:p>
                  </a:txBody>
                </a:tc>
                <a:tc>
                  <a:txBody>
                    <a:bodyPr/>
                    <a:lstStyle/>
                    <a:p>
                      <a:pPr lvl="0" indent="0" marL="0">
                        <a:buNone/>
                      </a:pPr>
                      <a:r>
                        <a:rPr/>
                        <a:t>The extraction stage gets a thermodynamic target</a:t>
                      </a:r>
                    </a:p>
                  </a:txBody>
                </a:tc>
              </a:tr>
              <a:tr h="0">
                <a:tc>
                  <a:txBody>
                    <a:bodyPr/>
                    <a:lstStyle/>
                    <a:p>
                      <a:pPr lvl="0" indent="0" marL="0">
                        <a:buNone/>
                      </a:pPr>
                      <a:r>
                        <a:rPr/>
                        <a:t>Ion partitioning</a:t>
                      </a:r>
                    </a:p>
                  </a:txBody>
                </a:tc>
                <a:tc>
                  <a:txBody>
                    <a:bodyPr/>
                    <a:lstStyle/>
                    <a:p>
                      <a:pPr lvl="0" indent="0" marL="0">
                        <a:buNone/>
                      </a:pPr>
                      <a:r>
                        <a:rPr/>
                        <a:t>Distribution ratios and selectivity metrics</a:t>
                      </a:r>
                    </a:p>
                  </a:txBody>
                </a:tc>
                <a:tc>
                  <a:txBody>
                    <a:bodyPr/>
                    <a:lstStyle/>
                    <a:p>
                      <a:pPr lvl="0" indent="0" marL="0">
                        <a:buNone/>
                      </a:pPr>
                      <a:r>
                        <a:rPr/>
                        <a:t>Li movement can be separated from bulk salt movement</a:t>
                      </a:r>
                    </a:p>
                  </a:txBody>
                </a:tc>
              </a:tr>
              <a:tr h="0">
                <a:tc>
                  <a:txBody>
                    <a:bodyPr/>
                    <a:lstStyle/>
                    <a:p>
                      <a:pPr lvl="0" indent="0" marL="0">
                        <a:buNone/>
                      </a:pPr>
                      <a:r>
                        <a:rPr/>
                        <a:t>Sensitivity surfaces</a:t>
                      </a:r>
                    </a:p>
                  </a:txBody>
                </a:tc>
                <a:tc>
                  <a:txBody>
                    <a:bodyPr/>
                    <a:lstStyle/>
                    <a:p>
                      <a:pPr lvl="0" indent="0" marL="0">
                        <a:buNone/>
                      </a:pPr>
                      <a:r>
                        <a:rPr/>
                        <a:t>Response to TDS, O/A, solvent, and feed composition</a:t>
                      </a:r>
                    </a:p>
                  </a:txBody>
                </a:tc>
                <a:tc>
                  <a:txBody>
                    <a:bodyPr/>
                    <a:lstStyle/>
                    <a:p>
                      <a:pPr lvl="0" indent="0" marL="0">
                        <a:buNone/>
                      </a:pPr>
                      <a:r>
                        <a:rPr/>
                        <a:t>Surrogates can be trained inside a meaningful region</a:t>
                      </a:r>
                    </a:p>
                  </a:txBody>
                </a:tc>
              </a:tr>
              <a:tr h="0">
                <a:tc>
                  <a:txBody>
                    <a:bodyPr/>
                    <a:lstStyle/>
                    <a:p>
                      <a:pPr lvl="0" indent="0" marL="0">
                        <a:buNone/>
                      </a:pPr>
                      <a:r>
                        <a:rPr/>
                        <a:t>Diagnostics</a:t>
                      </a:r>
                    </a:p>
                  </a:txBody>
                </a:tc>
                <a:tc>
                  <a:txBody>
                    <a:bodyPr/>
                    <a:lstStyle/>
                    <a:p>
                      <a:pPr lvl="0" indent="0" marL="0">
                        <a:buNone/>
                      </a:pPr>
                      <a:r>
                        <a:rPr/>
                        <a:t>Stability, convergence, and phase-distance checks</a:t>
                      </a:r>
                    </a:p>
                  </a:txBody>
                </a:tc>
                <a:tc>
                  <a:txBody>
                    <a:bodyPr/>
                    <a:lstStyle/>
                    <a:p>
                      <a:pPr lvl="0" indent="0" marL="0">
                        <a:buNone/>
                      </a:pPr>
                      <a:r>
                        <a:rPr/>
                        <a:t>Failed or collapsed points do not silently become process data</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2.3 Rezaee 2026 As A Parameter-Fitting Smoke Test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What Rezaee gives</a:t>
                      </a:r>
                    </a:p>
                  </a:txBody>
                  <a:tcPr/>
                </a:tc>
                <a:tc>
                  <a:txBody>
                    <a:bodyPr/>
                    <a:lstStyle/>
                    <a:p>
                      <a:pPr lvl="0" indent="0" marL="0">
                        <a:buNone/>
                      </a:pPr>
                      <a:r>
                        <a:rPr/>
                        <a:t>How this deck should use it</a:t>
                      </a:r>
                    </a:p>
                  </a:txBody>
                  <a:tcPr/>
                </a:tc>
              </a:tr>
              <a:tr h="0">
                <a:tc>
                  <a:txBody>
                    <a:bodyPr/>
                    <a:lstStyle/>
                    <a:p>
                      <a:pPr lvl="0" indent="0" marL="0">
                        <a:buNone/>
                      </a:pPr>
                      <a:r>
                        <a:rPr/>
                        <a:t>DES/TOPO lithium extraction modeling with tabulated PC-SAFT-style parameters</a:t>
                      </a:r>
                    </a:p>
                  </a:txBody>
                </a:tc>
                <a:tc>
                  <a:txBody>
                    <a:bodyPr/>
                    <a:lstStyle/>
                    <a:p>
                      <a:pPr lvl="0" indent="0" marL="0">
                        <a:buNone/>
                      </a:pPr>
                      <a:r>
                        <a:rPr/>
                        <a:t>Package regression and equilibrium smoke test</a:t>
                      </a:r>
                    </a:p>
                  </a:txBody>
                </a:tc>
              </a:tr>
              <a:tr h="0">
                <a:tc>
                  <a:txBody>
                    <a:bodyPr/>
                    <a:lstStyle/>
                    <a:p>
                      <a:pPr lvl="0" indent="0" marL="0">
                        <a:buNone/>
                      </a:pPr>
                      <a:r>
                        <a:rPr/>
                        <a:t>Organic phase modeled with PC-SAFT</a:t>
                      </a:r>
                    </a:p>
                  </a:txBody>
                </a:tc>
                <a:tc>
                  <a:txBody>
                    <a:bodyPr/>
                    <a:lstStyle/>
                    <a:p>
                      <a:pPr lvl="0" indent="0" marL="0">
                        <a:buNone/>
                      </a:pPr>
                      <a:r>
                        <a:rPr/>
                        <a:t>Do not cite as full ePC-SAFT organic-phase closure</a:t>
                      </a:r>
                    </a:p>
                  </a:txBody>
                </a:tc>
              </a:tr>
              <a:tr h="0">
                <a:tc>
                  <a:txBody>
                    <a:bodyPr/>
                    <a:lstStyle/>
                    <a:p>
                      <a:pPr lvl="0" indent="0" marL="0">
                        <a:buNone/>
                      </a:pPr>
                      <a:r>
                        <a:rPr/>
                        <a:t>Aqueous electrolyte phase modeled with ePC-SAFT</a:t>
                      </a:r>
                    </a:p>
                  </a:txBody>
                </a:tc>
                <a:tc>
                  <a:txBody>
                    <a:bodyPr/>
                    <a:lstStyle/>
                    <a:p>
                      <a:pPr lvl="0" indent="0" marL="0">
                        <a:buNone/>
                      </a:pPr>
                      <a:r>
                        <a:rPr/>
                        <a:t>Useful support for the aqueous-brine side of the bridge</a:t>
                      </a:r>
                    </a:p>
                  </a:txBody>
                </a:tc>
              </a:tr>
              <a:tr h="0">
                <a:tc>
                  <a:txBody>
                    <a:bodyPr/>
                    <a:lstStyle/>
                    <a:p>
                      <a:pPr lvl="0" indent="0" marL="0">
                        <a:buNone/>
                      </a:pPr>
                      <a:r>
                        <a:rPr/>
                        <a:t>Fitted organic interactions and product pseudo-species</a:t>
                      </a:r>
                    </a:p>
                  </a:txBody>
                </a:tc>
                <a:tc>
                  <a:txBody>
                    <a:bodyPr/>
                    <a:lstStyle/>
                    <a:p>
                      <a:pPr lvl="0" indent="0" marL="0">
                        <a:buNone/>
                      </a:pPr>
                      <a:r>
                        <a:rPr/>
                        <a:t>Useful parameterization pattern, not Shan/Gando chemistry</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None</a:t>
            </a:r>
          </a:p>
          <a:p>
            <a:pPr lvl="0" indent="0" marL="1270000">
              <a:buNone/>
            </a:pPr>
            <a:r>
              <a:rPr sz="2000"/>
              <a:t>Rezaee is a method lead and runtime test, not the final HBTA/TOPO model.</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2.4 Solvent Candidate Scorecard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527300"/>
                <a:gridCol w="1905000"/>
                <a:gridCol w="1905000"/>
                <a:gridCol w="1905000"/>
              </a:tblGrid>
              <a:tr h="0">
                <a:tc>
                  <a:txBody>
                    <a:bodyPr/>
                    <a:lstStyle/>
                    <a:p>
                      <a:pPr lvl="0" indent="0" marL="0" algn="r">
                        <a:buNone/>
                      </a:pPr>
                      <a:r>
                        <a:rPr/>
                        <a:t>Priority</a:t>
                      </a:r>
                    </a:p>
                  </a:txBody>
                  <a:tcPr/>
                </a:tc>
                <a:tc>
                  <a:txBody>
                    <a:bodyPr/>
                    <a:lstStyle/>
                    <a:p>
                      <a:pPr lvl="0" indent="0" marL="0">
                        <a:buNone/>
                      </a:pPr>
                      <a:r>
                        <a:rPr/>
                        <a:t>System</a:t>
                      </a:r>
                    </a:p>
                  </a:txBody>
                  <a:tcPr/>
                </a:tc>
                <a:tc>
                  <a:txBody>
                    <a:bodyPr/>
                    <a:lstStyle/>
                    <a:p>
                      <a:pPr lvl="0" indent="0" marL="0">
                        <a:buNone/>
                      </a:pPr>
                      <a:r>
                        <a:rPr/>
                        <a:t>Role</a:t>
                      </a:r>
                    </a:p>
                  </a:txBody>
                  <a:tcPr/>
                </a:tc>
                <a:tc>
                  <a:txBody>
                    <a:bodyPr/>
                    <a:lstStyle/>
                    <a:p>
                      <a:pPr lvl="0" indent="0" marL="0">
                        <a:buNone/>
                      </a:pPr>
                      <a:r>
                        <a:rPr/>
                        <a:t>Status</a:t>
                      </a:r>
                    </a:p>
                  </a:txBody>
                  <a:tcPr/>
                </a:tc>
              </a:tr>
              <a:tr h="0">
                <a:tc>
                  <a:txBody>
                    <a:bodyPr/>
                    <a:lstStyle/>
                    <a:p>
                      <a:pPr lvl="0" indent="0" marL="0" algn="r">
                        <a:buNone/>
                      </a:pPr>
                      <a:r>
                        <a:rPr/>
                        <a:t>1</a:t>
                      </a:r>
                    </a:p>
                  </a:txBody>
                </a:tc>
                <a:tc>
                  <a:txBody>
                    <a:bodyPr/>
                    <a:lstStyle/>
                    <a:p>
                      <a:pPr lvl="0" indent="0" marL="0">
                        <a:buNone/>
                      </a:pPr>
                      <a:r>
                        <a:rPr/>
                        <a:t>HBTA + TOPO + sulfonated kerosene</a:t>
                      </a:r>
                    </a:p>
                  </a:txBody>
                </a:tc>
                <a:tc>
                  <a:txBody>
                    <a:bodyPr/>
                    <a:lstStyle/>
                    <a:p>
                      <a:pPr lvl="0" indent="0" marL="0">
                        <a:buNone/>
                      </a:pPr>
                      <a:r>
                        <a:rPr/>
                        <a:t>Flagship</a:t>
                      </a:r>
                    </a:p>
                  </a:txBody>
                </a:tc>
                <a:tc>
                  <a:txBody>
                    <a:bodyPr/>
                    <a:lstStyle/>
                    <a:p>
                      <a:pPr lvl="0" indent="0" marL="0">
                        <a:buNone/>
                      </a:pPr>
                      <a:r>
                        <a:rPr/>
                        <a:t>Field-water evidence, source-regressed Li/Na stage model, missing full multication parameter payload</a:t>
                      </a:r>
                    </a:p>
                  </a:txBody>
                </a:tc>
              </a:tr>
              <a:tr h="0">
                <a:tc>
                  <a:txBody>
                    <a:bodyPr/>
                    <a:lstStyle/>
                    <a:p>
                      <a:pPr lvl="0" indent="0" marL="0" algn="r">
                        <a:buNone/>
                      </a:pPr>
                      <a:r>
                        <a:rPr/>
                        <a:t>2</a:t>
                      </a:r>
                    </a:p>
                  </a:txBody>
                </a:tc>
                <a:tc>
                  <a:txBody>
                    <a:bodyPr/>
                    <a:lstStyle/>
                    <a:p>
                      <a:pPr lvl="0" indent="0" marL="0">
                        <a:buNone/>
                      </a:pPr>
                      <a:r>
                        <a:rPr/>
                        <a:t>D2EHDTPA + BuPhen + octanol + n-dodecane</a:t>
                      </a:r>
                    </a:p>
                  </a:txBody>
                </a:tc>
                <a:tc>
                  <a:txBody>
                    <a:bodyPr/>
                    <a:lstStyle/>
                    <a:p>
                      <a:pPr lvl="0" indent="0" marL="0">
                        <a:buNone/>
                      </a:pPr>
                      <a:r>
                        <a:rPr/>
                        <a:t>Best non-HBTA backup</a:t>
                      </a:r>
                    </a:p>
                  </a:txBody>
                </a:tc>
                <a:tc>
                  <a:txBody>
                    <a:bodyPr/>
                    <a:lstStyle/>
                    <a:p>
                      <a:pPr lvl="0" indent="0" marL="0">
                        <a:buNone/>
                      </a:pPr>
                      <a:r>
                        <a:rPr/>
                        <a:t>Strong multication selectivity, blocked by missing parameter set</a:t>
                      </a:r>
                    </a:p>
                  </a:txBody>
                </a:tc>
              </a:tr>
              <a:tr h="0">
                <a:tc>
                  <a:txBody>
                    <a:bodyPr/>
                    <a:lstStyle/>
                    <a:p>
                      <a:pPr lvl="0" indent="0" marL="0" algn="r">
                        <a:buNone/>
                      </a:pPr>
                      <a:r>
                        <a:rPr/>
                        <a:t>3</a:t>
                      </a:r>
                    </a:p>
                  </a:txBody>
                </a:tc>
                <a:tc>
                  <a:txBody>
                    <a:bodyPr/>
                    <a:lstStyle/>
                    <a:p>
                      <a:pPr lvl="0" indent="0" marL="0">
                        <a:buNone/>
                      </a:pPr>
                      <a:r>
                        <a:rPr/>
                        <a:t>TBAC + decanoic-acid DES + TOPO</a:t>
                      </a:r>
                    </a:p>
                  </a:txBody>
                </a:tc>
                <a:tc>
                  <a:txBody>
                    <a:bodyPr/>
                    <a:lstStyle/>
                    <a:p>
                      <a:pPr lvl="0" indent="0" marL="0">
                        <a:buNone/>
                      </a:pPr>
                      <a:r>
                        <a:rPr/>
                        <a:t>Parameter-regression pilot</a:t>
                      </a:r>
                    </a:p>
                  </a:txBody>
                </a:tc>
                <a:tc>
                  <a:txBody>
                    <a:bodyPr/>
                    <a:lstStyle/>
                    <a:p>
                      <a:pPr lvl="0" indent="0" marL="0">
                        <a:buNone/>
                      </a:pPr>
                      <a:r>
                        <a:rPr/>
                        <a:t>Rezaee smoke test runs; not the flagship chemistry</a:t>
                      </a:r>
                    </a:p>
                  </a:txBody>
                </a:tc>
              </a:tr>
              <a:tr h="0">
                <a:tc>
                  <a:txBody>
                    <a:bodyPr/>
                    <a:lstStyle/>
                    <a:p>
                      <a:pPr lvl="0" indent="0" marL="0" algn="r">
                        <a:buNone/>
                      </a:pPr>
                      <a:r>
                        <a:rPr/>
                        <a:t>4</a:t>
                      </a:r>
                    </a:p>
                  </a:txBody>
                </a:tc>
                <a:tc>
                  <a:txBody>
                    <a:bodyPr/>
                    <a:lstStyle/>
                    <a:p>
                      <a:pPr lvl="0" indent="0" marL="0">
                        <a:buNone/>
                      </a:pPr>
                      <a:r>
                        <a:rPr/>
                        <a:t>TBP + FeCl3/HCl</a:t>
                      </a:r>
                    </a:p>
                  </a:txBody>
                </a:tc>
                <a:tc>
                  <a:txBody>
                    <a:bodyPr/>
                    <a:lstStyle/>
                    <a:p>
                      <a:pPr lvl="0" indent="0" marL="0">
                        <a:buNone/>
                      </a:pPr>
                      <a:r>
                        <a:rPr/>
                        <a:t>Mechanistic backup</a:t>
                      </a:r>
                    </a:p>
                  </a:txBody>
                </a:tc>
                <a:tc>
                  <a:txBody>
                    <a:bodyPr/>
                    <a:lstStyle/>
                    <a:p>
                      <a:pPr lvl="0" indent="0" marL="0">
                        <a:buNone/>
                      </a:pPr>
                      <a:r>
                        <a:rPr/>
                        <a:t>Useful high-Mg comparison, process-burden and parameter gaps</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2.5 Limitation Of Fixed-Coefficient Crossflow</a:t>
            </a:r>
          </a:p>
        </p:txBody>
      </p:sp>
      <p:sp>
        <p:nvSpPr>
          <p:cNvPr id="3" name="Content Placeholder 2"/>
          <p:cNvSpPr>
            <a:spLocks noGrp="1"/>
          </p:cNvSpPr>
          <p:nvPr>
            <p:ph idx="1" sz="half"/>
          </p:nvPr>
        </p:nvSpPr>
        <p:spPr/>
        <p:txBody>
          <a:bodyPr/>
          <a:lstStyle/>
          <a:p>
            <a:pPr lvl="0" indent="0" marL="0">
              <a:buNone/>
            </a:pPr>
            <a:r>
              <a:rPr b="1"/>
              <a:t>Placeholder limitation</a:t>
            </a:r>
          </a:p>
          <a:p>
            <a:pPr lvl="0"/>
            <a:r>
              <a:rPr/>
              <a:t>The legacy Jang-style crossflow placeholder reaches only </a:t>
            </a:r>
            <a:r>
              <a:rPr>
                <a:latin typeface="Courier"/>
              </a:rPr>
              <a:t>39.96%</a:t>
            </a:r>
            <a:r>
              <a:rPr/>
              <a:t> cumulative Li extraction after ten contacts.</a:t>
            </a:r>
          </a:p>
          <a:p>
            <a:pPr lvl="0"/>
            <a:r>
              <a:rPr/>
              <a:t>Sodium still reaches </a:t>
            </a:r>
            <a:r>
              <a:rPr>
                <a:latin typeface="Courier"/>
              </a:rPr>
              <a:t>38.05%</a:t>
            </a:r>
            <a:r>
              <a:rPr/>
              <a:t> cumulative extraction in that same chain.</a:t>
            </a:r>
          </a:p>
          <a:p>
            <a:pPr lvl="0"/>
            <a:r>
              <a:rPr/>
              <a:t>It is a limitation baseline, not a flagship produced-water case.</a:t>
            </a:r>
          </a:p>
        </p:txBody>
      </p:sp>
      <p:sp>
        <p:nvSpPr>
          <p:cNvPr id="4" name="Content Placeholder 3"/>
          <p:cNvSpPr>
            <a:spLocks noGrp="1"/>
          </p:cNvSpPr>
          <p:nvPr>
            <p:ph idx="2" sz="half"/>
          </p:nvPr>
        </p:nvSpPr>
        <p:spPr/>
        <p:txBody>
          <a:bodyPr/>
          <a:lstStyle/>
          <a:p>
            <a:pPr lvl="0" indent="0" marL="0">
              <a:buNone/>
            </a:pPr>
            <a:r>
              <a:rPr b="1"/>
              <a:t>Why it was not enough</a:t>
            </a:r>
          </a:p>
          <a:p>
            <a:pPr lvl="0"/>
            <a:r>
              <a:rPr/>
              <a:t>fixed surrogate chemistry</a:t>
            </a:r>
          </a:p>
          <a:p>
            <a:pPr lvl="0"/>
            <a:r>
              <a:rPr/>
              <a:t>weak Li-over-Na separation</a:t>
            </a:r>
          </a:p>
          <a:p>
            <a:pPr lvl="0"/>
            <a:r>
              <a:rPr/>
              <a:t>no bridge to trust-region sampling or ALAMO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3. Selective Extraction Model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3.1 One-Stage Selective Split</a:t>
            </a:r>
          </a:p>
        </p:txBody>
      </p:sp>
      <p:sp>
        <p:nvSpPr>
          <p:cNvPr id="3" name="Content Placeholder 2"/>
          <p:cNvSpPr>
            <a:spLocks noGrp="1"/>
          </p:cNvSpPr>
          <p:nvPr>
            <p:ph idx="1" sz="half"/>
          </p:nvPr>
        </p:nvSpPr>
        <p:spPr/>
        <p:txBody>
          <a:bodyPr/>
          <a:lstStyle/>
          <a:p>
            <a:pPr lvl="0" indent="0" marL="0">
              <a:buNone/>
            </a:pPr>
            <a:r>
              <a:rPr b="1"/>
              <a:t>MS-2 O/A = 1 stage result</a:t>
            </a:r>
          </a:p>
          <a:p>
            <a:pPr lvl="0"/>
            <a:r>
              <a:rPr/>
              <a:t>Li extraction: </a:t>
            </a:r>
            <a:r>
              <a:rPr>
                <a:latin typeface="Courier"/>
              </a:rPr>
              <a:t>47.2846%</a:t>
            </a:r>
          </a:p>
          <a:p>
            <a:pPr lvl="0"/>
            <a:r>
              <a:rPr/>
              <a:t>Na extraction: </a:t>
            </a:r>
            <a:r>
              <a:rPr>
                <a:latin typeface="Courier"/>
              </a:rPr>
              <a:t>0.0131%</a:t>
            </a:r>
          </a:p>
          <a:p>
            <a:pPr lvl="0"/>
            <a:r>
              <a:rPr/>
              <a:t>(D_{Li} = 0.8970)</a:t>
            </a:r>
          </a:p>
          <a:p>
            <a:pPr lvl="0"/>
            <a:r>
              <a:rPr/>
              <a:t>(S_{Li/Na} = 6840.1)</a:t>
            </a:r>
          </a:p>
          <a:p>
            <a:pPr lvl="0"/>
            <a:r>
              <a:rPr/>
              <a:t>Raffinate Li: </a:t>
            </a:r>
            <a:r>
              <a:rPr>
                <a:latin typeface="Courier"/>
              </a:rPr>
              <a:t>88.56 mg/L</a:t>
            </a:r>
          </a:p>
          <a:p>
            <a:pPr lvl="0"/>
            <a:r>
              <a:rPr/>
              <a:t>Activity correction: ePC-SAFT aqueous gamma</a:t>
            </a:r>
          </a:p>
          <a:p>
            <a:pPr lvl="0" indent="0" marL="1270000">
              <a:buNone/>
            </a:pPr>
            <a:r>
              <a:rPr sz="2000" b="1"/>
              <a:t>None</a:t>
            </a:r>
          </a:p>
          <a:p>
            <a:pPr lvl="0" indent="0" marL="1270000">
              <a:buNone/>
            </a:pPr>
            <a:r>
              <a:rPr sz="2000"/>
              <a:t>Source-regressed Li/Na stage solve; not a full multication reactive LLE flash.</a:t>
            </a:r>
          </a:p>
        </p:txBody>
      </p:sp>
      <p:sp>
        <p:nvSpPr>
          <p:cNvPr id="4" name="Content Placeholder 3"/>
          <p:cNvSpPr>
            <a:spLocks noGrp="1"/>
          </p:cNvSpPr>
          <p:nvPr>
            <p:ph idx="2" sz="half"/>
          </p:nvPr>
        </p:nvSpPr>
        <p:spPr/>
        <p:txBody>
          <a:bodyPr/>
          <a:lstStyle/>
          <a:p>
            <a:pPr lvl="0" indent="0" marL="0">
              <a:buNone/>
            </a:pPr>
            <a:r>
              <a:rPr b="1"/>
              <a:t>What changed from the old wrapper</a:t>
            </a:r>
          </a:p>
          <a:p>
            <a:pPr lvl="0"/>
            <a:r>
              <a:rPr/>
              <a:t>The chemistry now carries the literature-backed </a:t>
            </a:r>
            <a:r>
              <a:rPr>
                <a:latin typeface="Courier"/>
              </a:rPr>
              <a:t>2 HBTA : 1 TOPO : 1 Li</a:t>
            </a:r>
            <a:r>
              <a:rPr/>
              <a:t> complex stoichiometry.</a:t>
            </a:r>
          </a:p>
          <a:p>
            <a:pPr lvl="0"/>
            <a:r>
              <a:rPr/>
              <a:t>The aqueous Li/Na activity correction is evaluated by ePC-SAFT when available.</a:t>
            </a:r>
          </a:p>
          <a:p>
            <a:pPr lvl="0"/>
            <a:r>
              <a:rPr/>
              <a:t>The old selective wrapper remains only as historical support and fallback context.</a:t>
            </a:r>
          </a:p>
          <a:p>
            <a:pPr lvl="0"/>
            <a:r>
              <a:rPr/>
              <a:t>The current stage-output table carries extraction, distribution, selectivity, and validity labels.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3.2 Li/Na Regression Closure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828800"/>
                <a:gridCol w="1828800"/>
                <a:gridCol w="1828800"/>
              </a:tblGrid>
              <a:tr h="0">
                <a:tc>
                  <a:txBody>
                    <a:bodyPr/>
                    <a:lstStyle/>
                    <a:p>
                      <a:pPr lvl="0" indent="0" marL="0">
                        <a:buNone/>
                      </a:pPr>
                      <a:r>
                        <a:rPr/>
                        <a:t>Anchor</a:t>
                      </a:r>
                    </a:p>
                  </a:txBody>
                  <a:tcPr/>
                </a:tc>
                <a:tc>
                  <a:txBody>
                    <a:bodyPr/>
                    <a:lstStyle/>
                    <a:p>
                      <a:pPr lvl="0" indent="0" marL="0">
                        <a:buNone/>
                      </a:pPr>
                      <a:r>
                        <a:rPr/>
                        <a:t>Zotero key</a:t>
                      </a:r>
                    </a:p>
                  </a:txBody>
                  <a:tcPr/>
                </a:tc>
                <a:tc>
                  <a:txBody>
                    <a:bodyPr/>
                    <a:lstStyle/>
                    <a:p>
                      <a:pPr lvl="0" indent="0" marL="0" algn="r">
                        <a:buNone/>
                      </a:pPr>
                      <a:r>
                        <a:rPr/>
                        <a:t>Target</a:t>
                      </a:r>
                    </a:p>
                  </a:txBody>
                  <a:tcPr/>
                </a:tc>
                <a:tc>
                  <a:txBody>
                    <a:bodyPr/>
                    <a:lstStyle/>
                    <a:p>
                      <a:pPr lvl="0" indent="0" marL="0" algn="r">
                        <a:buNone/>
                      </a:pPr>
                      <a:r>
                        <a:rPr/>
                        <a:t>Prediction</a:t>
                      </a:r>
                    </a:p>
                  </a:txBody>
                  <a:tcPr/>
                </a:tc>
                <a:tc>
                  <a:txBody>
                    <a:bodyPr/>
                    <a:lstStyle/>
                    <a:p>
                      <a:pPr lvl="0" indent="0" marL="0" algn="r">
                        <a:buNone/>
                      </a:pPr>
                      <a:r>
                        <a:rPr/>
                        <a:t>Residual</a:t>
                      </a:r>
                    </a:p>
                  </a:txBody>
                  <a:tcPr/>
                </a:tc>
              </a:tr>
              <a:tr h="0">
                <a:tc>
                  <a:txBody>
                    <a:bodyPr/>
                    <a:lstStyle/>
                    <a:p>
                      <a:pPr lvl="0" indent="0" marL="0">
                        <a:buNone/>
                      </a:pPr>
                      <a:r>
                        <a:rPr/>
                        <a:t>Stage 1 Li cumulative extraction</a:t>
                      </a:r>
                    </a:p>
                  </a:txBody>
                </a:tc>
                <a:tc>
                  <a:txBody>
                    <a:bodyPr/>
                    <a:lstStyle/>
                    <a:p>
                      <a:pPr lvl="0" indent="0" marL="0">
                        <a:buNone/>
                      </a:pPr>
                      <a:r>
                        <a:rPr>
                          <a:latin typeface="Courier"/>
                        </a:rPr>
                        <a:t>JUNBXVTI</a:t>
                      </a:r>
                    </a:p>
                  </a:txBody>
                </a:tc>
                <a:tc>
                  <a:txBody>
                    <a:bodyPr/>
                    <a:lstStyle/>
                    <a:p>
                      <a:pPr lvl="0" indent="0" marL="0" algn="r">
                        <a:buNone/>
                      </a:pPr>
                      <a:r>
                        <a:rPr>
                          <a:latin typeface="Courier"/>
                        </a:rPr>
                        <a:t>54.95%</a:t>
                      </a:r>
                    </a:p>
                  </a:txBody>
                </a:tc>
                <a:tc>
                  <a:txBody>
                    <a:bodyPr/>
                    <a:lstStyle/>
                    <a:p>
                      <a:pPr lvl="0" indent="0" marL="0" algn="r">
                        <a:buNone/>
                      </a:pPr>
                      <a:r>
                        <a:rPr>
                          <a:latin typeface="Courier"/>
                        </a:rPr>
                        <a:t>54.8882%</a:t>
                      </a:r>
                    </a:p>
                  </a:txBody>
                </a:tc>
                <a:tc>
                  <a:txBody>
                    <a:bodyPr/>
                    <a:lstStyle/>
                    <a:p>
                      <a:pPr lvl="0" indent="0" marL="0" algn="r">
                        <a:buNone/>
                      </a:pPr>
                      <a:r>
                        <a:rPr>
                          <a:latin typeface="Courier"/>
                        </a:rPr>
                        <a:t>-0.0618 pp</a:t>
                      </a:r>
                    </a:p>
                  </a:txBody>
                </a:tc>
              </a:tr>
              <a:tr h="0">
                <a:tc>
                  <a:txBody>
                    <a:bodyPr/>
                    <a:lstStyle/>
                    <a:p>
                      <a:pPr lvl="0" indent="0" marL="0">
                        <a:buNone/>
                      </a:pPr>
                      <a:r>
                        <a:rPr/>
                        <a:t>Stage 2 Li cumulative extraction</a:t>
                      </a:r>
                    </a:p>
                  </a:txBody>
                </a:tc>
                <a:tc>
                  <a:txBody>
                    <a:bodyPr/>
                    <a:lstStyle/>
                    <a:p>
                      <a:pPr lvl="0" indent="0" marL="0">
                        <a:buNone/>
                      </a:pPr>
                      <a:r>
                        <a:rPr>
                          <a:latin typeface="Courier"/>
                        </a:rPr>
                        <a:t>JUNBXVTI</a:t>
                      </a:r>
                    </a:p>
                  </a:txBody>
                </a:tc>
                <a:tc>
                  <a:txBody>
                    <a:bodyPr/>
                    <a:lstStyle/>
                    <a:p>
                      <a:pPr lvl="0" indent="0" marL="0" algn="r">
                        <a:buNone/>
                      </a:pPr>
                      <a:r>
                        <a:rPr>
                          <a:latin typeface="Courier"/>
                        </a:rPr>
                        <a:t>85.60%</a:t>
                      </a:r>
                    </a:p>
                  </a:txBody>
                </a:tc>
                <a:tc>
                  <a:txBody>
                    <a:bodyPr/>
                    <a:lstStyle/>
                    <a:p>
                      <a:pPr lvl="0" indent="0" marL="0" algn="r">
                        <a:buNone/>
                      </a:pPr>
                      <a:r>
                        <a:rPr>
                          <a:latin typeface="Courier"/>
                        </a:rPr>
                        <a:t>85.7224%</a:t>
                      </a:r>
                    </a:p>
                  </a:txBody>
                </a:tc>
                <a:tc>
                  <a:txBody>
                    <a:bodyPr/>
                    <a:lstStyle/>
                    <a:p>
                      <a:pPr lvl="0" indent="0" marL="0" algn="r">
                        <a:buNone/>
                      </a:pPr>
                      <a:r>
                        <a:rPr>
                          <a:latin typeface="Courier"/>
                        </a:rPr>
                        <a:t>+0.1224 pp</a:t>
                      </a:r>
                    </a:p>
                  </a:txBody>
                </a:tc>
              </a:tr>
              <a:tr h="0">
                <a:tc>
                  <a:txBody>
                    <a:bodyPr/>
                    <a:lstStyle/>
                    <a:p>
                      <a:pPr lvl="0" indent="0" marL="0">
                        <a:buNone/>
                      </a:pPr>
                      <a:r>
                        <a:rPr/>
                        <a:t>Stage 3 Li cumulative extraction</a:t>
                      </a:r>
                    </a:p>
                  </a:txBody>
                </a:tc>
                <a:tc>
                  <a:txBody>
                    <a:bodyPr/>
                    <a:lstStyle/>
                    <a:p>
                      <a:pPr lvl="0" indent="0" marL="0">
                        <a:buNone/>
                      </a:pPr>
                      <a:r>
                        <a:rPr>
                          <a:latin typeface="Courier"/>
                        </a:rPr>
                        <a:t>JUNBXVTI</a:t>
                      </a:r>
                    </a:p>
                  </a:txBody>
                </a:tc>
                <a:tc>
                  <a:txBody>
                    <a:bodyPr/>
                    <a:lstStyle/>
                    <a:p>
                      <a:pPr lvl="0" indent="0" marL="0" algn="r">
                        <a:buNone/>
                      </a:pPr>
                      <a:r>
                        <a:rPr>
                          <a:latin typeface="Courier"/>
                        </a:rPr>
                        <a:t>97.17%</a:t>
                      </a:r>
                    </a:p>
                  </a:txBody>
                </a:tc>
                <a:tc>
                  <a:txBody>
                    <a:bodyPr/>
                    <a:lstStyle/>
                    <a:p>
                      <a:pPr lvl="0" indent="0" marL="0" algn="r">
                        <a:buNone/>
                      </a:pPr>
                      <a:r>
                        <a:rPr>
                          <a:latin typeface="Courier"/>
                        </a:rPr>
                        <a:t>97.0385%</a:t>
                      </a:r>
                    </a:p>
                  </a:txBody>
                </a:tc>
                <a:tc>
                  <a:txBody>
                    <a:bodyPr/>
                    <a:lstStyle/>
                    <a:p>
                      <a:pPr lvl="0" indent="0" marL="0" algn="r">
                        <a:buNone/>
                      </a:pPr>
                      <a:r>
                        <a:rPr>
                          <a:latin typeface="Courier"/>
                        </a:rPr>
                        <a:t>-0.1315 pp</a:t>
                      </a:r>
                    </a:p>
                  </a:txBody>
                </a:tc>
              </a:tr>
              <a:tr h="0">
                <a:tc>
                  <a:txBody>
                    <a:bodyPr/>
                    <a:lstStyle/>
                    <a:p>
                      <a:pPr lvl="0" indent="0" marL="0">
                        <a:buNone/>
                      </a:pPr>
                      <a:r>
                        <a:rPr/>
                        <a:t>Li/Na selectivity lower-bound anchor</a:t>
                      </a:r>
                    </a:p>
                  </a:txBody>
                </a:tc>
                <a:tc>
                  <a:txBody>
                    <a:bodyPr/>
                    <a:lstStyle/>
                    <a:p>
                      <a:pPr lvl="0" indent="0" marL="0">
                        <a:buNone/>
                      </a:pPr>
                      <a:r>
                        <a:rPr>
                          <a:latin typeface="Courier"/>
                        </a:rPr>
                        <a:t>9LJWDC7E</a:t>
                      </a:r>
                    </a:p>
                  </a:txBody>
                </a:tc>
                <a:tc>
                  <a:txBody>
                    <a:bodyPr/>
                    <a:lstStyle/>
                    <a:p>
                      <a:pPr lvl="0" indent="0" marL="0" algn="r">
                        <a:buNone/>
                      </a:pPr>
                      <a:r>
                        <a:rPr>
                          <a:latin typeface="Courier"/>
                        </a:rPr>
                        <a:t>2100</a:t>
                      </a:r>
                    </a:p>
                  </a:txBody>
                </a:tc>
                <a:tc>
                  <a:txBody>
                    <a:bodyPr/>
                    <a:lstStyle/>
                    <a:p>
                      <a:pPr lvl="0" indent="0" marL="0" algn="r">
                        <a:buNone/>
                      </a:pPr>
                      <a:r>
                        <a:rPr>
                          <a:latin typeface="Courier"/>
                        </a:rPr>
                        <a:t>2100.008</a:t>
                      </a:r>
                    </a:p>
                  </a:txBody>
                </a:tc>
                <a:tc>
                  <a:txBody>
                    <a:bodyPr/>
                    <a:lstStyle/>
                    <a:p>
                      <a:pPr lvl="0" indent="0" marL="0" algn="r">
                        <a:buNone/>
                      </a:pPr>
                      <a:r>
                        <a:rPr>
                          <a:latin typeface="Courier"/>
                        </a:rPr>
                        <a:t>+0.008</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None</a:t>
            </a:r>
          </a:p>
          <a:p>
            <a:pPr lvl="0" indent="0" marL="1270000">
              <a:buNone/>
            </a:pPr>
            <a:r>
              <a:rPr sz="2000"/>
              <a:t>This is the current predictive closure: Li/Na staged transfer from one source-regressed parameter payload. Ca, Mg, Ba, Sr, diluent, and complex parameters remain explicit limits.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3.3 Multi-Stage Performance</a:t>
            </a:r>
          </a:p>
        </p:txBody>
      </p:sp>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Three-stage reactive-stage chain</a:t>
            </a:r>
          </a:p>
          <a:p>
            <a:pPr lvl="0"/>
            <a:r>
              <a:rPr/>
              <a:t>Stage 1 cumulative Li extraction: </a:t>
            </a:r>
            <a:r>
              <a:rPr>
                <a:latin typeface="Courier"/>
              </a:rPr>
              <a:t>47.2846%</a:t>
            </a:r>
          </a:p>
          <a:p>
            <a:pPr lvl="0"/>
            <a:r>
              <a:rPr/>
              <a:t>Stage 2 cumulative Li extraction: </a:t>
            </a:r>
            <a:r>
              <a:rPr>
                <a:latin typeface="Courier"/>
              </a:rPr>
              <a:t>89.5753%</a:t>
            </a:r>
          </a:p>
          <a:p>
            <a:pPr lvl="0"/>
            <a:r>
              <a:rPr/>
              <a:t>Stage 3 model Li extraction: near-total</a:t>
            </a:r>
          </a:p>
          <a:p>
            <a:pPr lvl="0"/>
            <a:r>
              <a:rPr/>
              <a:t>Stage 3 cumulative Na extraction: </a:t>
            </a:r>
            <a:r>
              <a:rPr>
                <a:latin typeface="Courier"/>
              </a:rPr>
              <a:t>0.1160%</a:t>
            </a:r>
          </a:p>
          <a:p>
            <a:pPr lvl="0"/>
            <a:r>
              <a:rPr/>
              <a:t>Costing recovery is capped at the </a:t>
            </a:r>
            <a:r>
              <a:rPr>
                <a:latin typeface="Courier"/>
              </a:rPr>
              <a:t>97.17%</a:t>
            </a:r>
            <a:r>
              <a:rPr/>
              <a:t> literature anchor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3.4 Thermodynamic Insight</a:t>
            </a:r>
          </a:p>
        </p:txBody>
      </p:sp>
      <p:sp>
        <p:nvSpPr>
          <p:cNvPr id="3" name="Content Placeholder 2"/>
          <p:cNvSpPr>
            <a:spLocks noGrp="1"/>
          </p:cNvSpPr>
          <p:nvPr>
            <p:ph idx="1" sz="half"/>
          </p:nvPr>
        </p:nvSpPr>
        <p:spPr/>
        <p:txBody>
          <a:bodyPr/>
          <a:lstStyle/>
          <a:p>
            <a:pPr lvl="0" indent="0" marL="0">
              <a:buNone/>
            </a:pPr>
            <a:r>
              <a:rPr b="1"/>
              <a:t>The old question</a:t>
            </a:r>
          </a:p>
          <a:p>
            <a:pPr lvl="0" indent="0" marL="0">
              <a:buNone/>
            </a:pPr>
            <a:r>
              <a:rPr/>
              <a:t>Can this solvent extract lithium from this brine?</a:t>
            </a:r>
          </a:p>
          <a:p>
            <a:pPr lvl="0" indent="0" marL="0">
              <a:buNone/>
            </a:pPr>
            <a:r>
              <a:rPr b="1"/>
              <a:t>The stronger question</a:t>
            </a:r>
          </a:p>
          <a:p>
            <a:pPr lvl="0" indent="0" marL="0">
              <a:buNone/>
            </a:pPr>
            <a:r>
              <a:rPr/>
              <a:t>Where should this chemistry work, how does the answer change with basin chemistry, and what stage variables should enter a process model?</a:t>
            </a:r>
          </a:p>
        </p:txBody>
      </p:sp>
      <p:sp>
        <p:nvSpPr>
          <p:cNvPr id="4" name="Content Placeholder 3"/>
          <p:cNvSpPr>
            <a:spLocks noGrp="1"/>
          </p:cNvSpPr>
          <p:nvPr>
            <p:ph idx="2" sz="half"/>
          </p:nvPr>
        </p:nvSpPr>
        <p:spPr/>
        <p:txBody>
          <a:bodyPr/>
          <a:lstStyle/>
          <a:p>
            <a:pPr lvl="0" indent="0" marL="0">
              <a:buNone/>
            </a:pPr>
            <a:r>
              <a:rPr b="1"/>
              <a:t>Why ePC-SAFT changes the question</a:t>
            </a:r>
          </a:p>
          <a:p>
            <a:pPr lvl="0"/>
            <a:r>
              <a:rPr/>
              <a:t>It turns feed chemistry into equilibrium states.</a:t>
            </a:r>
          </a:p>
          <a:p>
            <a:pPr lvl="0"/>
            <a:r>
              <a:rPr/>
              <a:t>It lets salt load and O/A ratio become computable sensitivities.</a:t>
            </a:r>
          </a:p>
          <a:p>
            <a:pPr lvl="0"/>
            <a:r>
              <a:rPr/>
              <a:t>It provides distribution and selectivity variables, not only recovery percentages.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4. PrOMMiS / IDAES Process Bridge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4.1 From Equilibrium To Transfer Variables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Process-model need</a:t>
                      </a:r>
                    </a:p>
                  </a:txBody>
                  <a:tcPr/>
                </a:tc>
                <a:tc>
                  <a:txBody>
                    <a:bodyPr/>
                    <a:lstStyle/>
                    <a:p>
                      <a:pPr lvl="0" indent="0" marL="0">
                        <a:buNone/>
                      </a:pPr>
                      <a:r>
                        <a:rPr/>
                        <a:t>ePC-SAFT-derived quantity</a:t>
                      </a:r>
                    </a:p>
                  </a:txBody>
                  <a:tcPr/>
                </a:tc>
                <a:tc>
                  <a:txBody>
                    <a:bodyPr/>
                    <a:lstStyle/>
                    <a:p>
                      <a:pPr lvl="0" indent="0" marL="0">
                        <a:buNone/>
                      </a:pPr>
                      <a:r>
                        <a:rPr/>
                        <a:t>Use in PrOMMiS / IDAES</a:t>
                      </a:r>
                    </a:p>
                  </a:txBody>
                  <a:tcPr/>
                </a:tc>
              </a:tr>
              <a:tr h="0">
                <a:tc>
                  <a:txBody>
                    <a:bodyPr/>
                    <a:lstStyle/>
                    <a:p>
                      <a:pPr lvl="0" indent="0" marL="0">
                        <a:buNone/>
                      </a:pPr>
                      <a:r>
                        <a:rPr/>
                        <a:t>Feed state</a:t>
                      </a:r>
                    </a:p>
                  </a:txBody>
                </a:tc>
                <a:tc>
                  <a:txBody>
                    <a:bodyPr/>
                    <a:lstStyle/>
                    <a:p>
                      <a:pPr lvl="0" indent="0" marL="0">
                        <a:buNone/>
                      </a:pPr>
                      <a:r>
                        <a:rPr/>
                        <a:t>(z_i), TDS, Li/Na/Mg/Ca/Sr/Ba/Cl basis, temperature</a:t>
                      </a:r>
                    </a:p>
                  </a:txBody>
                </a:tc>
                <a:tc>
                  <a:txBody>
                    <a:bodyPr/>
                    <a:lstStyle/>
                    <a:p>
                      <a:pPr lvl="0" indent="0" marL="0">
                        <a:buNone/>
                      </a:pPr>
                      <a:r>
                        <a:rPr/>
                        <a:t>Basin-specific solvent-extraction inlet</a:t>
                      </a:r>
                    </a:p>
                  </a:txBody>
                </a:tc>
              </a:tr>
              <a:tr h="0">
                <a:tc>
                  <a:txBody>
                    <a:bodyPr/>
                    <a:lstStyle/>
                    <a:p>
                      <a:pPr lvl="0" indent="0" marL="0">
                        <a:buNone/>
                      </a:pPr>
                      <a:r>
                        <a:rPr/>
                        <a:t>Phase split</a:t>
                      </a:r>
                    </a:p>
                  </a:txBody>
                </a:tc>
                <a:tc>
                  <a:txBody>
                    <a:bodyPr/>
                    <a:lstStyle/>
                    <a:p>
                      <a:pPr lvl="0" indent="0" marL="0">
                        <a:buNone/>
                      </a:pPr>
                      <a:r>
                        <a:rPr/>
                        <a:t>aqueous and organic compositions, phase fraction</a:t>
                      </a:r>
                    </a:p>
                  </a:txBody>
                </a:tc>
                <a:tc>
                  <a:txBody>
                    <a:bodyPr/>
                    <a:lstStyle/>
                    <a:p>
                      <a:pPr lvl="0" indent="0" marL="0">
                        <a:buNone/>
                      </a:pPr>
                      <a:r>
                        <a:rPr/>
                        <a:t>Equilibrium target or closure for a stage</a:t>
                      </a:r>
                    </a:p>
                  </a:txBody>
                </a:tc>
              </a:tr>
              <a:tr h="0">
                <a:tc>
                  <a:txBody>
                    <a:bodyPr/>
                    <a:lstStyle/>
                    <a:p>
                      <a:pPr lvl="0" indent="0" marL="0">
                        <a:buNone/>
                      </a:pPr>
                      <a:r>
                        <a:rPr/>
                        <a:t>Transfer strength</a:t>
                      </a:r>
                    </a:p>
                  </a:txBody>
                </a:tc>
                <a:tc>
                  <a:txBody>
                    <a:bodyPr/>
                    <a:lstStyle/>
                    <a:p>
                      <a:pPr lvl="0" indent="0" marL="0">
                        <a:buNone/>
                      </a:pPr>
                      <a:r>
                        <a:rPr/>
                        <a:t>(D_i = C_{i,org}/C_{i,aq})</a:t>
                      </a:r>
                    </a:p>
                  </a:txBody>
                </a:tc>
                <a:tc>
                  <a:txBody>
                    <a:bodyPr/>
                    <a:lstStyle/>
                    <a:p>
                      <a:pPr lvl="0" indent="0" marL="0">
                        <a:buNone/>
                      </a:pPr>
                      <a:r>
                        <a:rPr/>
                        <a:t>Distribution behavior in material balances</a:t>
                      </a:r>
                    </a:p>
                  </a:txBody>
                </a:tc>
              </a:tr>
              <a:tr h="0">
                <a:tc>
                  <a:txBody>
                    <a:bodyPr/>
                    <a:lstStyle/>
                    <a:p>
                      <a:pPr lvl="0" indent="0" marL="0">
                        <a:buNone/>
                      </a:pPr>
                      <a:r>
                        <a:rPr/>
                        <a:t>Selectivity</a:t>
                      </a:r>
                    </a:p>
                  </a:txBody>
                </a:tc>
                <a:tc>
                  <a:txBody>
                    <a:bodyPr/>
                    <a:lstStyle/>
                    <a:p>
                      <a:pPr lvl="0" indent="0" marL="0">
                        <a:buNone/>
                      </a:pPr>
                      <a:r>
                        <a:rPr/>
                        <a:t>(S_{Li/Na}), later (S_{Li/Mg}), (S_{Li/Ca})</a:t>
                      </a:r>
                    </a:p>
                  </a:txBody>
                </a:tc>
                <a:tc>
                  <a:txBody>
                    <a:bodyPr/>
                    <a:lstStyle/>
                    <a:p>
                      <a:pPr lvl="0" indent="0" marL="0">
                        <a:buNone/>
                      </a:pPr>
                      <a:r>
                        <a:rPr/>
                        <a:t>Separation constraints and solvent screening</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None</a:t>
            </a:r>
          </a:p>
          <a:p>
            <a:pPr lvl="0" indent="0" marL="1270000">
              <a:buNone/>
            </a:pPr>
            <a:r>
              <a:rPr sz="2000"/>
              <a:t>PrOMMiS and IDAES do not just need a lithium recovery number. They need a defensible map from produced-water chemistry to stage transfer variables.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4.2 Transfer-Variable Contract</a:t>
            </a:r>
          </a:p>
        </p:txBody>
      </p:sp>
      <p:sp>
        <p:nvSpPr>
          <p:cNvPr id="4" name="Text Placeholder 3"/>
          <p:cNvSpPr>
            <a:spLocks noGrp="1"/>
          </p:cNvSpPr>
          <p:nvPr>
            <p:ph idx="2" sz="half" type="body"/>
          </p:nvPr>
        </p:nvSpPr>
        <p:spPr/>
        <p:txBody>
          <a:bodyPr/>
          <a:lstStyle/>
          <a:p>
            <a:pPr lvl="0" indent="0" marL="0">
              <a:buNone/>
            </a:pPr>
            <a:r>
              <a:rPr/>
              <a:t>For process integration, the ePC-SAFT output should be treated as the following structured contract: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Variable</a:t>
                      </a:r>
                    </a:p>
                  </a:txBody>
                  <a:tcPr/>
                </a:tc>
                <a:tc>
                  <a:txBody>
                    <a:bodyPr/>
                    <a:lstStyle/>
                    <a:p>
                      <a:pPr lvl="0" indent="0" marL="0">
                        <a:buNone/>
                      </a:pPr>
                      <a:r>
                        <a:rPr/>
                        <a:t>Definition</a:t>
                      </a:r>
                    </a:p>
                  </a:txBody>
                  <a:tcPr/>
                </a:tc>
                <a:tc>
                  <a:txBody>
                    <a:bodyPr/>
                    <a:lstStyle/>
                    <a:p>
                      <a:pPr lvl="0" indent="0" marL="0">
                        <a:buNone/>
                      </a:pPr>
                      <a:r>
                        <a:rPr/>
                        <a:t>Why PrOMMiS / IDAES needs it</a:t>
                      </a:r>
                    </a:p>
                  </a:txBody>
                  <a:tcPr/>
                </a:tc>
              </a:tr>
              <a:tr h="0">
                <a:tc>
                  <a:txBody>
                    <a:bodyPr/>
                    <a:lstStyle/>
                    <a:p>
                      <a:pPr lvl="0" indent="0" marL="0">
                        <a:buNone/>
                      </a:pPr>
                      <a:r>
                        <a:rPr/>
                        <a:t>(_i)</a:t>
                      </a:r>
                    </a:p>
                  </a:txBody>
                </a:tc>
                <a:tc>
                  <a:txBody>
                    <a:bodyPr/>
                    <a:lstStyle/>
                    <a:p>
                      <a:pPr lvl="0" indent="0" marL="0">
                        <a:buNone/>
                      </a:pPr>
                      <a:r>
                        <a:rPr/>
                        <a:t>stage removal (= (C_{i,in} - C_{i,out}) / C_{i,in})</a:t>
                      </a:r>
                    </a:p>
                  </a:txBody>
                </a:tc>
                <a:tc>
                  <a:txBody>
                    <a:bodyPr/>
                    <a:lstStyle/>
                    <a:p>
                      <a:pPr lvl="0" indent="0" marL="0">
                        <a:buNone/>
                      </a:pPr>
                      <a:r>
                        <a:rPr/>
                        <a:t>Links chemistry to process-wide recovery objectives</a:t>
                      </a:r>
                    </a:p>
                  </a:txBody>
                </a:tc>
              </a:tr>
              <a:tr h="0">
                <a:tc>
                  <a:txBody>
                    <a:bodyPr/>
                    <a:lstStyle/>
                    <a:p>
                      <a:pPr lvl="0" indent="0" marL="0">
                        <a:buNone/>
                      </a:pPr>
                      <a:r>
                        <a:rPr/>
                        <a:t>(D_i)</a:t>
                      </a:r>
                    </a:p>
                  </a:txBody>
                </a:tc>
                <a:tc>
                  <a:txBody>
                    <a:bodyPr/>
                    <a:lstStyle/>
                    <a:p>
                      <a:pPr lvl="0" indent="0" marL="0">
                        <a:buNone/>
                      </a:pPr>
                      <a:r>
                        <a:rPr/>
                        <a:t>(C_{i,org} / C_{i,aq})</a:t>
                      </a:r>
                    </a:p>
                  </a:txBody>
                </a:tc>
                <a:tc>
                  <a:txBody>
                    <a:bodyPr/>
                    <a:lstStyle/>
                    <a:p>
                      <a:pPr lvl="0" indent="0" marL="0">
                        <a:buNone/>
                      </a:pPr>
                      <a:r>
                        <a:rPr/>
                        <a:t>Controls staged transfer in material balance equations</a:t>
                      </a:r>
                    </a:p>
                  </a:txBody>
                </a:tc>
              </a:tr>
              <a:tr h="0">
                <a:tc>
                  <a:txBody>
                    <a:bodyPr/>
                    <a:lstStyle/>
                    <a:p>
                      <a:pPr lvl="0" indent="0" marL="0">
                        <a:buNone/>
                      </a:pPr>
                      <a:r>
                        <a:rPr/>
                        <a:t>(S_{Li/Na}), (S_{Li/Mg}), (S_{Li/Ca})</a:t>
                      </a:r>
                    </a:p>
                  </a:txBody>
                </a:tc>
                <a:tc>
                  <a:txBody>
                    <a:bodyPr/>
                    <a:lstStyle/>
                    <a:p>
                      <a:pPr lvl="0" indent="0" marL="0">
                        <a:buNone/>
                      </a:pPr>
                      <a:r>
                        <a:rPr/>
                        <a:t>Selectivity ratios from stage/phase outputs</a:t>
                      </a:r>
                    </a:p>
                  </a:txBody>
                </a:tc>
                <a:tc>
                  <a:txBody>
                    <a:bodyPr/>
                    <a:lstStyle/>
                    <a:p>
                      <a:pPr lvl="0" indent="0" marL="0">
                        <a:buNone/>
                      </a:pPr>
                      <a:r>
                        <a:rPr/>
                        <a:t>Enables solvent and design comparison without refitting fixed coefficients</a:t>
                      </a:r>
                    </a:p>
                  </a:txBody>
                </a:tc>
              </a:tr>
              <a:tr h="0">
                <a:tc>
                  <a:txBody>
                    <a:bodyPr/>
                    <a:lstStyle/>
                    <a:p>
                      <a:pPr lvl="0" indent="0" marL="0">
                        <a:buNone/>
                      </a:pPr>
                      <a:r>
                        <a:rPr/>
                        <a:t>Validity flags</a:t>
                      </a:r>
                    </a:p>
                  </a:txBody>
                </a:tc>
                <a:tc>
                  <a:txBody>
                    <a:bodyPr/>
                    <a:lstStyle/>
                    <a:p>
                      <a:pPr lvl="0" indent="0" marL="0">
                        <a:buNone/>
                      </a:pPr>
                      <a:r>
                        <a:rPr/>
                        <a:t>residuals, phase flags, domain bounds</a:t>
                      </a:r>
                    </a:p>
                  </a:txBody>
                </a:tc>
                <a:tc>
                  <a:txBody>
                    <a:bodyPr/>
                    <a:lstStyle/>
                    <a:p>
                      <a:pPr lvl="0" indent="0" marL="0">
                        <a:buNone/>
                      </a:pPr>
                      <a:r>
                        <a:rPr/>
                        <a:t>Prevents brittle points from entering surrogate or optimizer datasets</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None</a:t>
            </a:r>
          </a:p>
          <a:p>
            <a:pPr lvl="0" indent="0" marL="1270000">
              <a:buNone/>
            </a:pPr>
            <a:r>
              <a:rPr sz="2000"/>
              <a:t>This keeps the story concrete: ePC-SAFT computes the transfer map; PrOMMiS/IDAES consumes it.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4.3 Why This Belongs In PrOMMiS / IDAES</a:t>
            </a:r>
          </a:p>
        </p:txBody>
      </p:sp>
      <p:sp>
        <p:nvSpPr>
          <p:cNvPr id="3" name="Content Placeholder 2"/>
          <p:cNvSpPr>
            <a:spLocks noGrp="1"/>
          </p:cNvSpPr>
          <p:nvPr>
            <p:ph idx="1"/>
          </p:nvPr>
        </p:nvSpPr>
        <p:spPr/>
        <p:txBody>
          <a:bodyPr/>
          <a:lstStyle/>
          <a:p>
            <a:pPr lvl="0" indent="0" marL="0">
              <a:buNone/>
            </a:pPr>
            <a:r>
              <a:rPr b="1"/>
              <a:t>1. Offline engine</a:t>
            </a:r>
            <a:r>
              <a:rPr/>
              <a:t> Run ePC-SAFT outside the flowsheet to generate equilibrium tables over feed chemistry, O/A ratio, and solvent conditions.</a:t>
            </a:r>
          </a:p>
          <a:p>
            <a:pPr lvl="0" indent="0" marL="0">
              <a:buNone/>
            </a:pPr>
            <a:r>
              <a:rPr b="1"/>
              <a:t>2. Surrogate layer</a:t>
            </a:r>
            <a:r>
              <a:rPr/>
              <a:t> Fit ALAMO or another surrogate inside a documented trust region so optimization is fast and bounded.</a:t>
            </a:r>
          </a:p>
          <a:p>
            <a:pPr lvl="0" indent="0" marL="0">
              <a:buNone/>
            </a:pPr>
            <a:r>
              <a:rPr b="1"/>
              <a:t>3. External function</a:t>
            </a:r>
            <a:r>
              <a:rPr/>
              <a:t> Expose high-fidelity calls for studies where direct thermodynamic solves are worth the cost.</a:t>
            </a:r>
          </a:p>
          <a:p>
            <a:pPr lvl="0" indent="0" marL="0">
              <a:buNone/>
            </a:pPr>
            <a:r>
              <a:rPr b="1"/>
              <a:t>4. Process model</a:t>
            </a:r>
            <a:r>
              <a:rPr/>
              <a:t> Use PrOMMiS/IDAES for staged extraction, recycle, stripping, costing hooks, and optimization.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4.4 Formal IDAES Costing Scaffold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Costing block</a:t>
                      </a:r>
                    </a:p>
                  </a:txBody>
                  <a:tcPr/>
                </a:tc>
                <a:tc>
                  <a:txBody>
                    <a:bodyPr/>
                    <a:lstStyle/>
                    <a:p>
                      <a:pPr lvl="0" indent="0" marL="0">
                        <a:buNone/>
                      </a:pPr>
                      <a:r>
                        <a:rPr/>
                        <a:t>Current basis</a:t>
                      </a:r>
                    </a:p>
                  </a:txBody>
                  <a:tcPr/>
                </a:tc>
                <a:tc>
                  <a:txBody>
                    <a:bodyPr/>
                    <a:lstStyle/>
                    <a:p>
                      <a:pPr lvl="0" indent="0" marL="0">
                        <a:buNone/>
                      </a:pPr>
                      <a:r>
                        <a:rPr/>
                        <a:t>Needed before formal TEA</a:t>
                      </a:r>
                    </a:p>
                  </a:txBody>
                  <a:tcPr/>
                </a:tc>
              </a:tr>
              <a:tr h="0">
                <a:tc>
                  <a:txBody>
                    <a:bodyPr/>
                    <a:lstStyle/>
                    <a:p>
                      <a:pPr lvl="0" indent="0" marL="0">
                        <a:buNone/>
                      </a:pPr>
                      <a:r>
                        <a:rPr/>
                        <a:t>Feed and annual basis</a:t>
                      </a:r>
                    </a:p>
                  </a:txBody>
                </a:tc>
                <a:tc>
                  <a:txBody>
                    <a:bodyPr/>
                    <a:lstStyle/>
                    <a:p>
                      <a:pPr lvl="0" indent="0" marL="0">
                        <a:buNone/>
                      </a:pPr>
                      <a:r>
                        <a:rPr/>
                        <a:t>Smackover base feed; </a:t>
                      </a:r>
                      <a:r>
                        <a:rPr>
                          <a:latin typeface="Courier"/>
                        </a:rPr>
                        <a:t>100/1000/10000 m3/day</a:t>
                      </a:r>
                      <a:r>
                        <a:rPr/>
                        <a:t> scenarios</a:t>
                      </a:r>
                    </a:p>
                  </a:txBody>
                </a:tc>
                <a:tc>
                  <a:txBody>
                    <a:bodyPr/>
                    <a:lstStyle/>
                    <a:p>
                      <a:pPr lvl="0" indent="0" marL="0">
                        <a:buNone/>
                      </a:pPr>
                      <a:r>
                        <a:rPr/>
                        <a:t>approved flowrate and uptime</a:t>
                      </a:r>
                    </a:p>
                  </a:txBody>
                </a:tc>
              </a:tr>
              <a:tr h="0">
                <a:tc>
                  <a:txBody>
                    <a:bodyPr/>
                    <a:lstStyle/>
                    <a:p>
                      <a:pPr lvl="0" indent="0" marL="0">
                        <a:buNone/>
                      </a:pPr>
                      <a:r>
                        <a:rPr/>
                        <a:t>Pretreatment</a:t>
                      </a:r>
                    </a:p>
                  </a:txBody>
                </a:tc>
                <a:tc>
                  <a:txBody>
                    <a:bodyPr/>
                    <a:lstStyle/>
                    <a:p>
                      <a:pPr lvl="0" indent="0" marL="0">
                        <a:buNone/>
                      </a:pPr>
                      <a:r>
                        <a:rPr/>
                        <a:t>IDAES/Pyomo scenario expression from model inputs</a:t>
                      </a:r>
                    </a:p>
                  </a:txBody>
                </a:tc>
                <a:tc>
                  <a:txBody>
                    <a:bodyPr/>
                    <a:lstStyle/>
                    <a:p>
                      <a:pPr lvl="0" indent="0" marL="0">
                        <a:buNone/>
                      </a:pPr>
                      <a:r>
                        <a:rPr/>
                        <a:t>removal target, reagent use, waste handling</a:t>
                      </a:r>
                    </a:p>
                  </a:txBody>
                </a:tc>
              </a:tr>
              <a:tr h="0">
                <a:tc>
                  <a:txBody>
                    <a:bodyPr/>
                    <a:lstStyle/>
                    <a:p>
                      <a:pPr lvl="0" indent="0" marL="0">
                        <a:buNone/>
                      </a:pPr>
                      <a:r>
                        <a:rPr/>
                        <a:t>Extraction/contacting</a:t>
                      </a:r>
                    </a:p>
                  </a:txBody>
                </a:tc>
                <a:tc>
                  <a:txBody>
                    <a:bodyPr/>
                    <a:lstStyle/>
                    <a:p>
                      <a:pPr lvl="0" indent="0" marL="0">
                        <a:buNone/>
                      </a:pPr>
                      <a:r>
                        <a:rPr/>
                        <a:t>three-stage HBTA/TOPO reactive-stage solve</a:t>
                      </a:r>
                    </a:p>
                  </a:txBody>
                </a:tc>
                <a:tc>
                  <a:txBody>
                    <a:bodyPr/>
                    <a:lstStyle/>
                    <a:p>
                      <a:pPr lvl="0" indent="0" marL="0">
                        <a:buNone/>
                      </a:pPr>
                      <a:r>
                        <a:rPr/>
                        <a:t>contactor sizing, residence time, solvent inventory</a:t>
                      </a:r>
                    </a:p>
                  </a:txBody>
                </a:tc>
              </a:tr>
              <a:tr h="0">
                <a:tc>
                  <a:txBody>
                    <a:bodyPr/>
                    <a:lstStyle/>
                    <a:p>
                      <a:pPr lvl="0" indent="0" marL="0">
                        <a:buNone/>
                      </a:pPr>
                      <a:r>
                        <a:rPr/>
                        <a:t>Solvent makeup/loss</a:t>
                      </a:r>
                    </a:p>
                  </a:txBody>
                </a:tc>
                <a:tc>
                  <a:txBody>
                    <a:bodyPr/>
                    <a:lstStyle/>
                    <a:p>
                      <a:pPr lvl="0" indent="0" marL="0">
                        <a:buNone/>
                      </a:pPr>
                      <a:r>
                        <a:rPr/>
                        <a:t>low/base/high placeholder per m3 feed</a:t>
                      </a:r>
                    </a:p>
                  </a:txBody>
                </a:tc>
                <a:tc>
                  <a:txBody>
                    <a:bodyPr/>
                    <a:lstStyle/>
                    <a:p>
                      <a:pPr lvl="0" indent="0" marL="0">
                        <a:buNone/>
                      </a:pPr>
                      <a:r>
                        <a:rPr/>
                        <a:t>HBTA/TOPO/diluent prices and loss rate</a:t>
                      </a:r>
                    </a:p>
                  </a:txBody>
                </a:tc>
              </a:tr>
              <a:tr h="0">
                <a:tc>
                  <a:txBody>
                    <a:bodyPr/>
                    <a:lstStyle/>
                    <a:p>
                      <a:pPr lvl="0" indent="0" marL="0">
                        <a:buNone/>
                      </a:pPr>
                      <a:r>
                        <a:rPr/>
                        <a:t>Concentration and Li2CO3 precipitation</a:t>
                      </a:r>
                    </a:p>
                  </a:txBody>
                </a:tc>
                <a:tc>
                  <a:txBody>
                    <a:bodyPr/>
                    <a:lstStyle/>
                    <a:p>
                      <a:pPr lvl="0" indent="0" marL="0">
                        <a:buNone/>
                      </a:pPr>
                      <a:r>
                        <a:rPr/>
                        <a:t>product-purity anchor </a:t>
                      </a:r>
                      <a:r>
                        <a:rPr>
                          <a:latin typeface="Courier"/>
                        </a:rPr>
                        <a:t>99.28%</a:t>
                      </a:r>
                      <a:r>
                        <a:rPr/>
                        <a:t>; recovery capped at </a:t>
                      </a:r>
                      <a:r>
                        <a:rPr>
                          <a:latin typeface="Courier"/>
                        </a:rPr>
                        <a:t>97.17%</a:t>
                      </a:r>
                    </a:p>
                  </a:txBody>
                </a:tc>
                <a:tc>
                  <a:txBody>
                    <a:bodyPr/>
                    <a:lstStyle/>
                    <a:p>
                      <a:pPr lvl="0" indent="0" marL="0">
                        <a:buNone/>
                      </a:pPr>
                      <a:r>
                        <a:rPr/>
                        <a:t>evaporation duty, carbonate reagent, product spec</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None</a:t>
            </a:r>
          </a:p>
          <a:p>
            <a:pPr lvl="0" indent="0" marL="1270000">
              <a:buNone/>
            </a:pPr>
            <a:r>
              <a:rPr sz="2000"/>
              <a:t>The formal IDAES/Pyomo layer computes production, revenue, annual operating cost, annualized contactor CAPEX, breakeven Li2CO3 price, and net-before-tax scenario values.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4.5 Implementation Requirements</a:t>
            </a:r>
          </a:p>
        </p:txBody>
      </p:sp>
      <p:sp>
        <p:nvSpPr>
          <p:cNvPr id="3" name="Content Placeholder 2"/>
          <p:cNvSpPr>
            <a:spLocks noGrp="1"/>
          </p:cNvSpPr>
          <p:nvPr>
            <p:ph idx="1" sz="half"/>
          </p:nvPr>
        </p:nvSpPr>
        <p:spPr/>
        <p:txBody>
          <a:bodyPr/>
          <a:lstStyle/>
          <a:p>
            <a:pPr lvl="0" indent="0" marL="0">
              <a:buNone/>
            </a:pPr>
            <a:r>
              <a:rPr b="1"/>
              <a:t>Add ePC-SAFT as the thermodynamic backbone</a:t>
            </a:r>
          </a:p>
          <a:p>
            <a:pPr lvl="0"/>
            <a:r>
              <a:rPr/>
              <a:t>property/equilibrium service for electrolyte LLE</a:t>
            </a:r>
          </a:p>
          <a:p>
            <a:pPr lvl="0"/>
            <a:r>
              <a:rPr/>
              <a:t>documented species and feed basis</a:t>
            </a:r>
          </a:p>
          <a:p>
            <a:pPr lvl="0"/>
            <a:r>
              <a:rPr/>
              <a:t>diagnostics carried with every result</a:t>
            </a:r>
          </a:p>
          <a:p>
            <a:pPr lvl="0"/>
            <a:r>
              <a:rPr/>
              <a:t>reproducible dataset generation</a:t>
            </a:r>
          </a:p>
        </p:txBody>
      </p:sp>
      <p:sp>
        <p:nvSpPr>
          <p:cNvPr id="4" name="Content Placeholder 3"/>
          <p:cNvSpPr>
            <a:spLocks noGrp="1"/>
          </p:cNvSpPr>
          <p:nvPr>
            <p:ph idx="2" sz="half"/>
          </p:nvPr>
        </p:nvSpPr>
        <p:spPr/>
        <p:txBody>
          <a:bodyPr/>
          <a:lstStyle/>
          <a:p>
            <a:pPr lvl="0" indent="0" marL="0">
              <a:buNone/>
            </a:pPr>
            <a:r>
              <a:rPr b="1"/>
              <a:t>Use PrOMMiS/IDAES for the process system</a:t>
            </a:r>
          </a:p>
          <a:p>
            <a:pPr lvl="0"/>
            <a:r>
              <a:rPr/>
              <a:t>solvent-extraction stage balances</a:t>
            </a:r>
          </a:p>
          <a:p>
            <a:pPr lvl="0"/>
            <a:r>
              <a:rPr/>
              <a:t>multi-stage contactors</a:t>
            </a:r>
          </a:p>
          <a:p>
            <a:pPr lvl="0"/>
            <a:r>
              <a:rPr/>
              <a:t>surrogate and external-function interfaces</a:t>
            </a:r>
          </a:p>
          <a:p>
            <a:pPr lvl="0"/>
            <a:r>
              <a:rPr/>
              <a:t>flowsheet optimization and costing hooks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None</a:t>
            </a:r>
          </a:p>
          <a:p>
            <a:pPr lvl="0" indent="0" marL="1270000">
              <a:buNone/>
            </a:pPr>
            <a:r>
              <a:rPr sz="2000"/>
              <a:t>The sell is simple: ePC-SAFT supplies the equilibrium evidence; PrOMMiS/IDAES turns that evidence into a process model.</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4.6 Remaining Engineering Work</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Priority</a:t>
                      </a:r>
                    </a:p>
                  </a:txBody>
                  <a:tcPr/>
                </a:tc>
                <a:tc>
                  <a:txBody>
                    <a:bodyPr/>
                    <a:lstStyle/>
                    <a:p>
                      <a:pPr lvl="0" indent="0" marL="0">
                        <a:buNone/>
                      </a:pPr>
                      <a:r>
                        <a:rPr/>
                        <a:t>Work item</a:t>
                      </a:r>
                    </a:p>
                  </a:txBody>
                  <a:tcPr/>
                </a:tc>
                <a:tc>
                  <a:txBody>
                    <a:bodyPr/>
                    <a:lstStyle/>
                    <a:p>
                      <a:pPr lvl="0" indent="0" marL="0">
                        <a:buNone/>
                      </a:pPr>
                      <a:r>
                        <a:rPr/>
                        <a:t>Why it matters</a:t>
                      </a:r>
                    </a:p>
                  </a:txBody>
                  <a:tcPr/>
                </a:tc>
              </a:tr>
              <a:tr h="0">
                <a:tc>
                  <a:txBody>
                    <a:bodyPr/>
                    <a:lstStyle/>
                    <a:p>
                      <a:pPr lvl="0" indent="0" marL="0">
                        <a:buNone/>
                      </a:pPr>
                      <a:r>
                        <a:rPr/>
                        <a:t>1</a:t>
                      </a:r>
                    </a:p>
                  </a:txBody>
                </a:tc>
                <a:tc>
                  <a:txBody>
                    <a:bodyPr/>
                    <a:lstStyle/>
                    <a:p>
                      <a:pPr lvl="0" indent="0" marL="0">
                        <a:buNone/>
                      </a:pPr>
                      <a:r>
                        <a:rPr/>
                        <a:t>Extract Zhang 2017 distribution, O/A, temperature, and capacity data</a:t>
                      </a:r>
                    </a:p>
                  </a:txBody>
                </a:tc>
                <a:tc>
                  <a:txBody>
                    <a:bodyPr/>
                    <a:lstStyle/>
                    <a:p>
                      <a:pPr lvl="0" indent="0" marL="0">
                        <a:buNone/>
                      </a:pPr>
                      <a:r>
                        <a:rPr/>
                        <a:t>Improves identifiability of the Li/Na transfer law</a:t>
                      </a:r>
                    </a:p>
                  </a:txBody>
                </a:tc>
              </a:tr>
              <a:tr h="0">
                <a:tc>
                  <a:txBody>
                    <a:bodyPr/>
                    <a:lstStyle/>
                    <a:p>
                      <a:pPr lvl="0" indent="0" marL="0">
                        <a:buNone/>
                      </a:pPr>
                      <a:r>
                        <a:rPr/>
                        <a:t>2</a:t>
                      </a:r>
                    </a:p>
                  </a:txBody>
                </a:tc>
                <a:tc>
                  <a:txBody>
                    <a:bodyPr/>
                    <a:lstStyle/>
                    <a:p>
                      <a:pPr lvl="0" indent="0" marL="0">
                        <a:buNone/>
                      </a:pPr>
                      <a:r>
                        <a:rPr/>
                        <a:t>Add explicit HBTA, TOPO, diluent, and Li-complex parameter regression</a:t>
                      </a:r>
                    </a:p>
                  </a:txBody>
                </a:tc>
                <a:tc>
                  <a:txBody>
                    <a:bodyPr/>
                    <a:lstStyle/>
                    <a:p>
                      <a:pPr lvl="0" indent="0" marL="0">
                        <a:buNone/>
                      </a:pPr>
                      <a:r>
                        <a:rPr/>
                        <a:t>Moves from source-regressed transfer to reactive ePC-SAFT closure</a:t>
                      </a:r>
                    </a:p>
                  </a:txBody>
                </a:tc>
              </a:tr>
              <a:tr h="0">
                <a:tc>
                  <a:txBody>
                    <a:bodyPr/>
                    <a:lstStyle/>
                    <a:p>
                      <a:pPr lvl="0" indent="0" marL="0">
                        <a:buNone/>
                      </a:pPr>
                      <a:r>
                        <a:rPr/>
                        <a:t>3</a:t>
                      </a:r>
                    </a:p>
                  </a:txBody>
                </a:tc>
                <a:tc>
                  <a:txBody>
                    <a:bodyPr/>
                    <a:lstStyle/>
                    <a:p>
                      <a:pPr lvl="0" indent="0" marL="0">
                        <a:buNone/>
                      </a:pPr>
                      <a:r>
                        <a:rPr/>
                        <a:t>Build a PrOMMiS MSContactor validation case</a:t>
                      </a:r>
                    </a:p>
                  </a:txBody>
                </a:tc>
                <a:tc>
                  <a:txBody>
                    <a:bodyPr/>
                    <a:lstStyle/>
                    <a:p>
                      <a:pPr lvl="0" indent="0" marL="0">
                        <a:buNone/>
                      </a:pPr>
                      <a:r>
                        <a:rPr/>
                        <a:t>Tests convergence and material-balance consistency under staged operation</a:t>
                      </a:r>
                    </a:p>
                  </a:txBody>
                </a:tc>
              </a:tr>
              <a:tr h="0">
                <a:tc>
                  <a:txBody>
                    <a:bodyPr/>
                    <a:lstStyle/>
                    <a:p>
                      <a:pPr lvl="0" indent="0" marL="0">
                        <a:buNone/>
                      </a:pPr>
                      <a:r>
                        <a:rPr/>
                        <a:t>4</a:t>
                      </a:r>
                    </a:p>
                  </a:txBody>
                </a:tc>
                <a:tc>
                  <a:txBody>
                    <a:bodyPr/>
                    <a:lstStyle/>
                    <a:p>
                      <a:pPr lvl="0" indent="0" marL="0">
                        <a:buNone/>
                      </a:pPr>
                      <a:r>
                        <a:rPr/>
                        <a:t>Replace Class-5 costing assumptions with engineering ranges</a:t>
                      </a:r>
                    </a:p>
                  </a:txBody>
                </a:tc>
                <a:tc>
                  <a:txBody>
                    <a:bodyPr/>
                    <a:lstStyle/>
                    <a:p>
                      <a:pPr lvl="0" indent="0" marL="0">
                        <a:buNone/>
                      </a:pPr>
                      <a:r>
                        <a:rPr/>
                        <a:t>Improves economic credibility before TEA-style interpretation</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 Backup: Sensitivity Expansion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5.1 Next-Step Sensitivity Expansion</a:t>
            </a:r>
          </a:p>
        </p:txBody>
      </p:sp>
      <p:sp>
        <p:nvSpPr>
          <p:cNvPr id="3" name="Content Placeholder 2"/>
          <p:cNvSpPr>
            <a:spLocks noGrp="1"/>
          </p:cNvSpPr>
          <p:nvPr>
            <p:ph idx="1"/>
          </p:nvPr>
        </p:nvSpPr>
        <p:spPr/>
        <p:txBody>
          <a:bodyPr/>
          <a:lstStyle/>
          <a:p>
            <a:pPr lvl="0"/>
            <a:r>
              <a:rPr/>
              <a:t>Re-run the selective case across basin-style feed envelopes:</a:t>
            </a:r>
          </a:p>
          <a:p>
            <a:pPr lvl="1"/>
            <a:r>
              <a:rPr/>
              <a:t>Appalachian high-Li case</a:t>
            </a:r>
          </a:p>
          <a:p>
            <a:pPr lvl="1"/>
            <a:r>
              <a:rPr/>
              <a:t>Permian volume-driven low-grade case</a:t>
            </a:r>
          </a:p>
          <a:p>
            <a:pPr lvl="1"/>
            <a:r>
              <a:rPr/>
              <a:t>Williston high-TDS case</a:t>
            </a:r>
          </a:p>
          <a:p>
            <a:pPr lvl="1"/>
            <a:r>
              <a:rPr/>
              <a:t>Smackover premium-brine case</a:t>
            </a:r>
          </a:p>
          <a:p>
            <a:pPr lvl="0"/>
            <a:r>
              <a:rPr/>
              <a:t>Keep the next design-of-experiments table in Markdown so trust-region bounds and surrogate regions are explicit.</a:t>
            </a:r>
          </a:p>
          <a:p>
            <a:pPr lvl="0"/>
            <a:r>
              <a:rPr/>
              <a:t>Add a PrOMMiS/IDAES interface table for every generated variable: units, species basis, source basis, and validity limits.</a:t>
            </a:r>
          </a:p>
          <a:p>
            <a:pPr lvl="0"/>
            <a:r>
              <a:rPr/>
              <a:t>Keep the narrative in one place: screening, thermodynamics, selective result, and process-design interface.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ePC-SAFT For Produced-Water Lithium Extraction</dc:title>
  <dc:creator>Chemical engineering technical review</dc:creator>
  <cp:keywords/>
  <dcterms:created xsi:type="dcterms:W3CDTF">2026-05-07T22:03:14Z</dcterms:created>
  <dcterms:modified xsi:type="dcterms:W3CDTF">2026-05-07T22:03:14Z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2026-05-07</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Thermodynamic and process-systems case study for HBTA/TOPO solvent extraction</vt:lpwstr>
  </property>
  <property fmtid="{D5CDD505-2E9C-101B-9397-08002B2CF9AE}" pid="11" name="toc-title">
    <vt:lpwstr>Table of contents</vt:lpwstr>
  </property>
</Properties>
</file>